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22"/>
  </p:notesMasterIdLst>
  <p:handoutMasterIdLst>
    <p:handoutMasterId r:id="rId23"/>
  </p:handoutMasterIdLst>
  <p:sldIdLst>
    <p:sldId id="256" r:id="rId2"/>
    <p:sldId id="264" r:id="rId3"/>
    <p:sldId id="265" r:id="rId4"/>
    <p:sldId id="266" r:id="rId5"/>
    <p:sldId id="267" r:id="rId6"/>
    <p:sldId id="281" r:id="rId7"/>
    <p:sldId id="270" r:id="rId8"/>
    <p:sldId id="271" r:id="rId9"/>
    <p:sldId id="272" r:id="rId10"/>
    <p:sldId id="285" r:id="rId11"/>
    <p:sldId id="284" r:id="rId12"/>
    <p:sldId id="274" r:id="rId13"/>
    <p:sldId id="282" r:id="rId14"/>
    <p:sldId id="283" r:id="rId15"/>
    <p:sldId id="276" r:id="rId16"/>
    <p:sldId id="278" r:id="rId17"/>
    <p:sldId id="277" r:id="rId18"/>
    <p:sldId id="280" r:id="rId19"/>
    <p:sldId id="279" r:id="rId20"/>
    <p:sldId id="286" r:id="rId21"/>
  </p:sldIdLst>
  <p:sldSz cx="9144000" cy="6858000" type="screen4x3"/>
  <p:notesSz cx="6858000" cy="9144000"/>
  <p:defaultTextStyle>
    <a:defPPr>
      <a:defRPr lang="hu-H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9A4D"/>
    <a:srgbClr val="777777"/>
    <a:srgbClr val="00CC66"/>
    <a:srgbClr val="3399FF"/>
    <a:srgbClr val="6666FF"/>
    <a:srgbClr val="3366FF"/>
    <a:srgbClr val="3333FF"/>
    <a:srgbClr val="1502A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Közepesen sötét stílus 2 – 1. jelölőszín">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476" autoAdjust="0"/>
    <p:restoredTop sz="72397" autoAdjust="0"/>
  </p:normalViewPr>
  <p:slideViewPr>
    <p:cSldViewPr snapToGrid="0">
      <p:cViewPr varScale="1">
        <p:scale>
          <a:sx n="80" d="100"/>
          <a:sy n="80" d="100"/>
        </p:scale>
        <p:origin x="2694" y="84"/>
      </p:cViewPr>
      <p:guideLst>
        <p:guide orient="horz" pos="2160"/>
        <p:guide pos="2880"/>
      </p:guideLst>
    </p:cSldViewPr>
  </p:slideViewPr>
  <p:notesTextViewPr>
    <p:cViewPr>
      <p:scale>
        <a:sx n="150" d="100"/>
        <a:sy n="150" d="100"/>
      </p:scale>
      <p:origin x="0" y="0"/>
    </p:cViewPr>
  </p:notesTextViewPr>
  <p:notesViewPr>
    <p:cSldViewPr snapToGrid="0">
      <p:cViewPr varScale="1">
        <p:scale>
          <a:sx n="56" d="100"/>
          <a:sy n="56" d="100"/>
        </p:scale>
        <p:origin x="-2850" y="-84"/>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hu-HU"/>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6B4E56A7-0A01-44F2-86E6-E8ECE419E28C}" type="datetimeFigureOut">
              <a:rPr lang="hu-HU" smtClean="0"/>
              <a:t>2025. 11. 17.</a:t>
            </a:fld>
            <a:endParaRPr lang="hu-HU"/>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hu-HU"/>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D4CC55FA-378E-401F-A827-0317F10283DB}" type="slidenum">
              <a:rPr lang="hu-HU" smtClean="0"/>
              <a:t>‹#›</a:t>
            </a:fld>
            <a:endParaRPr lang="hu-HU"/>
          </a:p>
        </p:txBody>
      </p:sp>
    </p:spTree>
    <p:extLst>
      <p:ext uri="{BB962C8B-B14F-4D97-AF65-F5344CB8AC3E}">
        <p14:creationId xmlns:p14="http://schemas.microsoft.com/office/powerpoint/2010/main" val="326717665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hu-HU"/>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06CE47C-6804-445B-A5D2-FDAA84DC08D1}" type="datetimeFigureOut">
              <a:rPr lang="hu-HU" smtClean="0"/>
              <a:t>2025. 11. 17.</a:t>
            </a:fld>
            <a:endParaRPr lang="hu-HU"/>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hu-HU"/>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u-HU"/>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hu-HU"/>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16DE1EE-13E1-4098-A3ED-7B2B81B507D1}" type="slidenum">
              <a:rPr lang="hu-HU" smtClean="0"/>
              <a:t>‹#›</a:t>
            </a:fld>
            <a:endParaRPr lang="hu-HU"/>
          </a:p>
        </p:txBody>
      </p:sp>
    </p:spTree>
    <p:extLst>
      <p:ext uri="{BB962C8B-B14F-4D97-AF65-F5344CB8AC3E}">
        <p14:creationId xmlns:p14="http://schemas.microsoft.com/office/powerpoint/2010/main" val="26357518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lstStyle/>
          <a:p>
            <a:r>
              <a:rPr lang="hu-HU" dirty="0" err="1"/>
              <a:t>Üdvözlök</a:t>
            </a:r>
            <a:r>
              <a:rPr lang="hu-HU" dirty="0"/>
              <a:t> mindenkit, Nagy Zalán vagyok, és szeretném bemutatni a TDK-dolgozatomat „</a:t>
            </a:r>
            <a:r>
              <a:rPr lang="hu-HU" dirty="0" err="1"/>
              <a:t>Colonel</a:t>
            </a:r>
            <a:r>
              <a:rPr lang="hu-HU" dirty="0"/>
              <a:t> </a:t>
            </a:r>
            <a:r>
              <a:rPr lang="hu-HU" dirty="0" err="1"/>
              <a:t>Blotto</a:t>
            </a:r>
            <a:r>
              <a:rPr lang="hu-HU" dirty="0"/>
              <a:t> a </a:t>
            </a:r>
            <a:r>
              <a:rPr lang="hu-HU" dirty="0" err="1"/>
              <a:t>kiberbiztonságban</a:t>
            </a:r>
            <a:r>
              <a:rPr lang="hu-HU" dirty="0"/>
              <a:t>: Valós adatok, megerősítéses tanulás és információs aszimmetria” címmel.</a:t>
            </a:r>
          </a:p>
          <a:p>
            <a:r>
              <a:rPr lang="hu-HU" dirty="0"/>
              <a:t>A kutatásom célja, hogy megértsük, hogyan viselkednek támadók és védők egy olyan környezetben, ahol az információ nem teljes és mindkét fél gépi tanulással próbálja optimalizálni az erőforrásainak elosztását.</a:t>
            </a:r>
          </a:p>
          <a:p>
            <a:r>
              <a:rPr lang="hu-HU" dirty="0"/>
              <a:t>A dolgozatban játékelméleti megközelítést alkalmaztam és valós, napi szinten frissülő sérülékenységi adatokat használtam, így a modell nemcsak elméleti, hanem gyakorlati szempontból is releváns.</a:t>
            </a:r>
          </a:p>
        </p:txBody>
      </p:sp>
      <p:sp>
        <p:nvSpPr>
          <p:cNvPr id="4" name="Dia számának helye 3"/>
          <p:cNvSpPr>
            <a:spLocks noGrp="1"/>
          </p:cNvSpPr>
          <p:nvPr>
            <p:ph type="sldNum" sz="quarter" idx="5"/>
          </p:nvPr>
        </p:nvSpPr>
        <p:spPr/>
        <p:txBody>
          <a:bodyPr/>
          <a:lstStyle/>
          <a:p>
            <a:fld id="{016DE1EE-13E1-4098-A3ED-7B2B81B507D1}" type="slidenum">
              <a:rPr lang="hu-HU" smtClean="0"/>
              <a:t>1</a:t>
            </a:fld>
            <a:endParaRPr lang="hu-HU"/>
          </a:p>
        </p:txBody>
      </p:sp>
    </p:spTree>
    <p:extLst>
      <p:ext uri="{BB962C8B-B14F-4D97-AF65-F5344CB8AC3E}">
        <p14:creationId xmlns:p14="http://schemas.microsoft.com/office/powerpoint/2010/main" val="119425003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hu-HU" sz="1200" kern="1200" dirty="0">
                <a:solidFill>
                  <a:schemeClr val="tx1"/>
                </a:solidFill>
                <a:latin typeface="+mn-lt"/>
                <a:ea typeface="+mn-ea"/>
                <a:cs typeface="+mn-cs"/>
              </a:rPr>
              <a:t>A kiindulópont az, hogy a mai digitális világban naponta több ezer új sérülékenység kerül nyilvánosságra.</a:t>
            </a:r>
          </a:p>
          <a:p>
            <a:r>
              <a:rPr lang="hu-HU" sz="1200" kern="1200" dirty="0">
                <a:solidFill>
                  <a:schemeClr val="tx1"/>
                </a:solidFill>
                <a:latin typeface="+mn-lt"/>
                <a:ea typeface="+mn-ea"/>
                <a:cs typeface="+mn-cs"/>
              </a:rPr>
              <a:t>Egyetlen szervezet sem tudja ezeket mindet azonnal kijavítani. Mindig dönteni kell, hogy melyik sebezhetőséggel foglalkozzanak először.</a:t>
            </a:r>
          </a:p>
          <a:p>
            <a:r>
              <a:rPr lang="hu-HU" sz="1200" kern="1200" dirty="0">
                <a:solidFill>
                  <a:schemeClr val="tx1"/>
                </a:solidFill>
                <a:latin typeface="+mn-lt"/>
                <a:ea typeface="+mn-ea"/>
                <a:cs typeface="+mn-cs"/>
              </a:rPr>
              <a:t>Ugyanakkor a támadóknak is korlátozott az idejük és a kapacitásuk, ezért ők is választanak, hogy mely célpontokat érdemes megtámadni.</a:t>
            </a:r>
          </a:p>
          <a:p>
            <a:r>
              <a:rPr lang="hu-HU" sz="1200" kern="1200" dirty="0">
                <a:solidFill>
                  <a:schemeClr val="tx1"/>
                </a:solidFill>
                <a:latin typeface="+mn-lt"/>
                <a:ea typeface="+mn-ea"/>
                <a:cs typeface="+mn-cs"/>
              </a:rPr>
              <a:t>Ez egy folyamatos stratégiai versenyhelyzet a támadók és a védők között, amely nagyon jól modellezhető játékelméleti keretben.</a:t>
            </a:r>
          </a:p>
        </p:txBody>
      </p:sp>
      <p:sp>
        <p:nvSpPr>
          <p:cNvPr id="4" name="Slide Number Placeholder 3"/>
          <p:cNvSpPr>
            <a:spLocks noGrp="1"/>
          </p:cNvSpPr>
          <p:nvPr>
            <p:ph type="sldNum" sz="quarter" idx="10"/>
          </p:nvPr>
        </p:nvSpPr>
        <p:spPr/>
        <p:txBody>
          <a:bodyPr/>
          <a:lstStyle/>
          <a:p>
            <a:fld id="{016DE1EE-13E1-4098-A3ED-7B2B81B507D1}" type="slidenum">
              <a:rPr lang="hu-HU" smtClean="0"/>
              <a:t>2</a:t>
            </a:fld>
            <a:endParaRPr lang="hu-HU"/>
          </a:p>
        </p:txBody>
      </p:sp>
    </p:spTree>
    <p:extLst>
      <p:ext uri="{BB962C8B-B14F-4D97-AF65-F5344CB8AC3E}">
        <p14:creationId xmlns:p14="http://schemas.microsoft.com/office/powerpoint/2010/main" val="252447393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lstStyle/>
          <a:p>
            <a:r>
              <a:rPr lang="hu-HU" sz="1200" kern="1200" dirty="0">
                <a:solidFill>
                  <a:schemeClr val="tx1"/>
                </a:solidFill>
                <a:latin typeface="+mn-lt"/>
                <a:ea typeface="+mn-ea"/>
                <a:cs typeface="+mn-cs"/>
              </a:rPr>
              <a:t>A </a:t>
            </a:r>
            <a:r>
              <a:rPr lang="hu-HU" sz="1200" kern="1200" dirty="0" err="1">
                <a:solidFill>
                  <a:schemeClr val="tx1"/>
                </a:solidFill>
                <a:latin typeface="+mn-lt"/>
                <a:ea typeface="+mn-ea"/>
                <a:cs typeface="+mn-cs"/>
              </a:rPr>
              <a:t>kiberbiztonság</a:t>
            </a:r>
            <a:r>
              <a:rPr lang="hu-HU" sz="1200" kern="1200" dirty="0">
                <a:solidFill>
                  <a:schemeClr val="tx1"/>
                </a:solidFill>
                <a:latin typeface="+mn-lt"/>
                <a:ea typeface="+mn-ea"/>
                <a:cs typeface="+mn-cs"/>
              </a:rPr>
              <a:t> ma már nem csupán technikai kérdés, hanem stratégiai döntéshozatal is.</a:t>
            </a:r>
          </a:p>
          <a:p>
            <a:r>
              <a:rPr lang="hu-HU" sz="1200" kern="1200" dirty="0">
                <a:solidFill>
                  <a:schemeClr val="tx1"/>
                </a:solidFill>
                <a:latin typeface="+mn-lt"/>
                <a:ea typeface="+mn-ea"/>
                <a:cs typeface="+mn-cs"/>
              </a:rPr>
              <a:t>A digitális infrastruktúra a mindennapi élet alapja, gondoljunk a pénzügyi rendszerekre, az ipari vezérlésekre vagy a kommunikációra.</a:t>
            </a:r>
          </a:p>
          <a:p>
            <a:r>
              <a:rPr lang="hu-HU" sz="1200" kern="1200" dirty="0">
                <a:solidFill>
                  <a:schemeClr val="tx1"/>
                </a:solidFill>
                <a:latin typeface="+mn-lt"/>
                <a:ea typeface="+mn-ea"/>
                <a:cs typeface="+mn-cs"/>
              </a:rPr>
              <a:t>Egy-egy támadás ezekben valós gazdasági károkat okoz, akár több milliárd dolláros veszteséget is. Például a híres </a:t>
            </a:r>
            <a:r>
              <a:rPr lang="hu-HU" dirty="0" err="1"/>
              <a:t>SolarWinds</a:t>
            </a:r>
            <a:r>
              <a:rPr lang="hu-HU" dirty="0"/>
              <a:t> Corporation-botrány esetében önmagában a vállalat az első három </a:t>
            </a:r>
            <a:r>
              <a:rPr lang="hu-HU" sz="1200" kern="1200" dirty="0">
                <a:solidFill>
                  <a:schemeClr val="tx1"/>
                </a:solidFill>
                <a:latin typeface="+mn-lt"/>
                <a:ea typeface="+mn-ea"/>
                <a:cs typeface="+mn-cs"/>
              </a:rPr>
              <a:t>hónapban 18 millió USD-t költött csak a</a:t>
            </a:r>
            <a:r>
              <a:rPr lang="hu-HU" dirty="0"/>
              <a:t> kivizsgálásra és helyreállításra.</a:t>
            </a:r>
            <a:endParaRPr lang="hu-HU" sz="1200" kern="1200" dirty="0">
              <a:solidFill>
                <a:schemeClr val="tx1"/>
              </a:solidFill>
              <a:latin typeface="+mn-lt"/>
              <a:ea typeface="+mn-ea"/>
              <a:cs typeface="+mn-cs"/>
            </a:endParaRPr>
          </a:p>
          <a:p>
            <a:r>
              <a:rPr lang="hu-HU" sz="1200" kern="1200" dirty="0">
                <a:solidFill>
                  <a:schemeClr val="tx1"/>
                </a:solidFill>
                <a:latin typeface="+mn-lt"/>
                <a:ea typeface="+mn-ea"/>
                <a:cs typeface="+mn-cs"/>
              </a:rPr>
              <a:t>A védelem így stratégiai problémává vált, korlátozott erőforrások mellett kell dönteni, mely rendszereket védjük és melyeket hagyjuk kockázatosabban működni.</a:t>
            </a:r>
          </a:p>
          <a:p>
            <a:r>
              <a:rPr lang="hu-HU" dirty="0"/>
              <a:t>Ezt a problémát vizsgálom a dolgozatomban és a </a:t>
            </a:r>
            <a:r>
              <a:rPr lang="hu-HU" dirty="0" err="1"/>
              <a:t>Colonel</a:t>
            </a:r>
            <a:r>
              <a:rPr lang="hu-HU" dirty="0"/>
              <a:t> </a:t>
            </a:r>
            <a:r>
              <a:rPr lang="hu-HU" dirty="0" err="1"/>
              <a:t>Blotto</a:t>
            </a:r>
            <a:r>
              <a:rPr lang="hu-HU" dirty="0"/>
              <a:t> játék jól mutatja meg, hogyan lehet az erőforrásokat okosan elosztani több célpont között.</a:t>
            </a:r>
            <a:endParaRPr lang="hu-HU" sz="1200" b="1" kern="1200" dirty="0">
              <a:solidFill>
                <a:schemeClr val="tx1"/>
              </a:solidFill>
              <a:latin typeface="+mn-lt"/>
              <a:ea typeface="+mn-ea"/>
              <a:cs typeface="+mn-cs"/>
            </a:endParaRPr>
          </a:p>
        </p:txBody>
      </p:sp>
      <p:sp>
        <p:nvSpPr>
          <p:cNvPr id="4" name="Dia számának helye 3"/>
          <p:cNvSpPr>
            <a:spLocks noGrp="1"/>
          </p:cNvSpPr>
          <p:nvPr>
            <p:ph type="sldNum" sz="quarter" idx="5"/>
          </p:nvPr>
        </p:nvSpPr>
        <p:spPr/>
        <p:txBody>
          <a:bodyPr/>
          <a:lstStyle/>
          <a:p>
            <a:fld id="{016DE1EE-13E1-4098-A3ED-7B2B81B507D1}" type="slidenum">
              <a:rPr lang="hu-HU" smtClean="0"/>
              <a:t>3</a:t>
            </a:fld>
            <a:endParaRPr lang="hu-HU"/>
          </a:p>
        </p:txBody>
      </p:sp>
    </p:spTree>
    <p:extLst>
      <p:ext uri="{BB962C8B-B14F-4D97-AF65-F5344CB8AC3E}">
        <p14:creationId xmlns:p14="http://schemas.microsoft.com/office/powerpoint/2010/main" val="16046538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lstStyle/>
          <a:p>
            <a:r>
              <a:rPr lang="hu-HU" sz="1200" kern="1200" dirty="0">
                <a:solidFill>
                  <a:schemeClr val="tx1"/>
                </a:solidFill>
                <a:latin typeface="+mn-lt"/>
                <a:ea typeface="+mn-ea"/>
                <a:cs typeface="+mn-cs"/>
              </a:rPr>
              <a:t>A </a:t>
            </a:r>
            <a:r>
              <a:rPr lang="hu-HU" sz="1200" kern="1200" dirty="0" err="1">
                <a:solidFill>
                  <a:schemeClr val="tx1"/>
                </a:solidFill>
                <a:latin typeface="+mn-lt"/>
                <a:ea typeface="+mn-ea"/>
                <a:cs typeface="+mn-cs"/>
              </a:rPr>
              <a:t>Colonel</a:t>
            </a:r>
            <a:r>
              <a:rPr lang="hu-HU" sz="1200" kern="1200" dirty="0">
                <a:solidFill>
                  <a:schemeClr val="tx1"/>
                </a:solidFill>
                <a:latin typeface="+mn-lt"/>
                <a:ea typeface="+mn-ea"/>
                <a:cs typeface="+mn-cs"/>
              </a:rPr>
              <a:t> </a:t>
            </a:r>
            <a:r>
              <a:rPr lang="hu-HU" sz="1200" kern="1200" dirty="0" err="1">
                <a:solidFill>
                  <a:schemeClr val="tx1"/>
                </a:solidFill>
                <a:latin typeface="+mn-lt"/>
                <a:ea typeface="+mn-ea"/>
                <a:cs typeface="+mn-cs"/>
              </a:rPr>
              <a:t>Blotto</a:t>
            </a:r>
            <a:r>
              <a:rPr lang="hu-HU" sz="1200" kern="1200" dirty="0">
                <a:solidFill>
                  <a:schemeClr val="tx1"/>
                </a:solidFill>
                <a:latin typeface="+mn-lt"/>
                <a:ea typeface="+mn-ea"/>
                <a:cs typeface="+mn-cs"/>
              </a:rPr>
              <a:t> játék egy klasszikus játékelméleti modell, amit még a 20. század elején dolgoztak ki.</a:t>
            </a:r>
          </a:p>
          <a:p>
            <a:r>
              <a:rPr lang="hu-HU" sz="1200" kern="1200" dirty="0">
                <a:solidFill>
                  <a:schemeClr val="tx1"/>
                </a:solidFill>
                <a:latin typeface="+mn-lt"/>
                <a:ea typeface="+mn-ea"/>
                <a:cs typeface="+mn-cs"/>
              </a:rPr>
              <a:t>Két hadvezér több csapatot kap, és ezeket több csatamező között kell elosztania.</a:t>
            </a:r>
          </a:p>
          <a:p>
            <a:r>
              <a:rPr lang="hu-HU" sz="1200" kern="1200" dirty="0">
                <a:solidFill>
                  <a:schemeClr val="tx1"/>
                </a:solidFill>
                <a:latin typeface="+mn-lt"/>
                <a:ea typeface="+mn-ea"/>
                <a:cs typeface="+mn-cs"/>
              </a:rPr>
              <a:t>Minden csatát az nyer, aki arra a mezőre több erőforrást oszt.</a:t>
            </a:r>
          </a:p>
          <a:p>
            <a:r>
              <a:rPr lang="hu-HU" sz="1200" kern="1200" dirty="0">
                <a:solidFill>
                  <a:schemeClr val="tx1"/>
                </a:solidFill>
                <a:latin typeface="+mn-lt"/>
                <a:ea typeface="+mn-ea"/>
                <a:cs typeface="+mn-cs"/>
              </a:rPr>
              <a:t>Ez a modell kiválóan leírja a </a:t>
            </a:r>
            <a:r>
              <a:rPr lang="hu-HU" sz="1200" kern="1200" dirty="0" err="1">
                <a:solidFill>
                  <a:schemeClr val="tx1"/>
                </a:solidFill>
                <a:latin typeface="+mn-lt"/>
                <a:ea typeface="+mn-ea"/>
                <a:cs typeface="+mn-cs"/>
              </a:rPr>
              <a:t>kiberbiztonsági</a:t>
            </a:r>
            <a:r>
              <a:rPr lang="hu-HU" sz="1200" kern="1200" dirty="0">
                <a:solidFill>
                  <a:schemeClr val="tx1"/>
                </a:solidFill>
                <a:latin typeface="+mn-lt"/>
                <a:ea typeface="+mn-ea"/>
                <a:cs typeface="+mn-cs"/>
              </a:rPr>
              <a:t> helyzetet is, ahol a „csatamezők” az egyes gyártók vagy rendszerek, az „erőforrás” pedig lehet pénz, emberi kapacitás vagy figyelem.</a:t>
            </a:r>
          </a:p>
          <a:p>
            <a:r>
              <a:rPr lang="hu-HU" sz="1200" kern="1200" dirty="0">
                <a:solidFill>
                  <a:schemeClr val="tx1"/>
                </a:solidFill>
                <a:latin typeface="+mn-lt"/>
                <a:ea typeface="+mn-ea"/>
                <a:cs typeface="+mn-cs"/>
              </a:rPr>
              <a:t>A lényeg tehát az, hogy nem az nyer, akinek abszolút több erőforrása van, hanem az, aki okosabban osztja el.</a:t>
            </a:r>
          </a:p>
          <a:p>
            <a:r>
              <a:rPr lang="hu-HU" sz="1200" kern="1200" dirty="0">
                <a:solidFill>
                  <a:schemeClr val="tx1"/>
                </a:solidFill>
                <a:latin typeface="+mn-lt"/>
                <a:ea typeface="+mn-ea"/>
                <a:cs typeface="+mn-cs"/>
              </a:rPr>
              <a:t>A kutatásomban ezt a klasszikus elvet alkalmaztam, csak itt a csatamezők valós, napi </a:t>
            </a:r>
            <a:r>
              <a:rPr lang="hu-HU" sz="1200" kern="1200" dirty="0" err="1">
                <a:solidFill>
                  <a:schemeClr val="tx1"/>
                </a:solidFill>
                <a:latin typeface="+mn-lt"/>
                <a:ea typeface="+mn-ea"/>
                <a:cs typeface="+mn-cs"/>
              </a:rPr>
              <a:t>frissítésű</a:t>
            </a:r>
            <a:r>
              <a:rPr lang="hu-HU" sz="1200" kern="1200" dirty="0">
                <a:solidFill>
                  <a:schemeClr val="tx1"/>
                </a:solidFill>
                <a:latin typeface="+mn-lt"/>
                <a:ea typeface="+mn-ea"/>
                <a:cs typeface="+mn-cs"/>
              </a:rPr>
              <a:t> </a:t>
            </a:r>
            <a:r>
              <a:rPr lang="hu-HU" sz="1200" kern="1200" dirty="0" err="1">
                <a:solidFill>
                  <a:schemeClr val="tx1"/>
                </a:solidFill>
                <a:latin typeface="+mn-lt"/>
                <a:ea typeface="+mn-ea"/>
                <a:cs typeface="+mn-cs"/>
              </a:rPr>
              <a:t>kiberkockázati</a:t>
            </a:r>
            <a:r>
              <a:rPr lang="hu-HU" sz="1200" kern="1200" dirty="0">
                <a:solidFill>
                  <a:schemeClr val="tx1"/>
                </a:solidFill>
                <a:latin typeface="+mn-lt"/>
                <a:ea typeface="+mn-ea"/>
                <a:cs typeface="+mn-cs"/>
              </a:rPr>
              <a:t> értékeken alapulnak.</a:t>
            </a:r>
          </a:p>
        </p:txBody>
      </p:sp>
      <p:sp>
        <p:nvSpPr>
          <p:cNvPr id="4" name="Dia számának helye 3"/>
          <p:cNvSpPr>
            <a:spLocks noGrp="1"/>
          </p:cNvSpPr>
          <p:nvPr>
            <p:ph type="sldNum" sz="quarter" idx="5"/>
          </p:nvPr>
        </p:nvSpPr>
        <p:spPr/>
        <p:txBody>
          <a:bodyPr/>
          <a:lstStyle/>
          <a:p>
            <a:fld id="{016DE1EE-13E1-4098-A3ED-7B2B81B507D1}" type="slidenum">
              <a:rPr lang="hu-HU" smtClean="0"/>
              <a:t>4</a:t>
            </a:fld>
            <a:endParaRPr lang="hu-HU"/>
          </a:p>
        </p:txBody>
      </p:sp>
    </p:spTree>
    <p:extLst>
      <p:ext uri="{BB962C8B-B14F-4D97-AF65-F5344CB8AC3E}">
        <p14:creationId xmlns:p14="http://schemas.microsoft.com/office/powerpoint/2010/main" val="357847355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lstStyle/>
          <a:p>
            <a:r>
              <a:rPr lang="hu-HU" dirty="0"/>
              <a:t>Ahhoz, hogy a modell valós adatokra épüljön, három nemzetközi szabványrendszert használtam, amelyek a sérülékenységek leírását és kockázati jellemzését adják meg.</a:t>
            </a:r>
            <a:br>
              <a:rPr lang="hu-HU" dirty="0"/>
            </a:br>
            <a:r>
              <a:rPr lang="hu-HU" dirty="0"/>
              <a:t>Az első a </a:t>
            </a:r>
            <a:r>
              <a:rPr lang="hu-HU" b="1" dirty="0"/>
              <a:t>CVE</a:t>
            </a:r>
            <a:r>
              <a:rPr lang="hu-HU" dirty="0"/>
              <a:t> keretrendszer, amely minden sérülékenységhez egyedi azonosítót ad, és megadja, hogy mely termékekhez és gyártókhoz tartozik. Erre azért volt szükség, hogy a sérülékenységeket gyártók szerint tudjam csoportosítani, és meg lehessen mondani, egy adott napon mely gyártónál milyen CVE-k jelentek meg. Fontos, hogy a CVE maga még nem ad súlyosságot vagy kockázatot, csak az alap azonosítást biztosítja.</a:t>
            </a:r>
            <a:br>
              <a:rPr lang="hu-HU" dirty="0"/>
            </a:br>
            <a:r>
              <a:rPr lang="hu-HU" dirty="0"/>
              <a:t>A második a </a:t>
            </a:r>
            <a:r>
              <a:rPr lang="hu-HU" sz="1200" b="1" kern="1200" dirty="0">
                <a:solidFill>
                  <a:schemeClr val="tx1"/>
                </a:solidFill>
                <a:latin typeface="+mn-lt"/>
                <a:ea typeface="+mn-ea"/>
                <a:cs typeface="+mn-cs"/>
              </a:rPr>
              <a:t>CVSS</a:t>
            </a:r>
            <a:r>
              <a:rPr lang="hu-HU" dirty="0"/>
              <a:t>. Ez egy 0-tól 10-ig terjedő súlyossági pontszám, ami azt mutatja meg, mennyire kritikus egy adott sérülékenység.</a:t>
            </a:r>
            <a:br>
              <a:rPr lang="hu-HU" dirty="0"/>
            </a:br>
            <a:r>
              <a:rPr lang="hu-HU" dirty="0"/>
              <a:t>A harmadik az </a:t>
            </a:r>
            <a:r>
              <a:rPr lang="hu-HU" sz="1200" b="1" kern="1200" dirty="0">
                <a:solidFill>
                  <a:schemeClr val="tx1"/>
                </a:solidFill>
                <a:latin typeface="+mn-lt"/>
                <a:ea typeface="+mn-ea"/>
                <a:cs typeface="+mn-cs"/>
              </a:rPr>
              <a:t>EPSS</a:t>
            </a:r>
            <a:r>
              <a:rPr lang="hu-HU" dirty="0"/>
              <a:t>. Ez adja meg, mekkora a valószínűsége annak, hogy a következő 30 napban az adott hiba ténylegesen ki is lesz használva.</a:t>
            </a:r>
          </a:p>
          <a:p>
            <a:r>
              <a:rPr lang="hu-HU" dirty="0"/>
              <a:t>A dolgozatomban a kockázatot a következő képen számolom:</a:t>
            </a:r>
            <a:br>
              <a:rPr lang="hu-HU" dirty="0"/>
            </a:br>
            <a:r>
              <a:rPr lang="hu-HU" sz="1200" kern="1200" dirty="0">
                <a:solidFill>
                  <a:schemeClr val="tx1"/>
                </a:solidFill>
                <a:latin typeface="+mn-lt"/>
                <a:ea typeface="+mn-ea"/>
                <a:cs typeface="+mn-cs"/>
              </a:rPr>
              <a:t>Kockázat = EPSS (valószínűség) x CVSS (hatás/súlyosság).</a:t>
            </a:r>
            <a:br>
              <a:rPr lang="hu-HU" dirty="0"/>
            </a:br>
            <a:r>
              <a:rPr lang="hu-HU" dirty="0"/>
              <a:t>Ezzel minden gyártóhoz minden nap rendelhető egy számérték, ami tükrözi a napi </a:t>
            </a:r>
            <a:r>
              <a:rPr lang="hu-HU" dirty="0" err="1"/>
              <a:t>kiberkockázati</a:t>
            </a:r>
            <a:r>
              <a:rPr lang="hu-HU" dirty="0"/>
              <a:t> helyzetet.</a:t>
            </a:r>
          </a:p>
        </p:txBody>
      </p:sp>
      <p:sp>
        <p:nvSpPr>
          <p:cNvPr id="4" name="Dia számának helye 3"/>
          <p:cNvSpPr>
            <a:spLocks noGrp="1"/>
          </p:cNvSpPr>
          <p:nvPr>
            <p:ph type="sldNum" sz="quarter" idx="5"/>
          </p:nvPr>
        </p:nvSpPr>
        <p:spPr/>
        <p:txBody>
          <a:bodyPr/>
          <a:lstStyle/>
          <a:p>
            <a:fld id="{016DE1EE-13E1-4098-A3ED-7B2B81B507D1}" type="slidenum">
              <a:rPr lang="hu-HU" smtClean="0"/>
              <a:t>5</a:t>
            </a:fld>
            <a:endParaRPr lang="hu-HU"/>
          </a:p>
        </p:txBody>
      </p:sp>
    </p:spTree>
    <p:extLst>
      <p:ext uri="{BB962C8B-B14F-4D97-AF65-F5344CB8AC3E}">
        <p14:creationId xmlns:p14="http://schemas.microsoft.com/office/powerpoint/2010/main" val="32826393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lstStyle/>
          <a:p>
            <a:r>
              <a:rPr lang="hu-HU" sz="1200" kern="1200" dirty="0">
                <a:solidFill>
                  <a:schemeClr val="tx1"/>
                </a:solidFill>
                <a:latin typeface="+mn-lt"/>
                <a:ea typeface="+mn-ea"/>
                <a:cs typeface="+mn-cs"/>
              </a:rPr>
              <a:t>Ezen a dián egy CVE adatforrás látható, amelyre az egész modellem épül.</a:t>
            </a:r>
          </a:p>
          <a:p>
            <a:r>
              <a:rPr lang="hu-HU" sz="1200" kern="1200" dirty="0">
                <a:solidFill>
                  <a:schemeClr val="tx1"/>
                </a:solidFill>
                <a:latin typeface="+mn-lt"/>
                <a:ea typeface="+mn-ea"/>
                <a:cs typeface="+mn-cs"/>
              </a:rPr>
              <a:t>Ez kép egy konkrét sérülékenységet mutat, a Windows </a:t>
            </a:r>
            <a:r>
              <a:rPr lang="hu-HU" sz="1200" kern="1200" dirty="0" err="1">
                <a:solidFill>
                  <a:schemeClr val="tx1"/>
                </a:solidFill>
                <a:latin typeface="+mn-lt"/>
                <a:ea typeface="+mn-ea"/>
                <a:cs typeface="+mn-cs"/>
              </a:rPr>
              <a:t>CryptoAPI</a:t>
            </a:r>
            <a:r>
              <a:rPr lang="hu-HU" sz="1200" kern="1200" dirty="0">
                <a:solidFill>
                  <a:schemeClr val="tx1"/>
                </a:solidFill>
                <a:latin typeface="+mn-lt"/>
                <a:ea typeface="+mn-ea"/>
                <a:cs typeface="+mn-cs"/>
              </a:rPr>
              <a:t> hibáját, amelynek a CVSS pontszáma 7,5. Ez azt jelzi, hogy technikailag súlyos hiba.</a:t>
            </a:r>
          </a:p>
          <a:p>
            <a:r>
              <a:rPr lang="hu-HU" sz="1200" kern="1200" dirty="0">
                <a:solidFill>
                  <a:schemeClr val="tx1"/>
                </a:solidFill>
                <a:latin typeface="+mn-lt"/>
                <a:ea typeface="+mn-ea"/>
                <a:cs typeface="+mn-cs"/>
              </a:rPr>
              <a:t>KATT</a:t>
            </a:r>
          </a:p>
          <a:p>
            <a:r>
              <a:rPr lang="hu-HU" sz="1200" kern="1200" dirty="0">
                <a:solidFill>
                  <a:schemeClr val="tx1"/>
                </a:solidFill>
                <a:latin typeface="+mn-lt"/>
                <a:ea typeface="+mn-ea"/>
                <a:cs typeface="+mn-cs"/>
              </a:rPr>
              <a:t>Ezek a képen pedig egy EPSS táblázat látható, amely megmutatja, mekkora a valószínűsége, hogy egy ilyen hiba ténylegesen ki is lesz használva a gyakorlatban.</a:t>
            </a:r>
          </a:p>
          <a:p>
            <a:r>
              <a:rPr lang="hu-HU" sz="1200" kern="1200" dirty="0">
                <a:solidFill>
                  <a:schemeClr val="tx1"/>
                </a:solidFill>
                <a:latin typeface="+mn-lt"/>
                <a:ea typeface="+mn-ea"/>
                <a:cs typeface="+mn-cs"/>
              </a:rPr>
              <a:t>Például a táblázatban az utolsó előtti sorban az EPSS értéke 0,94, ami azt jelenti, hogy 94 %-os eséllyel fordul elő valódi támadás a </a:t>
            </a:r>
            <a:r>
              <a:rPr lang="hu-HU" sz="1200" kern="1200" dirty="0" err="1">
                <a:solidFill>
                  <a:schemeClr val="tx1"/>
                </a:solidFill>
                <a:latin typeface="+mn-lt"/>
                <a:ea typeface="+mn-ea"/>
                <a:cs typeface="+mn-cs"/>
              </a:rPr>
              <a:t>kövezketkező</a:t>
            </a:r>
            <a:r>
              <a:rPr lang="hu-HU" sz="1200" kern="1200" dirty="0">
                <a:solidFill>
                  <a:schemeClr val="tx1"/>
                </a:solidFill>
                <a:latin typeface="+mn-lt"/>
                <a:ea typeface="+mn-ea"/>
                <a:cs typeface="+mn-cs"/>
              </a:rPr>
              <a:t> 30 napban, tehát ez egy nagyon magas kockázatú sérülékenység.</a:t>
            </a:r>
          </a:p>
          <a:p>
            <a:endParaRPr lang="hu-HU" dirty="0"/>
          </a:p>
        </p:txBody>
      </p:sp>
      <p:sp>
        <p:nvSpPr>
          <p:cNvPr id="4" name="Dia számának helye 3"/>
          <p:cNvSpPr>
            <a:spLocks noGrp="1"/>
          </p:cNvSpPr>
          <p:nvPr>
            <p:ph type="sldNum" sz="quarter" idx="5"/>
          </p:nvPr>
        </p:nvSpPr>
        <p:spPr/>
        <p:txBody>
          <a:bodyPr/>
          <a:lstStyle/>
          <a:p>
            <a:fld id="{016DE1EE-13E1-4098-A3ED-7B2B81B507D1}" type="slidenum">
              <a:rPr lang="hu-HU" smtClean="0"/>
              <a:t>6</a:t>
            </a:fld>
            <a:endParaRPr lang="hu-HU"/>
          </a:p>
        </p:txBody>
      </p:sp>
    </p:spTree>
    <p:extLst>
      <p:ext uri="{BB962C8B-B14F-4D97-AF65-F5344CB8AC3E}">
        <p14:creationId xmlns:p14="http://schemas.microsoft.com/office/powerpoint/2010/main" val="249643962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lstStyle/>
          <a:p>
            <a:r>
              <a:rPr lang="hu-HU" dirty="0"/>
              <a:t>Mivel a támadó és a védő folyamatosan reagálnak egymás döntéseire, a helyzet természetéből adódóan egy kétoldalú tanulási folyamat alakul ki.</a:t>
            </a:r>
            <a:br>
              <a:rPr lang="hu-HU" dirty="0"/>
            </a:br>
            <a:r>
              <a:rPr lang="hu-HU" dirty="0"/>
              <a:t>Ezt a kölcsönhatást két megerősítéses tanulást alkalmazó ügynökkel modelleztem: egy támadóval és egy védővel.</a:t>
            </a:r>
            <a:br>
              <a:rPr lang="hu-HU" dirty="0"/>
            </a:br>
            <a:r>
              <a:rPr lang="hu-HU" dirty="0"/>
              <a:t>Mindketten Q-</a:t>
            </a:r>
            <a:r>
              <a:rPr lang="hu-HU" dirty="0" err="1"/>
              <a:t>learninget</a:t>
            </a:r>
            <a:r>
              <a:rPr lang="hu-HU" dirty="0"/>
              <a:t> használnak, vagyis korábbi tapasztalataik alapján tanulják meg, mely stratégiák hoznak számukra nagyobb jutalmat.</a:t>
            </a:r>
            <a:br>
              <a:rPr lang="hu-HU" dirty="0"/>
            </a:br>
            <a:r>
              <a:rPr lang="hu-HU" dirty="0"/>
              <a:t>A támadó célja a nyereség maximalizálása, a védőé pedig a veszteség minimalizálása, így a két ügynök folyamatosan alkalmazkodik egymáshoz.</a:t>
            </a:r>
            <a:br>
              <a:rPr lang="hu-HU" dirty="0"/>
            </a:br>
            <a:r>
              <a:rPr lang="hu-HU" dirty="0"/>
              <a:t>Ennek eredménye egy dinamikus egyensúly, ahol egyik fél sem tud tartós fölényt kialakítani.</a:t>
            </a:r>
          </a:p>
        </p:txBody>
      </p:sp>
      <p:sp>
        <p:nvSpPr>
          <p:cNvPr id="4" name="Dia számának helye 3"/>
          <p:cNvSpPr>
            <a:spLocks noGrp="1"/>
          </p:cNvSpPr>
          <p:nvPr>
            <p:ph type="sldNum" sz="quarter" idx="5"/>
          </p:nvPr>
        </p:nvSpPr>
        <p:spPr/>
        <p:txBody>
          <a:bodyPr/>
          <a:lstStyle/>
          <a:p>
            <a:fld id="{016DE1EE-13E1-4098-A3ED-7B2B81B507D1}" type="slidenum">
              <a:rPr lang="hu-HU" smtClean="0"/>
              <a:t>7</a:t>
            </a:fld>
            <a:endParaRPr lang="hu-HU"/>
          </a:p>
        </p:txBody>
      </p:sp>
    </p:spTree>
    <p:extLst>
      <p:ext uri="{BB962C8B-B14F-4D97-AF65-F5344CB8AC3E}">
        <p14:creationId xmlns:p14="http://schemas.microsoft.com/office/powerpoint/2010/main" val="193008210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lstStyle/>
          <a:p>
            <a:r>
              <a:rPr lang="hu-HU" sz="1200" kern="1200" dirty="0">
                <a:solidFill>
                  <a:schemeClr val="tx1"/>
                </a:solidFill>
                <a:latin typeface="+mn-lt"/>
                <a:ea typeface="+mn-ea"/>
                <a:cs typeface="+mn-cs"/>
              </a:rPr>
              <a:t>Az egyik legérdekesebb kérdés, amit a kutatásban vizsgáltam, az az információs aszimmetria.</a:t>
            </a:r>
          </a:p>
          <a:p>
            <a:r>
              <a:rPr lang="hu-HU" sz="1200" kern="1200" dirty="0">
                <a:solidFill>
                  <a:schemeClr val="tx1"/>
                </a:solidFill>
                <a:latin typeface="+mn-lt"/>
                <a:ea typeface="+mn-ea"/>
                <a:cs typeface="+mn-cs"/>
              </a:rPr>
              <a:t>Ez azt jelenti, hogy a támadó és a védő nem látja ugyanazt a képet a környezetről.</a:t>
            </a:r>
          </a:p>
          <a:p>
            <a:r>
              <a:rPr lang="hu-HU" sz="1200" kern="1200" dirty="0">
                <a:solidFill>
                  <a:schemeClr val="tx1"/>
                </a:solidFill>
                <a:latin typeface="+mn-lt"/>
                <a:ea typeface="+mn-ea"/>
                <a:cs typeface="+mn-cs"/>
              </a:rPr>
              <a:t>Négy szcenáriót különítettem el:</a:t>
            </a:r>
          </a:p>
          <a:p>
            <a:r>
              <a:rPr lang="hu-HU" sz="1200" kern="1200" dirty="0">
                <a:solidFill>
                  <a:schemeClr val="tx1"/>
                </a:solidFill>
                <a:latin typeface="+mn-lt"/>
                <a:ea typeface="+mn-ea"/>
                <a:cs typeface="+mn-cs"/>
              </a:rPr>
              <a:t>R0: mindkét fél azonos mennyiségű információval rendelkezik, ez az alaphelyzet</a:t>
            </a:r>
          </a:p>
          <a:p>
            <a:r>
              <a:rPr lang="hu-HU" sz="1200" kern="1200" dirty="0">
                <a:solidFill>
                  <a:schemeClr val="tx1"/>
                </a:solidFill>
                <a:latin typeface="+mn-lt"/>
                <a:ea typeface="+mn-ea"/>
                <a:cs typeface="+mn-cs"/>
              </a:rPr>
              <a:t>R1: a védőnek van hírszerzési előnye, naprakész EPSS-adatokat lát, és követni tudja a támadó múltbeli lépéseit</a:t>
            </a:r>
          </a:p>
          <a:p>
            <a:r>
              <a:rPr lang="hu-HU" sz="1200" kern="1200" dirty="0">
                <a:solidFill>
                  <a:schemeClr val="tx1"/>
                </a:solidFill>
                <a:latin typeface="+mn-lt"/>
                <a:ea typeface="+mn-ea"/>
                <a:cs typeface="+mn-cs"/>
              </a:rPr>
              <a:t>R2: itt a támadó előnyben van, több belső információval rendelkezik a sérülékenységekről</a:t>
            </a:r>
          </a:p>
          <a:p>
            <a:r>
              <a:rPr lang="hu-HU" sz="1200" kern="1200" dirty="0">
                <a:solidFill>
                  <a:schemeClr val="tx1"/>
                </a:solidFill>
                <a:latin typeface="+mn-lt"/>
                <a:ea typeface="+mn-ea"/>
                <a:cs typeface="+mn-cs"/>
              </a:rPr>
              <a:t>R3: mindkét fél részletesen látja a kockázati adatokat, ez a legátláthatóbb helyzet.</a:t>
            </a:r>
          </a:p>
          <a:p>
            <a:r>
              <a:rPr lang="hu-HU" sz="1200" kern="1200" dirty="0">
                <a:solidFill>
                  <a:schemeClr val="tx1"/>
                </a:solidFill>
                <a:latin typeface="+mn-lt"/>
                <a:ea typeface="+mn-ea"/>
                <a:cs typeface="+mn-cs"/>
              </a:rPr>
              <a:t>Ezek a konfigurációk megmutatják, hogyan befolyásolja az információ minősége és mennyisége az elért eredményeket.</a:t>
            </a:r>
          </a:p>
        </p:txBody>
      </p:sp>
      <p:sp>
        <p:nvSpPr>
          <p:cNvPr id="4" name="Dia számának helye 3"/>
          <p:cNvSpPr>
            <a:spLocks noGrp="1"/>
          </p:cNvSpPr>
          <p:nvPr>
            <p:ph type="sldNum" sz="quarter" idx="5"/>
          </p:nvPr>
        </p:nvSpPr>
        <p:spPr/>
        <p:txBody>
          <a:bodyPr/>
          <a:lstStyle/>
          <a:p>
            <a:fld id="{016DE1EE-13E1-4098-A3ED-7B2B81B507D1}" type="slidenum">
              <a:rPr lang="hu-HU" smtClean="0"/>
              <a:t>8</a:t>
            </a:fld>
            <a:endParaRPr lang="hu-HU"/>
          </a:p>
        </p:txBody>
      </p:sp>
    </p:spTree>
    <p:extLst>
      <p:ext uri="{BB962C8B-B14F-4D97-AF65-F5344CB8AC3E}">
        <p14:creationId xmlns:p14="http://schemas.microsoft.com/office/powerpoint/2010/main" val="258662201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lstStyle/>
          <a:p>
            <a:r>
              <a:rPr lang="hu-HU" dirty="0"/>
              <a:t>A tanuló ügynökök nem véletlenszerűen osztják el az erőforrásaikat, hanem előre definiált stratégiai minták közül választanak, és a tanulás lényege az, hogy megtanulják, melyik minta milyen helyzetben teljesít jól. </a:t>
            </a:r>
          </a:p>
          <a:p>
            <a:r>
              <a:rPr lang="hu-HU" dirty="0"/>
              <a:t>Az egyenletes elosztás egy semleges kiindulópont, ahol minden csatamező ugyanannyi erőforrást kap. </a:t>
            </a:r>
          </a:p>
          <a:p>
            <a:r>
              <a:rPr lang="hu-HU" dirty="0"/>
              <a:t>Az érték-arányos stratégia már a kockázati szintekhez igazodik, azaz a mezők értékének arányában történik az osztás, vagyis az ügynök több figyelmet fordít azokra a területekre, amelyek nagyobb veszélyt vagy nagyobb potenciális hasznot jelentenek. </a:t>
            </a:r>
          </a:p>
          <a:p>
            <a:r>
              <a:rPr lang="hu-HU" dirty="0"/>
              <a:t>A top-3 stratégia ennél is </a:t>
            </a:r>
            <a:r>
              <a:rPr lang="hu-HU" dirty="0" err="1"/>
              <a:t>fókuszáltabb</a:t>
            </a:r>
            <a:r>
              <a:rPr lang="hu-HU" dirty="0"/>
              <a:t>, itt a három legértékesebb mező kapja az erőforrások döntő részét, ami különösen akkor előnyös, ha a mezők értékei erősen eltérnek egymástól. </a:t>
            </a:r>
          </a:p>
          <a:p>
            <a:pPr marL="0" algn="l" defTabSz="914400" rtl="0" eaLnBrk="1" latinLnBrk="0" hangingPunct="1"/>
            <a:r>
              <a:rPr lang="hu-HU" sz="1200" kern="1200" dirty="0">
                <a:solidFill>
                  <a:schemeClr val="tx1"/>
                </a:solidFill>
                <a:latin typeface="+mn-lt"/>
                <a:ea typeface="+mn-ea"/>
                <a:cs typeface="+mn-cs"/>
              </a:rPr>
              <a:t>Az </a:t>
            </a:r>
            <a:r>
              <a:rPr lang="hu-HU" sz="1200" kern="1200" dirty="0" err="1">
                <a:solidFill>
                  <a:schemeClr val="tx1"/>
                </a:solidFill>
                <a:latin typeface="+mn-lt"/>
                <a:ea typeface="+mn-ea"/>
                <a:cs typeface="+mn-cs"/>
              </a:rPr>
              <a:t>all</a:t>
            </a:r>
            <a:r>
              <a:rPr lang="hu-HU" sz="1200" kern="1200" dirty="0">
                <a:solidFill>
                  <a:schemeClr val="tx1"/>
                </a:solidFill>
                <a:latin typeface="+mn-lt"/>
                <a:ea typeface="+mn-ea"/>
                <a:cs typeface="+mn-cs"/>
              </a:rPr>
              <a:t>-in (Top-1) stratégia ennek a véglete: az ügynök minden erőforrást a legértékesebb mezőre koncentrál, ami nagy kockázatú, de bizonyos helyzetekben rendkívül hatékony lehet.</a:t>
            </a:r>
          </a:p>
          <a:p>
            <a:r>
              <a:rPr lang="hu-HU" dirty="0"/>
              <a:t>Emellett szerepel egy véletlen stratégia is, amely kontrollált bizonytalanságot visz az ügynök viselkedésébe, mert ez segít elkerülni, hogy túl korán „beragadjon” egy rossz mintába.</a:t>
            </a:r>
          </a:p>
          <a:p>
            <a:r>
              <a:rPr lang="hu-HU" dirty="0"/>
              <a:t>A védő esetében egy különösen fontos minta a </a:t>
            </a:r>
            <a:r>
              <a:rPr lang="hu-HU" sz="1200" dirty="0"/>
              <a:t>mintázat-reaktív</a:t>
            </a:r>
            <a:r>
              <a:rPr lang="hu-HU" dirty="0"/>
              <a:t> stratégia, amely figyelembe veszi a támadó korábbi döntéseit, és megpróbálja előre jelezni, hol várható a következő támadás. Ez a gyakorlatban úgy működik, hogy a védő egy rövid, exponenciálisan csökkenő </a:t>
            </a:r>
            <a:r>
              <a:rPr lang="hu-HU" dirty="0" err="1"/>
              <a:t>súlyozású</a:t>
            </a:r>
            <a:r>
              <a:rPr lang="hu-HU" dirty="0"/>
              <a:t> „emléket” vezet arról, mely csatamezőket támadták a közelmúltban.</a:t>
            </a:r>
          </a:p>
          <a:p>
            <a:r>
              <a:rPr lang="hu-HU" sz="1200" kern="1200" dirty="0">
                <a:solidFill>
                  <a:schemeClr val="tx1"/>
                </a:solidFill>
                <a:latin typeface="+mn-lt"/>
                <a:ea typeface="+mn-ea"/>
                <a:cs typeface="+mn-cs"/>
              </a:rPr>
              <a:t>Ezek a </a:t>
            </a:r>
            <a:r>
              <a:rPr lang="hu-HU" sz="1200" kern="1200" dirty="0" err="1">
                <a:solidFill>
                  <a:schemeClr val="tx1"/>
                </a:solidFill>
                <a:latin typeface="+mn-lt"/>
                <a:ea typeface="+mn-ea"/>
                <a:cs typeface="+mn-cs"/>
              </a:rPr>
              <a:t>stratágiai</a:t>
            </a:r>
            <a:r>
              <a:rPr lang="hu-HU" sz="1200" kern="1200" dirty="0">
                <a:solidFill>
                  <a:schemeClr val="tx1"/>
                </a:solidFill>
                <a:latin typeface="+mn-lt"/>
                <a:ea typeface="+mn-ea"/>
                <a:cs typeface="+mn-cs"/>
              </a:rPr>
              <a:t> minták teszik lehetővé, hogy a döntések mögött legyen logika, de közben a rendszer folyamatosan tudjon alkalmazkodni.</a:t>
            </a:r>
          </a:p>
          <a:p>
            <a:endParaRPr lang="hu-HU" sz="1200" kern="1200" dirty="0">
              <a:solidFill>
                <a:schemeClr val="tx1"/>
              </a:solidFill>
              <a:latin typeface="+mn-lt"/>
              <a:ea typeface="+mn-ea"/>
              <a:cs typeface="+mn-cs"/>
            </a:endParaRPr>
          </a:p>
        </p:txBody>
      </p:sp>
      <p:sp>
        <p:nvSpPr>
          <p:cNvPr id="4" name="Dia számának helye 3"/>
          <p:cNvSpPr>
            <a:spLocks noGrp="1"/>
          </p:cNvSpPr>
          <p:nvPr>
            <p:ph type="sldNum" sz="quarter" idx="5"/>
          </p:nvPr>
        </p:nvSpPr>
        <p:spPr/>
        <p:txBody>
          <a:bodyPr/>
          <a:lstStyle/>
          <a:p>
            <a:fld id="{016DE1EE-13E1-4098-A3ED-7B2B81B507D1}" type="slidenum">
              <a:rPr lang="hu-HU" smtClean="0"/>
              <a:t>9</a:t>
            </a:fld>
            <a:endParaRPr lang="hu-HU"/>
          </a:p>
        </p:txBody>
      </p:sp>
    </p:spTree>
    <p:extLst>
      <p:ext uri="{BB962C8B-B14F-4D97-AF65-F5344CB8AC3E}">
        <p14:creationId xmlns:p14="http://schemas.microsoft.com/office/powerpoint/2010/main" val="213881903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lstStyle/>
          <a:p>
            <a:pPr marL="0" algn="l" defTabSz="914400" rtl="0" eaLnBrk="1" latinLnBrk="0" hangingPunct="1"/>
            <a:r>
              <a:rPr lang="hu-HU" sz="1200" kern="1200" dirty="0">
                <a:solidFill>
                  <a:schemeClr val="tx1"/>
                </a:solidFill>
                <a:latin typeface="+mn-lt"/>
                <a:ea typeface="+mn-ea"/>
                <a:cs typeface="+mn-cs"/>
              </a:rPr>
              <a:t>A szimulációs környezetet igyekeztem úgy kialakítani, hogy valósághű legyen, de közben modellezhető is maradjon.</a:t>
            </a:r>
            <a:br>
              <a:rPr lang="hu-HU" sz="1200" kern="1200" dirty="0">
                <a:solidFill>
                  <a:schemeClr val="tx1"/>
                </a:solidFill>
                <a:latin typeface="+mn-lt"/>
                <a:ea typeface="+mn-ea"/>
                <a:cs typeface="+mn-cs"/>
              </a:rPr>
            </a:br>
            <a:r>
              <a:rPr lang="hu-HU" sz="1200" kern="1200" dirty="0">
                <a:solidFill>
                  <a:schemeClr val="tx1"/>
                </a:solidFill>
                <a:latin typeface="+mn-lt"/>
                <a:ea typeface="+mn-ea"/>
                <a:cs typeface="+mn-cs"/>
              </a:rPr>
              <a:t>A játék 10 csatamezőn zajlik, ezek az adott nap leginkább érintett szoftvergyártói a valós CVE-statisztikák alapján.</a:t>
            </a:r>
          </a:p>
          <a:p>
            <a:pPr marL="0" algn="l" defTabSz="914400" rtl="0" eaLnBrk="1" latinLnBrk="0" hangingPunct="1"/>
            <a:r>
              <a:rPr lang="hu-HU" sz="1200" kern="1200" dirty="0">
                <a:solidFill>
                  <a:schemeClr val="tx1"/>
                </a:solidFill>
                <a:latin typeface="+mn-lt"/>
                <a:ea typeface="+mn-ea"/>
                <a:cs typeface="+mn-cs"/>
              </a:rPr>
              <a:t>A támadó 20 egységnyi erőforrást kap, a védő pedig 40-et. Ez a különbség a gyakorlatban is megállja a helyét, hiszen a védekezés általában sokkal erőforrás-igényesebb. Nem extrém helyzetet modellezek (például nem egy titkosszolgálatot egy kis cég ellen), hanem egy tipikus vállalati környezetet.</a:t>
            </a:r>
          </a:p>
          <a:p>
            <a:pPr marL="0" algn="l" defTabSz="914400" rtl="0" eaLnBrk="1" latinLnBrk="0" hangingPunct="1"/>
            <a:r>
              <a:rPr lang="hu-HU" sz="1200" kern="1200" dirty="0">
                <a:solidFill>
                  <a:schemeClr val="tx1"/>
                </a:solidFill>
                <a:latin typeface="+mn-lt"/>
                <a:ea typeface="+mn-ea"/>
                <a:cs typeface="+mn-cs"/>
              </a:rPr>
              <a:t>Minden nap 500 tanulási epizód fut le, és ezt tízszer megismétlem, hogy az eredmények </a:t>
            </a:r>
            <a:r>
              <a:rPr lang="hu-HU" sz="1200" kern="1200" dirty="0" err="1">
                <a:solidFill>
                  <a:schemeClr val="tx1"/>
                </a:solidFill>
                <a:latin typeface="+mn-lt"/>
                <a:ea typeface="+mn-ea"/>
                <a:cs typeface="+mn-cs"/>
              </a:rPr>
              <a:t>stabilak</a:t>
            </a:r>
            <a:r>
              <a:rPr lang="hu-HU" sz="1200" kern="1200" dirty="0">
                <a:solidFill>
                  <a:schemeClr val="tx1"/>
                </a:solidFill>
                <a:latin typeface="+mn-lt"/>
                <a:ea typeface="+mn-ea"/>
                <a:cs typeface="+mn-cs"/>
              </a:rPr>
              <a:t> legyenek.</a:t>
            </a:r>
            <a:br>
              <a:rPr lang="hu-HU" sz="1200" kern="1200" dirty="0">
                <a:solidFill>
                  <a:schemeClr val="tx1"/>
                </a:solidFill>
                <a:latin typeface="+mn-lt"/>
                <a:ea typeface="+mn-ea"/>
                <a:cs typeface="+mn-cs"/>
              </a:rPr>
            </a:br>
            <a:r>
              <a:rPr lang="hu-HU" sz="1200" kern="1200" dirty="0">
                <a:solidFill>
                  <a:schemeClr val="tx1"/>
                </a:solidFill>
                <a:latin typeface="+mn-lt"/>
                <a:ea typeface="+mn-ea"/>
                <a:cs typeface="+mn-cs"/>
              </a:rPr>
              <a:t>Három időszakot vizsgálok: januárt, májust és augusztust. Ezeket azért választottam, mert a CVE-</a:t>
            </a:r>
            <a:r>
              <a:rPr lang="hu-HU" sz="1200" kern="1200" dirty="0" err="1">
                <a:solidFill>
                  <a:schemeClr val="tx1"/>
                </a:solidFill>
                <a:latin typeface="+mn-lt"/>
                <a:ea typeface="+mn-ea"/>
                <a:cs typeface="+mn-cs"/>
              </a:rPr>
              <a:t>knek</a:t>
            </a:r>
            <a:r>
              <a:rPr lang="hu-HU" sz="1200" kern="1200" dirty="0">
                <a:solidFill>
                  <a:schemeClr val="tx1"/>
                </a:solidFill>
                <a:latin typeface="+mn-lt"/>
                <a:ea typeface="+mn-ea"/>
                <a:cs typeface="+mn-cs"/>
              </a:rPr>
              <a:t> van egy szezonális mintázata: bizonyos hónapokban több új sérülékenység jelenik meg, máskor jóval kevesebb. Ez jól mutatja, hogyan változik a kockázati környezet az év során.</a:t>
            </a:r>
          </a:p>
          <a:p>
            <a:pPr marL="0" algn="l" defTabSz="914400" rtl="0" eaLnBrk="1" latinLnBrk="0" hangingPunct="1"/>
            <a:r>
              <a:rPr lang="hu-HU" sz="1200" kern="1200" dirty="0">
                <a:solidFill>
                  <a:schemeClr val="tx1"/>
                </a:solidFill>
                <a:latin typeface="+mn-lt"/>
                <a:ea typeface="+mn-ea"/>
                <a:cs typeface="+mn-cs"/>
              </a:rPr>
              <a:t>Összességében ezek a beállítások biztosítják, hogy a modell egyszerre legyen valósághű, ismételhető és összehasonlítható a különböző hónapok között.</a:t>
            </a:r>
          </a:p>
        </p:txBody>
      </p:sp>
      <p:sp>
        <p:nvSpPr>
          <p:cNvPr id="4" name="Dia számának helye 3"/>
          <p:cNvSpPr>
            <a:spLocks noGrp="1"/>
          </p:cNvSpPr>
          <p:nvPr>
            <p:ph type="sldNum" sz="quarter" idx="5"/>
          </p:nvPr>
        </p:nvSpPr>
        <p:spPr/>
        <p:txBody>
          <a:bodyPr/>
          <a:lstStyle/>
          <a:p>
            <a:fld id="{016DE1EE-13E1-4098-A3ED-7B2B81B507D1}" type="slidenum">
              <a:rPr lang="hu-HU" smtClean="0"/>
              <a:t>10</a:t>
            </a:fld>
            <a:endParaRPr lang="hu-HU"/>
          </a:p>
        </p:txBody>
      </p:sp>
    </p:spTree>
    <p:extLst>
      <p:ext uri="{BB962C8B-B14F-4D97-AF65-F5344CB8AC3E}">
        <p14:creationId xmlns:p14="http://schemas.microsoft.com/office/powerpoint/2010/main" val="56360903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lstStyle/>
          <a:p>
            <a:r>
              <a:rPr lang="hu-HU" sz="1200" kern="1200" dirty="0">
                <a:solidFill>
                  <a:schemeClr val="tx1"/>
                </a:solidFill>
                <a:latin typeface="+mn-lt"/>
                <a:ea typeface="+mn-ea"/>
                <a:cs typeface="+mn-cs"/>
              </a:rPr>
              <a:t>Az eredmények értékeléséhez több mérőszámot is használtam.</a:t>
            </a:r>
          </a:p>
          <a:p>
            <a:r>
              <a:rPr lang="hu-HU" sz="1200" kern="1200" dirty="0">
                <a:solidFill>
                  <a:schemeClr val="tx1"/>
                </a:solidFill>
                <a:latin typeface="+mn-lt"/>
                <a:ea typeface="+mn-ea"/>
                <a:cs typeface="+mn-cs"/>
              </a:rPr>
              <a:t>A legfontosabb kettő a RA és RD, vagyis a támadó és a védő átlagos jutalma.</a:t>
            </a:r>
          </a:p>
          <a:p>
            <a:r>
              <a:rPr lang="hu-HU" sz="1200" kern="1200" dirty="0">
                <a:solidFill>
                  <a:schemeClr val="tx1"/>
                </a:solidFill>
                <a:latin typeface="+mn-lt"/>
                <a:ea typeface="+mn-ea"/>
                <a:cs typeface="+mn-cs"/>
              </a:rPr>
              <a:t>Ezekből képeztem a </a:t>
            </a:r>
            <a:r>
              <a:rPr lang="el-GR" sz="1200" kern="1200" dirty="0">
                <a:solidFill>
                  <a:schemeClr val="tx1"/>
                </a:solidFill>
                <a:latin typeface="+mn-lt"/>
                <a:ea typeface="+mn-ea"/>
                <a:cs typeface="+mn-cs"/>
              </a:rPr>
              <a:t>ρ </a:t>
            </a:r>
            <a:r>
              <a:rPr lang="hu-HU" sz="1200" kern="1200" dirty="0">
                <a:solidFill>
                  <a:schemeClr val="tx1"/>
                </a:solidFill>
                <a:latin typeface="+mn-lt"/>
                <a:ea typeface="+mn-ea"/>
                <a:cs typeface="+mn-cs"/>
              </a:rPr>
              <a:t>arányt, ezt úgy kell értelmezni, hogy ha </a:t>
            </a:r>
            <a:r>
              <a:rPr lang="el-GR" sz="1200" kern="1200" dirty="0">
                <a:solidFill>
                  <a:schemeClr val="tx1"/>
                </a:solidFill>
                <a:latin typeface="+mn-lt"/>
                <a:ea typeface="+mn-ea"/>
                <a:cs typeface="+mn-cs"/>
              </a:rPr>
              <a:t>ρ </a:t>
            </a:r>
            <a:r>
              <a:rPr lang="hu-HU" sz="1200" kern="1200" dirty="0">
                <a:solidFill>
                  <a:schemeClr val="tx1"/>
                </a:solidFill>
                <a:latin typeface="+mn-lt"/>
                <a:ea typeface="+mn-ea"/>
                <a:cs typeface="+mn-cs"/>
              </a:rPr>
              <a:t>kisebb mint 1, akkor a védő átlagosan hatékonyabb volt; ha nagyobb mint 1, akkor a támadó dominált.</a:t>
            </a:r>
          </a:p>
          <a:p>
            <a:r>
              <a:rPr lang="hu-HU" sz="1200" kern="1200" dirty="0">
                <a:solidFill>
                  <a:schemeClr val="tx1"/>
                </a:solidFill>
                <a:latin typeface="+mn-lt"/>
                <a:ea typeface="+mn-ea"/>
                <a:cs typeface="+mn-cs"/>
              </a:rPr>
              <a:t>A következő kulcsmutató az entrópia (H), ami a stratégiai változatosságot jelzi.</a:t>
            </a:r>
            <a:br>
              <a:rPr lang="hu-HU" sz="1200" kern="1200" dirty="0">
                <a:solidFill>
                  <a:schemeClr val="tx1"/>
                </a:solidFill>
                <a:latin typeface="+mn-lt"/>
                <a:ea typeface="+mn-ea"/>
                <a:cs typeface="+mn-cs"/>
              </a:rPr>
            </a:br>
            <a:r>
              <a:rPr lang="hu-HU" sz="1200" kern="1200" dirty="0">
                <a:solidFill>
                  <a:schemeClr val="tx1"/>
                </a:solidFill>
                <a:latin typeface="+mn-lt"/>
                <a:ea typeface="+mn-ea"/>
                <a:cs typeface="+mn-cs"/>
              </a:rPr>
              <a:t>Magas entrópia esetén az ügynök sokféle stratégiát próbál ki, tehát folyamatosan tanul és alkalmazkodik.</a:t>
            </a:r>
            <a:br>
              <a:rPr lang="hu-HU" sz="1200" kern="1200" dirty="0">
                <a:solidFill>
                  <a:schemeClr val="tx1"/>
                </a:solidFill>
                <a:latin typeface="+mn-lt"/>
                <a:ea typeface="+mn-ea"/>
                <a:cs typeface="+mn-cs"/>
              </a:rPr>
            </a:br>
            <a:r>
              <a:rPr lang="hu-HU" sz="1200" kern="1200" dirty="0">
                <a:solidFill>
                  <a:schemeClr val="tx1"/>
                </a:solidFill>
                <a:latin typeface="+mn-lt"/>
                <a:ea typeface="+mn-ea"/>
                <a:cs typeface="+mn-cs"/>
              </a:rPr>
              <a:t>Alacsony entrópia pedig azt mutatja, hogy a viselkedés stabilizálódott, vagyis a tanulás konvergált egy megszokott mintához.</a:t>
            </a:r>
          </a:p>
          <a:p>
            <a:r>
              <a:rPr lang="hu-HU" sz="1200" kern="1200" dirty="0">
                <a:solidFill>
                  <a:schemeClr val="tx1"/>
                </a:solidFill>
                <a:latin typeface="+mn-lt"/>
                <a:ea typeface="+mn-ea"/>
                <a:cs typeface="+mn-cs"/>
              </a:rPr>
              <a:t>Ezen kívül más mérőszámokat is vizsgáltam:</a:t>
            </a:r>
          </a:p>
          <a:p>
            <a:r>
              <a:rPr lang="hu-HU" sz="1200" kern="1200" dirty="0">
                <a:solidFill>
                  <a:schemeClr val="tx1"/>
                </a:solidFill>
                <a:latin typeface="+mn-lt"/>
                <a:ea typeface="+mn-ea"/>
                <a:cs typeface="+mn-cs"/>
              </a:rPr>
              <a:t>a top-3 lefedettséget, ami azt jelzi, hogy a tanulás során az ügynök mennyire fókuszál a három legértékesebb csatamezőre</a:t>
            </a:r>
          </a:p>
          <a:p>
            <a:r>
              <a:rPr lang="hu-HU" sz="1200" kern="1200" dirty="0">
                <a:solidFill>
                  <a:schemeClr val="tx1"/>
                </a:solidFill>
                <a:latin typeface="+mn-lt"/>
                <a:ea typeface="+mn-ea"/>
                <a:cs typeface="+mn-cs"/>
              </a:rPr>
              <a:t>Ezek átfogó képet adnak arról, mennyire stabil, változatos és eredményes a két ügynök stratégiája a különböző információs környezetekben.</a:t>
            </a:r>
          </a:p>
        </p:txBody>
      </p:sp>
      <p:sp>
        <p:nvSpPr>
          <p:cNvPr id="4" name="Dia számának helye 3"/>
          <p:cNvSpPr>
            <a:spLocks noGrp="1"/>
          </p:cNvSpPr>
          <p:nvPr>
            <p:ph type="sldNum" sz="quarter" idx="5"/>
          </p:nvPr>
        </p:nvSpPr>
        <p:spPr/>
        <p:txBody>
          <a:bodyPr/>
          <a:lstStyle/>
          <a:p>
            <a:fld id="{016DE1EE-13E1-4098-A3ED-7B2B81B507D1}" type="slidenum">
              <a:rPr lang="hu-HU" smtClean="0"/>
              <a:t>11</a:t>
            </a:fld>
            <a:endParaRPr lang="hu-HU"/>
          </a:p>
        </p:txBody>
      </p:sp>
    </p:spTree>
    <p:extLst>
      <p:ext uri="{BB962C8B-B14F-4D97-AF65-F5344CB8AC3E}">
        <p14:creationId xmlns:p14="http://schemas.microsoft.com/office/powerpoint/2010/main" val="158622177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lstStyle/>
          <a:p>
            <a:r>
              <a:rPr lang="hu-HU" dirty="0"/>
              <a:t>Az első fő eredmény az volt, hogy a védő minden szcenárióban összességében jobb eredményt ért el, mint a támadó.</a:t>
            </a:r>
            <a:br>
              <a:rPr lang="hu-HU" dirty="0"/>
            </a:br>
            <a:r>
              <a:rPr lang="hu-HU" dirty="0"/>
              <a:t>Ez azt mutatja, hogy a tanulás és az információ gyors felhasználása jelentős védelmi előnyt ad.</a:t>
            </a:r>
          </a:p>
          <a:p>
            <a:r>
              <a:rPr lang="hu-HU" dirty="0"/>
              <a:t>A védői hírszerzést tartalmazó R1 és R3 szcenáriókban volt a legstabilabb és leghatékonyabb a védelem.</a:t>
            </a:r>
            <a:br>
              <a:rPr lang="hu-HU" dirty="0"/>
            </a:br>
            <a:r>
              <a:rPr lang="hu-HU" dirty="0"/>
              <a:t>A támadói információelőnyt modellező R2-ben valóban megfigyelhető volt egy rövid távú javulás, de ez instabilnak bizonyult, és a tanulás előrehaladtával visszaesett.</a:t>
            </a:r>
          </a:p>
          <a:p>
            <a:r>
              <a:rPr lang="hu-HU" dirty="0"/>
              <a:t>Összességében ez arra utal, hogy az információ önmagában nem elég: akkor hoz tartós előnyt, ha az ügynök képes folyamatosan alkalmazkodni a változó környezethez.</a:t>
            </a:r>
          </a:p>
          <a:p>
            <a:endParaRPr lang="hu-HU" dirty="0"/>
          </a:p>
        </p:txBody>
      </p:sp>
      <p:sp>
        <p:nvSpPr>
          <p:cNvPr id="4" name="Dia számának helye 3"/>
          <p:cNvSpPr>
            <a:spLocks noGrp="1"/>
          </p:cNvSpPr>
          <p:nvPr>
            <p:ph type="sldNum" sz="quarter" idx="5"/>
          </p:nvPr>
        </p:nvSpPr>
        <p:spPr/>
        <p:txBody>
          <a:bodyPr/>
          <a:lstStyle/>
          <a:p>
            <a:fld id="{016DE1EE-13E1-4098-A3ED-7B2B81B507D1}" type="slidenum">
              <a:rPr lang="hu-HU" smtClean="0"/>
              <a:t>12</a:t>
            </a:fld>
            <a:endParaRPr lang="hu-HU"/>
          </a:p>
        </p:txBody>
      </p:sp>
    </p:spTree>
    <p:extLst>
      <p:ext uri="{BB962C8B-B14F-4D97-AF65-F5344CB8AC3E}">
        <p14:creationId xmlns:p14="http://schemas.microsoft.com/office/powerpoint/2010/main" val="24970495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lstStyle/>
          <a:p>
            <a:r>
              <a:rPr lang="hu-HU" sz="1200" kern="1200" dirty="0">
                <a:solidFill>
                  <a:schemeClr val="tx1"/>
                </a:solidFill>
                <a:latin typeface="+mn-lt"/>
                <a:ea typeface="+mn-ea"/>
                <a:cs typeface="+mn-cs"/>
              </a:rPr>
              <a:t>A második fontos megfigyelés az volt, hogy a tanulási folyamat nem állt be egy fix pontra, vagyis nincs olyan stratégia, amely végleg optimális lenne.</a:t>
            </a:r>
          </a:p>
          <a:p>
            <a:r>
              <a:rPr lang="hu-HU" sz="1200" kern="1200" dirty="0">
                <a:solidFill>
                  <a:schemeClr val="tx1"/>
                </a:solidFill>
                <a:latin typeface="+mn-lt"/>
                <a:ea typeface="+mn-ea"/>
                <a:cs typeface="+mn-cs"/>
              </a:rPr>
              <a:t>Az entrópia-értékek közepes tartományban maradtak, ami azt jelenti, hogy az ügynökök folyamatosan váltogatták a stratégiáikat.</a:t>
            </a:r>
          </a:p>
          <a:p>
            <a:r>
              <a:rPr lang="hu-HU" sz="1200" kern="1200" dirty="0">
                <a:solidFill>
                  <a:schemeClr val="tx1"/>
                </a:solidFill>
                <a:latin typeface="+mn-lt"/>
                <a:ea typeface="+mn-ea"/>
                <a:cs typeface="+mn-cs"/>
              </a:rPr>
              <a:t>Ez a viselkedés egy dinamikus egyensúlyt eredményezett, egyik fél sem tudott tartósan fölénybe kerülni, de mindkettő folyamatosan reagált a másik változásaira.</a:t>
            </a:r>
          </a:p>
          <a:p>
            <a:r>
              <a:rPr lang="hu-HU" sz="1200" kern="1200" dirty="0">
                <a:solidFill>
                  <a:schemeClr val="tx1"/>
                </a:solidFill>
                <a:latin typeface="+mn-lt"/>
                <a:ea typeface="+mn-ea"/>
                <a:cs typeface="+mn-cs"/>
              </a:rPr>
              <a:t>Ez nagyon hasonlít a valós </a:t>
            </a:r>
            <a:r>
              <a:rPr lang="hu-HU" sz="1200" kern="1200" dirty="0" err="1">
                <a:solidFill>
                  <a:schemeClr val="tx1"/>
                </a:solidFill>
                <a:latin typeface="+mn-lt"/>
                <a:ea typeface="+mn-ea"/>
                <a:cs typeface="+mn-cs"/>
              </a:rPr>
              <a:t>kiberbiztonsági</a:t>
            </a:r>
            <a:r>
              <a:rPr lang="hu-HU" sz="1200" kern="1200" dirty="0">
                <a:solidFill>
                  <a:schemeClr val="tx1"/>
                </a:solidFill>
                <a:latin typeface="+mn-lt"/>
                <a:ea typeface="+mn-ea"/>
                <a:cs typeface="+mn-cs"/>
              </a:rPr>
              <a:t> helyzetekre, ahol nincs végleges győzelem vagy stabil egyensúly, csak alkalmazkodás.</a:t>
            </a:r>
          </a:p>
          <a:p>
            <a:r>
              <a:rPr lang="hu-HU" sz="1200" kern="1200" dirty="0">
                <a:solidFill>
                  <a:schemeClr val="tx1"/>
                </a:solidFill>
                <a:latin typeface="+mn-lt"/>
                <a:ea typeface="+mn-ea"/>
                <a:cs typeface="+mn-cs"/>
              </a:rPr>
              <a:t>A modell tehát jól mutatja, hogy a védelemnek </a:t>
            </a:r>
            <a:r>
              <a:rPr lang="hu-HU" dirty="0"/>
              <a:t>is adaptívnak kell maradnia, nem elég egyszer beállítani egy stratégiát.</a:t>
            </a:r>
          </a:p>
          <a:p>
            <a:endParaRPr lang="hu-HU" dirty="0"/>
          </a:p>
        </p:txBody>
      </p:sp>
      <p:sp>
        <p:nvSpPr>
          <p:cNvPr id="4" name="Dia számának helye 3"/>
          <p:cNvSpPr>
            <a:spLocks noGrp="1"/>
          </p:cNvSpPr>
          <p:nvPr>
            <p:ph type="sldNum" sz="quarter" idx="5"/>
          </p:nvPr>
        </p:nvSpPr>
        <p:spPr/>
        <p:txBody>
          <a:bodyPr/>
          <a:lstStyle/>
          <a:p>
            <a:fld id="{016DE1EE-13E1-4098-A3ED-7B2B81B507D1}" type="slidenum">
              <a:rPr lang="hu-HU" smtClean="0"/>
              <a:t>13</a:t>
            </a:fld>
            <a:endParaRPr lang="hu-HU"/>
          </a:p>
        </p:txBody>
      </p:sp>
    </p:spTree>
    <p:extLst>
      <p:ext uri="{BB962C8B-B14F-4D97-AF65-F5344CB8AC3E}">
        <p14:creationId xmlns:p14="http://schemas.microsoft.com/office/powerpoint/2010/main" val="251739051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lstStyle/>
          <a:p>
            <a:r>
              <a:rPr lang="hu-HU" sz="1200" kern="1200" dirty="0">
                <a:solidFill>
                  <a:schemeClr val="tx1"/>
                </a:solidFill>
                <a:latin typeface="+mn-lt"/>
                <a:ea typeface="+mn-ea"/>
                <a:cs typeface="+mn-cs"/>
              </a:rPr>
              <a:t>Az ábra azt mutatja, hogy a tanulás végére mely stratégiák váltak a leggyakoribbá.</a:t>
            </a:r>
            <a:br>
              <a:rPr lang="hu-HU" sz="1200" kern="1200" dirty="0">
                <a:solidFill>
                  <a:schemeClr val="tx1"/>
                </a:solidFill>
                <a:latin typeface="+mn-lt"/>
                <a:ea typeface="+mn-ea"/>
                <a:cs typeface="+mn-cs"/>
              </a:rPr>
            </a:br>
            <a:r>
              <a:rPr lang="hu-HU" sz="1200" kern="1200" dirty="0">
                <a:solidFill>
                  <a:schemeClr val="tx1"/>
                </a:solidFill>
                <a:latin typeface="+mn-lt"/>
                <a:ea typeface="+mn-ea"/>
                <a:cs typeface="+mn-cs"/>
              </a:rPr>
              <a:t>A támadó elsősorban két mintát használ: vagy a három legértékesebb mezőre koncentrál, vagy </a:t>
            </a:r>
            <a:r>
              <a:rPr lang="hu-HU" sz="1200" kern="1200" dirty="0" err="1">
                <a:solidFill>
                  <a:schemeClr val="tx1"/>
                </a:solidFill>
                <a:latin typeface="+mn-lt"/>
                <a:ea typeface="+mn-ea"/>
                <a:cs typeface="+mn-cs"/>
              </a:rPr>
              <a:t>All</a:t>
            </a:r>
            <a:r>
              <a:rPr lang="hu-HU" sz="1200" kern="1200" dirty="0">
                <a:solidFill>
                  <a:schemeClr val="tx1"/>
                </a:solidFill>
                <a:latin typeface="+mn-lt"/>
                <a:ea typeface="+mn-ea"/>
                <a:cs typeface="+mn-cs"/>
              </a:rPr>
              <a:t>-in módon mindent egyetlen célpontra tesz fel. Ez jól tükrözi a valós támadói logikát: kevés, de nagy értékű célpontot érdemes üldözni.</a:t>
            </a:r>
          </a:p>
          <a:p>
            <a:r>
              <a:rPr lang="hu-HU" sz="1200" kern="1200" dirty="0">
                <a:solidFill>
                  <a:schemeClr val="tx1"/>
                </a:solidFill>
                <a:latin typeface="+mn-lt"/>
                <a:ea typeface="+mn-ea"/>
                <a:cs typeface="+mn-cs"/>
              </a:rPr>
              <a:t>A védő ezzel szemben kiegyensúlyozottabb.</a:t>
            </a:r>
            <a:br>
              <a:rPr lang="hu-HU" sz="1200" kern="1200" dirty="0">
                <a:solidFill>
                  <a:schemeClr val="tx1"/>
                </a:solidFill>
                <a:latin typeface="+mn-lt"/>
                <a:ea typeface="+mn-ea"/>
                <a:cs typeface="+mn-cs"/>
              </a:rPr>
            </a:br>
            <a:r>
              <a:rPr lang="hu-HU" sz="1200" kern="1200" dirty="0">
                <a:solidFill>
                  <a:schemeClr val="tx1"/>
                </a:solidFill>
                <a:latin typeface="+mn-lt"/>
                <a:ea typeface="+mn-ea"/>
                <a:cs typeface="+mn-cs"/>
              </a:rPr>
              <a:t>Leggyakrabban a prediktív stratégiát alkalmazza, amely a korábbi támadásokból próbál következtetni a következő célpontra,</a:t>
            </a:r>
            <a:br>
              <a:rPr lang="hu-HU" sz="1200" kern="1200" dirty="0">
                <a:solidFill>
                  <a:schemeClr val="tx1"/>
                </a:solidFill>
                <a:latin typeface="+mn-lt"/>
                <a:ea typeface="+mn-ea"/>
                <a:cs typeface="+mn-cs"/>
              </a:rPr>
            </a:br>
            <a:r>
              <a:rPr lang="hu-HU" sz="1200" kern="1200" dirty="0">
                <a:solidFill>
                  <a:schemeClr val="tx1"/>
                </a:solidFill>
                <a:latin typeface="+mn-lt"/>
                <a:ea typeface="+mn-ea"/>
                <a:cs typeface="+mn-cs"/>
              </a:rPr>
              <a:t>emellett gyakran használja az érték-arányos elosztást, amely a mezők kockázatához igazítja az erőforrásokat.</a:t>
            </a:r>
            <a:br>
              <a:rPr lang="hu-HU" sz="1200" kern="1200" dirty="0">
                <a:solidFill>
                  <a:schemeClr val="tx1"/>
                </a:solidFill>
                <a:latin typeface="+mn-lt"/>
                <a:ea typeface="+mn-ea"/>
                <a:cs typeface="+mn-cs"/>
              </a:rPr>
            </a:br>
            <a:r>
              <a:rPr lang="hu-HU" sz="1200" kern="1200" dirty="0">
                <a:solidFill>
                  <a:schemeClr val="tx1"/>
                </a:solidFill>
                <a:latin typeface="+mn-lt"/>
                <a:ea typeface="+mn-ea"/>
                <a:cs typeface="+mn-cs"/>
              </a:rPr>
              <a:t>Az </a:t>
            </a:r>
            <a:r>
              <a:rPr lang="hu-HU" sz="1200" kern="1200" dirty="0" err="1">
                <a:solidFill>
                  <a:schemeClr val="tx1"/>
                </a:solidFill>
                <a:latin typeface="+mn-lt"/>
                <a:ea typeface="+mn-ea"/>
                <a:cs typeface="+mn-cs"/>
              </a:rPr>
              <a:t>All</a:t>
            </a:r>
            <a:r>
              <a:rPr lang="hu-HU" sz="1200" kern="1200" dirty="0">
                <a:solidFill>
                  <a:schemeClr val="tx1"/>
                </a:solidFill>
                <a:latin typeface="+mn-lt"/>
                <a:ea typeface="+mn-ea"/>
                <a:cs typeface="+mn-cs"/>
              </a:rPr>
              <a:t>-in védekezés ritka, és csak akkor jelenik meg, amikor egy mező kiemelkedően nagy kockázatot jelent.</a:t>
            </a:r>
          </a:p>
          <a:p>
            <a:r>
              <a:rPr lang="hu-HU" sz="1200" kern="1200" dirty="0">
                <a:solidFill>
                  <a:schemeClr val="tx1"/>
                </a:solidFill>
                <a:latin typeface="+mn-lt"/>
                <a:ea typeface="+mn-ea"/>
                <a:cs typeface="+mn-cs"/>
              </a:rPr>
              <a:t>Összességében a támadó a koncentrált, gyors nyereséget célzó minták felé mozdul, míg a védő a stabilabb, </a:t>
            </a:r>
            <a:r>
              <a:rPr lang="hu-HU" sz="1200" kern="1200" dirty="0" err="1">
                <a:solidFill>
                  <a:schemeClr val="tx1"/>
                </a:solidFill>
                <a:latin typeface="+mn-lt"/>
                <a:ea typeface="+mn-ea"/>
                <a:cs typeface="+mn-cs"/>
              </a:rPr>
              <a:t>adatvezérelt</a:t>
            </a:r>
            <a:r>
              <a:rPr lang="hu-HU" sz="1200" kern="1200" dirty="0">
                <a:solidFill>
                  <a:schemeClr val="tx1"/>
                </a:solidFill>
                <a:latin typeface="+mn-lt"/>
                <a:ea typeface="+mn-ea"/>
                <a:cs typeface="+mn-cs"/>
              </a:rPr>
              <a:t> és előrelátó elosztásokat részesíti előnyben.</a:t>
            </a:r>
          </a:p>
        </p:txBody>
      </p:sp>
      <p:sp>
        <p:nvSpPr>
          <p:cNvPr id="4" name="Dia számának helye 3"/>
          <p:cNvSpPr>
            <a:spLocks noGrp="1"/>
          </p:cNvSpPr>
          <p:nvPr>
            <p:ph type="sldNum" sz="quarter" idx="5"/>
          </p:nvPr>
        </p:nvSpPr>
        <p:spPr/>
        <p:txBody>
          <a:bodyPr/>
          <a:lstStyle/>
          <a:p>
            <a:fld id="{016DE1EE-13E1-4098-A3ED-7B2B81B507D1}" type="slidenum">
              <a:rPr lang="hu-HU" smtClean="0"/>
              <a:t>14</a:t>
            </a:fld>
            <a:endParaRPr lang="hu-HU"/>
          </a:p>
        </p:txBody>
      </p:sp>
    </p:spTree>
    <p:extLst>
      <p:ext uri="{BB962C8B-B14F-4D97-AF65-F5344CB8AC3E}">
        <p14:creationId xmlns:p14="http://schemas.microsoft.com/office/powerpoint/2010/main" val="378364240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lstStyle/>
          <a:p>
            <a:r>
              <a:rPr lang="hu-HU" dirty="0"/>
              <a:t>A kísérletek azt mutatják, hogy az információ önmagában nem ad valódi előnyt, csak akkor, ha a stratégia és a tanulási folyamat ténylegesen képes kiaknázni.</a:t>
            </a:r>
            <a:br>
              <a:rPr lang="hu-HU" dirty="0"/>
            </a:br>
            <a:r>
              <a:rPr lang="hu-HU" dirty="0"/>
              <a:t>A védői hírszerzés tartós és stabil előnyt adott, míg a támadói információ csak átmenetileg működött, mert a védő adaptív tanulása idővel kiegyenlítette.</a:t>
            </a:r>
            <a:br>
              <a:rPr lang="hu-HU" dirty="0"/>
            </a:br>
            <a:r>
              <a:rPr lang="hu-HU" dirty="0"/>
              <a:t>A rendszer nem tart semmilyen statikus egyensúly felé, hanem folyamatos alkalmazkodás jellemzi mindkét oldalt. Ez jól tükrözi a valós környezetet is: a védelem akkor hatékony, ha naprakész és reagál az új kockázatokra, nem pedig fix szabályokra épül.</a:t>
            </a:r>
            <a:br>
              <a:rPr lang="hu-HU" dirty="0"/>
            </a:br>
            <a:r>
              <a:rPr lang="hu-HU" dirty="0"/>
              <a:t>A lényeg tehát az, hogy a gyors információfelhasználás és a folyamatos újratanulás adja a védelem valódi erejét.</a:t>
            </a:r>
            <a:endParaRPr lang="hu-HU" sz="1200" kern="1200" dirty="0">
              <a:solidFill>
                <a:schemeClr val="tx1"/>
              </a:solidFill>
              <a:latin typeface="+mn-lt"/>
              <a:ea typeface="+mn-ea"/>
              <a:cs typeface="+mn-cs"/>
            </a:endParaRPr>
          </a:p>
        </p:txBody>
      </p:sp>
      <p:sp>
        <p:nvSpPr>
          <p:cNvPr id="4" name="Dia számának helye 3"/>
          <p:cNvSpPr>
            <a:spLocks noGrp="1"/>
          </p:cNvSpPr>
          <p:nvPr>
            <p:ph type="sldNum" sz="quarter" idx="5"/>
          </p:nvPr>
        </p:nvSpPr>
        <p:spPr/>
        <p:txBody>
          <a:bodyPr/>
          <a:lstStyle/>
          <a:p>
            <a:fld id="{016DE1EE-13E1-4098-A3ED-7B2B81B507D1}" type="slidenum">
              <a:rPr lang="hu-HU" smtClean="0"/>
              <a:t>15</a:t>
            </a:fld>
            <a:endParaRPr lang="hu-HU"/>
          </a:p>
        </p:txBody>
      </p:sp>
    </p:spTree>
    <p:extLst>
      <p:ext uri="{BB962C8B-B14F-4D97-AF65-F5344CB8AC3E}">
        <p14:creationId xmlns:p14="http://schemas.microsoft.com/office/powerpoint/2010/main" val="264562221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lstStyle/>
          <a:p>
            <a:r>
              <a:rPr lang="hu-HU" dirty="0"/>
              <a:t>A további kutatások több irányba is kiterjeszthetők.</a:t>
            </a:r>
            <a:br>
              <a:rPr lang="hu-HU" dirty="0"/>
            </a:br>
            <a:r>
              <a:rPr lang="hu-HU" dirty="0"/>
              <a:t>Egyrészt érdemes lenne mély megerősítéses tanulást alkalmazni, hogy a modell összetettebb döntési mintákat is fel tudjon ismerni.</a:t>
            </a:r>
            <a:br>
              <a:rPr lang="hu-HU" dirty="0"/>
            </a:br>
            <a:r>
              <a:rPr lang="hu-HU" dirty="0"/>
              <a:t>A jelenlegi modellben a csatamezők függetlenek, de a valóságban sokszor közös komponenseken keresztül </a:t>
            </a:r>
            <a:r>
              <a:rPr lang="hu-HU" dirty="0" err="1"/>
              <a:t>összefüggnek</a:t>
            </a:r>
            <a:r>
              <a:rPr lang="hu-HU" dirty="0"/>
              <a:t> — ezt gráfalapú kockázati kapcsolatokkal lehetne kezelni.</a:t>
            </a:r>
            <a:br>
              <a:rPr lang="hu-HU" dirty="0"/>
            </a:br>
            <a:r>
              <a:rPr lang="hu-HU" dirty="0"/>
              <a:t>Emellett a kétfázisú támadások modellezése is érdekes: külön felderítés és külön kihasználás.</a:t>
            </a:r>
            <a:br>
              <a:rPr lang="hu-HU" dirty="0"/>
            </a:br>
            <a:r>
              <a:rPr lang="hu-HU" dirty="0"/>
              <a:t>A valós idejű adatfrissítést érdemes diverzifikált adatforrásokkal megvalósítani, nem csak CVSS–EPSS adatokkal.</a:t>
            </a:r>
            <a:br>
              <a:rPr lang="hu-HU" dirty="0"/>
            </a:br>
            <a:r>
              <a:rPr lang="hu-HU" dirty="0"/>
              <a:t>Végül a jelenlegi erőforrás-arányok csak egy tipikus esetet fednek le, a jövőben nagyobb </a:t>
            </a:r>
            <a:r>
              <a:rPr lang="hu-HU" dirty="0" err="1"/>
              <a:t>asszimetria</a:t>
            </a:r>
            <a:r>
              <a:rPr lang="hu-HU" dirty="0"/>
              <a:t> is vizsgálható lenne támadó és védő között.</a:t>
            </a:r>
          </a:p>
        </p:txBody>
      </p:sp>
      <p:sp>
        <p:nvSpPr>
          <p:cNvPr id="4" name="Dia számának helye 3"/>
          <p:cNvSpPr>
            <a:spLocks noGrp="1"/>
          </p:cNvSpPr>
          <p:nvPr>
            <p:ph type="sldNum" sz="quarter" idx="5"/>
          </p:nvPr>
        </p:nvSpPr>
        <p:spPr/>
        <p:txBody>
          <a:bodyPr/>
          <a:lstStyle/>
          <a:p>
            <a:fld id="{016DE1EE-13E1-4098-A3ED-7B2B81B507D1}" type="slidenum">
              <a:rPr lang="hu-HU" smtClean="0"/>
              <a:t>16</a:t>
            </a:fld>
            <a:endParaRPr lang="hu-HU"/>
          </a:p>
        </p:txBody>
      </p:sp>
    </p:spTree>
    <p:extLst>
      <p:ext uri="{BB962C8B-B14F-4D97-AF65-F5344CB8AC3E}">
        <p14:creationId xmlns:p14="http://schemas.microsoft.com/office/powerpoint/2010/main" val="36202246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hu-HU" dirty="0"/>
              <a:t>A dezinformációt úgy lehetne beépíteni a modellbe, hogy az ügynökök nem a valós kockázati értékeket látják, hanem torzított, zajos vagy késleltetett adatot.</a:t>
            </a:r>
            <a:br>
              <a:rPr lang="hu-HU" dirty="0"/>
            </a:br>
            <a:r>
              <a:rPr lang="hu-HU" dirty="0"/>
              <a:t>Ez azt jelenti, hogy például hibás EPSS-értékeket kapnak, vagy olyan információt, ami már nem aktuális.</a:t>
            </a:r>
            <a:br>
              <a:rPr lang="hu-HU" dirty="0"/>
            </a:br>
            <a:r>
              <a:rPr lang="hu-HU" dirty="0"/>
              <a:t>A másik lehetőség, hogy szándékosan rossz ellenfél-stratégia megfigyelést adunk nekik.</a:t>
            </a:r>
            <a:br>
              <a:rPr lang="hu-HU" dirty="0"/>
            </a:br>
            <a:r>
              <a:rPr lang="hu-HU" dirty="0"/>
              <a:t>Ezek mind azt eredményeznék, hogy romlik a tanulás minősége, és sokkal lassabban, kevésbé hatékonyan alkalmazkodnak.</a:t>
            </a:r>
          </a:p>
        </p:txBody>
      </p:sp>
      <p:sp>
        <p:nvSpPr>
          <p:cNvPr id="4" name="Dia számának helye 3"/>
          <p:cNvSpPr>
            <a:spLocks noGrp="1"/>
          </p:cNvSpPr>
          <p:nvPr>
            <p:ph type="sldNum" sz="quarter" idx="5"/>
          </p:nvPr>
        </p:nvSpPr>
        <p:spPr/>
        <p:txBody>
          <a:bodyPr/>
          <a:lstStyle/>
          <a:p>
            <a:fld id="{016DE1EE-13E1-4098-A3ED-7B2B81B507D1}" type="slidenum">
              <a:rPr lang="hu-HU" smtClean="0"/>
              <a:t>17</a:t>
            </a:fld>
            <a:endParaRPr lang="hu-HU"/>
          </a:p>
        </p:txBody>
      </p:sp>
    </p:spTree>
    <p:extLst>
      <p:ext uri="{BB962C8B-B14F-4D97-AF65-F5344CB8AC3E}">
        <p14:creationId xmlns:p14="http://schemas.microsoft.com/office/powerpoint/2010/main" val="97193477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lstStyle/>
          <a:p>
            <a:r>
              <a:rPr lang="hu-HU" dirty="0"/>
              <a:t>Ha pontosan tudjuk, hogy melyik szoftver milyen gyártói könyvtárakat használ, akkor a gyártók már nem elszigetelt csatamezők lennének, hanem egy függőségi gráf csomópontjai.</a:t>
            </a:r>
            <a:br>
              <a:rPr lang="hu-HU" dirty="0"/>
            </a:br>
            <a:r>
              <a:rPr lang="hu-HU" dirty="0"/>
              <a:t>Így a </a:t>
            </a:r>
            <a:r>
              <a:rPr lang="hu-HU" dirty="0" err="1"/>
              <a:t>Blotto</a:t>
            </a:r>
            <a:r>
              <a:rPr lang="hu-HU" dirty="0"/>
              <a:t>-modellt ki lehetne terjeszteni egy gráfra, ahol a csatamező értéke nemcsak a saját sérülékenységi értékeitől függ, hanem a függő komponensek kockázatától is.</a:t>
            </a:r>
            <a:br>
              <a:rPr lang="hu-HU" dirty="0"/>
            </a:br>
            <a:r>
              <a:rPr lang="hu-HU" dirty="0"/>
              <a:t>A támadó és a védő ebben az esetben a gráf csomópontjaira osztja el az erőforrásokat.</a:t>
            </a:r>
            <a:br>
              <a:rPr lang="hu-HU" dirty="0"/>
            </a:br>
            <a:r>
              <a:rPr lang="hu-HU" dirty="0"/>
              <a:t>Ez sokkal valóságosabb képet adna a modern, összefüggő szoftver-ökoszisztémákról.</a:t>
            </a:r>
          </a:p>
        </p:txBody>
      </p:sp>
      <p:sp>
        <p:nvSpPr>
          <p:cNvPr id="4" name="Dia számának helye 3"/>
          <p:cNvSpPr>
            <a:spLocks noGrp="1"/>
          </p:cNvSpPr>
          <p:nvPr>
            <p:ph type="sldNum" sz="quarter" idx="5"/>
          </p:nvPr>
        </p:nvSpPr>
        <p:spPr/>
        <p:txBody>
          <a:bodyPr/>
          <a:lstStyle/>
          <a:p>
            <a:fld id="{016DE1EE-13E1-4098-A3ED-7B2B81B507D1}" type="slidenum">
              <a:rPr lang="hu-HU" smtClean="0"/>
              <a:t>18</a:t>
            </a:fld>
            <a:endParaRPr lang="hu-HU"/>
          </a:p>
        </p:txBody>
      </p:sp>
    </p:spTree>
    <p:extLst>
      <p:ext uri="{BB962C8B-B14F-4D97-AF65-F5344CB8AC3E}">
        <p14:creationId xmlns:p14="http://schemas.microsoft.com/office/powerpoint/2010/main" val="224251151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lstStyle/>
          <a:p>
            <a:r>
              <a:rPr lang="hu-HU" dirty="0"/>
              <a:t>A bemutatott modell könnyen skálázható, viszont a Q-</a:t>
            </a:r>
            <a:r>
              <a:rPr lang="hu-HU" dirty="0" err="1"/>
              <a:t>learning</a:t>
            </a:r>
            <a:r>
              <a:rPr lang="hu-HU" dirty="0"/>
              <a:t> maga nem.</a:t>
            </a:r>
            <a:br>
              <a:rPr lang="hu-HU" dirty="0"/>
            </a:br>
            <a:r>
              <a:rPr lang="hu-HU" dirty="0" err="1"/>
              <a:t>Tabuláris</a:t>
            </a:r>
            <a:r>
              <a:rPr lang="hu-HU" dirty="0"/>
              <a:t> formában több száz csatatérnél a stratégia- és állapottér túl nagyra nő.</a:t>
            </a:r>
            <a:br>
              <a:rPr lang="hu-HU" dirty="0"/>
            </a:br>
            <a:r>
              <a:rPr lang="hu-HU" dirty="0"/>
              <a:t>Ilyenkor Deep RL-t kell használni, illetve lehet csoportosítani a gyártókat kockázati kategóriákba.</a:t>
            </a:r>
            <a:br>
              <a:rPr lang="hu-HU" dirty="0"/>
            </a:br>
            <a:r>
              <a:rPr lang="hu-HU" dirty="0"/>
              <a:t>Nagy méretű rendszereknél pedig a gráf-alapú RL a legjobb megközelítés.</a:t>
            </a:r>
            <a:br>
              <a:rPr lang="hu-HU" dirty="0"/>
            </a:br>
            <a:r>
              <a:rPr lang="hu-HU" dirty="0"/>
              <a:t>A lényeg az, hogy a keretrendszer skálázható, csak a tanuló algoritmust kell fejleszteni.</a:t>
            </a:r>
          </a:p>
        </p:txBody>
      </p:sp>
      <p:sp>
        <p:nvSpPr>
          <p:cNvPr id="4" name="Dia számának helye 3"/>
          <p:cNvSpPr>
            <a:spLocks noGrp="1"/>
          </p:cNvSpPr>
          <p:nvPr>
            <p:ph type="sldNum" sz="quarter" idx="5"/>
          </p:nvPr>
        </p:nvSpPr>
        <p:spPr/>
        <p:txBody>
          <a:bodyPr/>
          <a:lstStyle/>
          <a:p>
            <a:fld id="{016DE1EE-13E1-4098-A3ED-7B2B81B507D1}" type="slidenum">
              <a:rPr lang="hu-HU" smtClean="0"/>
              <a:t>19</a:t>
            </a:fld>
            <a:endParaRPr lang="hu-HU"/>
          </a:p>
        </p:txBody>
      </p:sp>
    </p:spTree>
    <p:extLst>
      <p:ext uri="{BB962C8B-B14F-4D97-AF65-F5344CB8AC3E}">
        <p14:creationId xmlns:p14="http://schemas.microsoft.com/office/powerpoint/2010/main" val="36607599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lstStyle/>
          <a:p>
            <a:r>
              <a:rPr lang="hu-HU" dirty="0"/>
              <a:t>Köszönöm szépen a figyelmet!</a:t>
            </a:r>
          </a:p>
        </p:txBody>
      </p:sp>
      <p:sp>
        <p:nvSpPr>
          <p:cNvPr id="4" name="Dia számának helye 3"/>
          <p:cNvSpPr>
            <a:spLocks noGrp="1"/>
          </p:cNvSpPr>
          <p:nvPr>
            <p:ph type="sldNum" sz="quarter" idx="5"/>
          </p:nvPr>
        </p:nvSpPr>
        <p:spPr/>
        <p:txBody>
          <a:bodyPr/>
          <a:lstStyle/>
          <a:p>
            <a:fld id="{016DE1EE-13E1-4098-A3ED-7B2B81B507D1}" type="slidenum">
              <a:rPr lang="hu-HU" smtClean="0"/>
              <a:t>20</a:t>
            </a:fld>
            <a:endParaRPr lang="hu-HU"/>
          </a:p>
        </p:txBody>
      </p:sp>
    </p:spTree>
    <p:extLst>
      <p:ext uri="{BB962C8B-B14F-4D97-AF65-F5344CB8AC3E}">
        <p14:creationId xmlns:p14="http://schemas.microsoft.com/office/powerpoint/2010/main" val="356434836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859524"/>
            <a:ext cx="7772400" cy="1123950"/>
          </a:xfrm>
        </p:spPr>
        <p:txBody>
          <a:bodyPr/>
          <a:lstStyle>
            <a:lvl1pPr>
              <a:defRPr b="1">
                <a:solidFill>
                  <a:schemeClr val="tx1"/>
                </a:solidFill>
                <a:effectLst>
                  <a:outerShdw blurRad="38100" dist="38100" dir="2700000" algn="tl">
                    <a:srgbClr val="000000">
                      <a:alpha val="43137"/>
                    </a:srgbClr>
                  </a:outerShdw>
                </a:effectLst>
              </a:defRPr>
            </a:lvl1pPr>
          </a:lstStyle>
          <a:p>
            <a:r>
              <a:rPr lang="en-US" dirty="0"/>
              <a:t>Click to edit Master title style</a:t>
            </a:r>
            <a:endParaRPr lang="hu-HU" dirty="0"/>
          </a:p>
        </p:txBody>
      </p:sp>
      <p:sp>
        <p:nvSpPr>
          <p:cNvPr id="3" name="Subtitle 2"/>
          <p:cNvSpPr>
            <a:spLocks noGrp="1"/>
          </p:cNvSpPr>
          <p:nvPr>
            <p:ph type="subTitle" idx="1"/>
          </p:nvPr>
        </p:nvSpPr>
        <p:spPr>
          <a:xfrm>
            <a:off x="1371600" y="4268150"/>
            <a:ext cx="6400800" cy="1588573"/>
          </a:xfrm>
        </p:spPr>
        <p:txBody>
          <a:bodyPr>
            <a:normAutofit/>
          </a:bodyPr>
          <a:lstStyle>
            <a:lvl1pPr marL="0" indent="0" algn="ctr">
              <a:buNone/>
              <a:defRPr sz="24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endParaRPr lang="hu-HU" dirty="0"/>
          </a:p>
        </p:txBody>
      </p:sp>
    </p:spTree>
    <p:extLst>
      <p:ext uri="{BB962C8B-B14F-4D97-AF65-F5344CB8AC3E}">
        <p14:creationId xmlns:p14="http://schemas.microsoft.com/office/powerpoint/2010/main" val="15886525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40462" y="116632"/>
            <a:ext cx="7139850" cy="634082"/>
          </a:xfrm>
        </p:spPr>
        <p:txBody>
          <a:bodyPr>
            <a:normAutofit/>
          </a:bodyPr>
          <a:lstStyle>
            <a:lvl1pPr algn="l">
              <a:defRPr sz="3200" b="1">
                <a:solidFill>
                  <a:schemeClr val="tx1"/>
                </a:solidFill>
                <a:effectLst>
                  <a:outerShdw blurRad="38100" dist="38100" dir="2700000" algn="tl">
                    <a:srgbClr val="000000">
                      <a:alpha val="43137"/>
                    </a:srgbClr>
                  </a:outerShdw>
                </a:effectLst>
              </a:defRPr>
            </a:lvl1pPr>
          </a:lstStyle>
          <a:p>
            <a:r>
              <a:rPr lang="en-US" dirty="0"/>
              <a:t>Click to edit Master title style</a:t>
            </a:r>
            <a:endParaRPr lang="hu-HU" dirty="0"/>
          </a:p>
        </p:txBody>
      </p:sp>
      <p:sp>
        <p:nvSpPr>
          <p:cNvPr id="3" name="Content Placeholder 2"/>
          <p:cNvSpPr>
            <a:spLocks noGrp="1"/>
          </p:cNvSpPr>
          <p:nvPr>
            <p:ph idx="1"/>
          </p:nvPr>
        </p:nvSpPr>
        <p:spPr>
          <a:xfrm>
            <a:off x="251520" y="1052736"/>
            <a:ext cx="8435280" cy="5259164"/>
          </a:xfrm>
        </p:spPr>
        <p:txBody>
          <a:bodyPr>
            <a:normAutofit/>
          </a:bodyPr>
          <a:lstStyle>
            <a:lvl1pPr marL="342900" indent="-342900">
              <a:buFont typeface="Wingdings" panose="05000000000000000000" pitchFamily="2" charset="2"/>
              <a:buChar char="§"/>
              <a:defRPr sz="2400"/>
            </a:lvl1pPr>
            <a:lvl2pPr>
              <a:defRPr sz="2000"/>
            </a:lvl2pPr>
            <a:lvl3pPr marL="1143000" indent="-228600">
              <a:buFont typeface="Arial" panose="020B0604020202020204" pitchFamily="34" charset="0"/>
              <a:buChar char="»"/>
              <a:defRPr sz="1800"/>
            </a:lvl3pPr>
            <a:lvl4pPr>
              <a:defRPr sz="1600"/>
            </a:lvl4pPr>
            <a:lvl5pPr>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hu-HU" dirty="0"/>
          </a:p>
        </p:txBody>
      </p:sp>
      <p:sp>
        <p:nvSpPr>
          <p:cNvPr id="5" name="Footer Placeholder 4"/>
          <p:cNvSpPr>
            <a:spLocks noGrp="1"/>
          </p:cNvSpPr>
          <p:nvPr>
            <p:ph type="ftr" sz="quarter" idx="11"/>
          </p:nvPr>
        </p:nvSpPr>
        <p:spPr>
          <a:xfrm>
            <a:off x="4454261" y="6501248"/>
            <a:ext cx="4186954" cy="293117"/>
          </a:xfrm>
        </p:spPr>
        <p:txBody>
          <a:bodyPr/>
          <a:lstStyle>
            <a:lvl1pPr algn="r">
              <a:defRPr sz="1200" b="1">
                <a:solidFill>
                  <a:schemeClr val="tx1"/>
                </a:solidFill>
              </a:defRPr>
            </a:lvl1pPr>
          </a:lstStyle>
          <a:p>
            <a:r>
              <a:rPr lang="hu-HU"/>
              <a:t>Title of the presentation</a:t>
            </a:r>
            <a:endParaRPr lang="hu-HU" dirty="0"/>
          </a:p>
        </p:txBody>
      </p:sp>
      <p:sp>
        <p:nvSpPr>
          <p:cNvPr id="6" name="Slide Number Placeholder 5"/>
          <p:cNvSpPr>
            <a:spLocks noGrp="1"/>
          </p:cNvSpPr>
          <p:nvPr>
            <p:ph type="sldNum" sz="quarter" idx="12"/>
          </p:nvPr>
        </p:nvSpPr>
        <p:spPr>
          <a:xfrm>
            <a:off x="8715349" y="6501248"/>
            <a:ext cx="428652" cy="293117"/>
          </a:xfrm>
        </p:spPr>
        <p:txBody>
          <a:bodyPr/>
          <a:lstStyle>
            <a:lvl1pPr algn="l">
              <a:defRPr sz="1200" b="1">
                <a:solidFill>
                  <a:schemeClr val="tx1"/>
                </a:solidFill>
              </a:defRPr>
            </a:lvl1pPr>
          </a:lstStyle>
          <a:p>
            <a:fld id="{4F532308-F742-4E8E-A0E9-3E442CCFFF54}" type="slidenum">
              <a:rPr lang="hu-HU" smtClean="0"/>
              <a:pPr/>
              <a:t>‹#›</a:t>
            </a:fld>
            <a:endParaRPr lang="hu-HU" dirty="0"/>
          </a:p>
        </p:txBody>
      </p:sp>
      <p:sp>
        <p:nvSpPr>
          <p:cNvPr id="14" name="TextBox 13"/>
          <p:cNvSpPr txBox="1"/>
          <p:nvPr userDrawn="1"/>
        </p:nvSpPr>
        <p:spPr>
          <a:xfrm>
            <a:off x="8544247" y="6505467"/>
            <a:ext cx="258404" cy="276999"/>
          </a:xfrm>
          <a:prstGeom prst="rect">
            <a:avLst/>
          </a:prstGeom>
          <a:noFill/>
        </p:spPr>
        <p:txBody>
          <a:bodyPr wrap="none" rtlCol="0">
            <a:spAutoFit/>
          </a:bodyPr>
          <a:lstStyle/>
          <a:p>
            <a:r>
              <a:rPr lang="hu-HU" sz="1200" b="1" dirty="0">
                <a:solidFill>
                  <a:schemeClr val="tx1"/>
                </a:solidFill>
              </a:rPr>
              <a:t>|</a:t>
            </a:r>
          </a:p>
        </p:txBody>
      </p:sp>
      <p:cxnSp>
        <p:nvCxnSpPr>
          <p:cNvPr id="9" name="Straight Connector 8"/>
          <p:cNvCxnSpPr/>
          <p:nvPr userDrawn="1"/>
        </p:nvCxnSpPr>
        <p:spPr>
          <a:xfrm>
            <a:off x="0" y="794885"/>
            <a:ext cx="7524328" cy="0"/>
          </a:xfrm>
          <a:prstGeom prst="line">
            <a:avLst/>
          </a:prstGeom>
          <a:ln w="5715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userDrawn="1"/>
        </p:nvCxnSpPr>
        <p:spPr>
          <a:xfrm>
            <a:off x="4211960" y="6453369"/>
            <a:ext cx="4932040" cy="0"/>
          </a:xfrm>
          <a:prstGeom prst="line">
            <a:avLst/>
          </a:prstGeom>
          <a:ln w="5715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737852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4" name="Rectangle 3"/>
          <p:cNvSpPr/>
          <p:nvPr userDrawn="1"/>
        </p:nvSpPr>
        <p:spPr>
          <a:xfrm>
            <a:off x="0" y="4432300"/>
            <a:ext cx="9144000" cy="45719"/>
          </a:xfrm>
          <a:prstGeom prst="rect">
            <a:avLst/>
          </a:prstGeom>
          <a:solidFill>
            <a:schemeClr val="accent6">
              <a:lumMod val="75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u-HU" b="0" dirty="0">
              <a:latin typeface="+mj-lt"/>
            </a:endParaRPr>
          </a:p>
        </p:txBody>
      </p:sp>
      <p:sp>
        <p:nvSpPr>
          <p:cNvPr id="2" name="Title 1"/>
          <p:cNvSpPr>
            <a:spLocks noGrp="1"/>
          </p:cNvSpPr>
          <p:nvPr>
            <p:ph type="title"/>
          </p:nvPr>
        </p:nvSpPr>
        <p:spPr>
          <a:xfrm>
            <a:off x="722313" y="5003800"/>
            <a:ext cx="7772400" cy="765175"/>
          </a:xfrm>
        </p:spPr>
        <p:txBody>
          <a:bodyPr anchor="t"/>
          <a:lstStyle>
            <a:lvl1pPr algn="ctr">
              <a:defRPr sz="4000" b="1" cap="all">
                <a:solidFill>
                  <a:schemeClr val="tx1"/>
                </a:solidFill>
                <a:effectLst>
                  <a:outerShdw blurRad="38100" dist="38100" dir="2700000" algn="tl">
                    <a:srgbClr val="000000">
                      <a:alpha val="43137"/>
                    </a:srgbClr>
                  </a:outerShdw>
                </a:effectLst>
              </a:defRPr>
            </a:lvl1pPr>
          </a:lstStyle>
          <a:p>
            <a:r>
              <a:rPr lang="en-US" dirty="0"/>
              <a:t>Click to edit Master </a:t>
            </a:r>
            <a:r>
              <a:rPr lang="en-US"/>
              <a:t>title style</a:t>
            </a:r>
            <a:endParaRPr lang="hu-HU" dirty="0"/>
          </a:p>
        </p:txBody>
      </p:sp>
      <p:sp>
        <p:nvSpPr>
          <p:cNvPr id="3" name="Text Placeholder 2"/>
          <p:cNvSpPr>
            <a:spLocks noGrp="1"/>
          </p:cNvSpPr>
          <p:nvPr>
            <p:ph type="body" idx="1"/>
          </p:nvPr>
        </p:nvSpPr>
        <p:spPr>
          <a:xfrm>
            <a:off x="722313" y="2906713"/>
            <a:ext cx="7772400" cy="1500187"/>
          </a:xfrm>
        </p:spPr>
        <p:txBody>
          <a:bodyPr anchor="b"/>
          <a:lstStyle>
            <a:lvl1pPr marL="0" indent="0" algn="ctr">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Tree>
    <p:extLst>
      <p:ext uri="{BB962C8B-B14F-4D97-AF65-F5344CB8AC3E}">
        <p14:creationId xmlns:p14="http://schemas.microsoft.com/office/powerpoint/2010/main" val="22684152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57200" y="1079500"/>
            <a:ext cx="4038600" cy="5219700"/>
          </a:xfrm>
        </p:spPr>
        <p:txBody>
          <a:bodyPr>
            <a:normAutofit/>
          </a:bodyPr>
          <a:lstStyle>
            <a:lvl1pPr marL="342900" indent="-342900">
              <a:buFont typeface="Wingdings" panose="05000000000000000000" pitchFamily="2" charset="2"/>
              <a:buChar char="§"/>
              <a:defRPr sz="2400"/>
            </a:lvl1pPr>
            <a:lvl2pPr>
              <a:defRPr sz="2000"/>
            </a:lvl2pPr>
            <a:lvl3pPr marL="1143000" indent="-228600">
              <a:buFont typeface="Arial" panose="020B0604020202020204" pitchFamily="34" charset="0"/>
              <a:buChar char="»"/>
              <a:defRPr sz="1800"/>
            </a:lvl3pPr>
            <a:lvl4pPr>
              <a:defRPr sz="1600"/>
            </a:lvl4pPr>
            <a:lvl5pPr>
              <a:defRPr sz="16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hu-HU" dirty="0"/>
          </a:p>
        </p:txBody>
      </p:sp>
      <p:sp>
        <p:nvSpPr>
          <p:cNvPr id="4" name="Content Placeholder 3"/>
          <p:cNvSpPr>
            <a:spLocks noGrp="1"/>
          </p:cNvSpPr>
          <p:nvPr>
            <p:ph sz="half" idx="2"/>
          </p:nvPr>
        </p:nvSpPr>
        <p:spPr>
          <a:xfrm>
            <a:off x="4648200" y="1079500"/>
            <a:ext cx="4038600" cy="5219700"/>
          </a:xfrm>
        </p:spPr>
        <p:txBody>
          <a:bodyPr>
            <a:normAutofit/>
          </a:bodyPr>
          <a:lstStyle>
            <a:lvl1pPr marL="342900" indent="-342900">
              <a:buFont typeface="Wingdings" panose="05000000000000000000" pitchFamily="2" charset="2"/>
              <a:buChar char="§"/>
              <a:defRPr sz="2400"/>
            </a:lvl1pPr>
            <a:lvl2pPr>
              <a:defRPr sz="2000"/>
            </a:lvl2pPr>
            <a:lvl3pPr marL="1143000" indent="-228600">
              <a:buFont typeface="Arial" panose="020B0604020202020204" pitchFamily="34" charset="0"/>
              <a:buChar char="»"/>
              <a:defRPr sz="1800"/>
            </a:lvl3pPr>
            <a:lvl4pPr>
              <a:defRPr sz="1600"/>
            </a:lvl4pPr>
            <a:lvl5pPr>
              <a:defRPr sz="16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hu-HU" dirty="0"/>
          </a:p>
        </p:txBody>
      </p:sp>
      <p:sp>
        <p:nvSpPr>
          <p:cNvPr id="9" name="Title 1"/>
          <p:cNvSpPr>
            <a:spLocks noGrp="1"/>
          </p:cNvSpPr>
          <p:nvPr>
            <p:ph type="title"/>
          </p:nvPr>
        </p:nvSpPr>
        <p:spPr>
          <a:xfrm>
            <a:off x="240462" y="116632"/>
            <a:ext cx="7139850" cy="634082"/>
          </a:xfrm>
        </p:spPr>
        <p:txBody>
          <a:bodyPr>
            <a:normAutofit/>
          </a:bodyPr>
          <a:lstStyle>
            <a:lvl1pPr algn="l">
              <a:defRPr sz="3200" b="1">
                <a:solidFill>
                  <a:schemeClr val="tx1"/>
                </a:solidFill>
                <a:effectLst>
                  <a:outerShdw blurRad="38100" dist="38100" dir="2700000" algn="tl">
                    <a:srgbClr val="000000">
                      <a:alpha val="43137"/>
                    </a:srgbClr>
                  </a:outerShdw>
                </a:effectLst>
              </a:defRPr>
            </a:lvl1pPr>
          </a:lstStyle>
          <a:p>
            <a:r>
              <a:rPr lang="en-US" dirty="0"/>
              <a:t>Click to edit Master title style</a:t>
            </a:r>
            <a:endParaRPr lang="hu-HU" dirty="0"/>
          </a:p>
        </p:txBody>
      </p:sp>
      <p:sp>
        <p:nvSpPr>
          <p:cNvPr id="14" name="Footer Placeholder 4"/>
          <p:cNvSpPr>
            <a:spLocks noGrp="1"/>
          </p:cNvSpPr>
          <p:nvPr>
            <p:ph type="ftr" sz="quarter" idx="11"/>
          </p:nvPr>
        </p:nvSpPr>
        <p:spPr>
          <a:xfrm>
            <a:off x="4451954" y="6498648"/>
            <a:ext cx="4212712" cy="281218"/>
          </a:xfrm>
        </p:spPr>
        <p:txBody>
          <a:bodyPr/>
          <a:lstStyle>
            <a:lvl1pPr algn="r">
              <a:defRPr sz="1200" b="1">
                <a:solidFill>
                  <a:schemeClr val="tx1"/>
                </a:solidFill>
              </a:defRPr>
            </a:lvl1pPr>
          </a:lstStyle>
          <a:p>
            <a:r>
              <a:rPr lang="hu-HU"/>
              <a:t>Title of the presentation</a:t>
            </a:r>
            <a:endParaRPr lang="hu-HU" dirty="0"/>
          </a:p>
        </p:txBody>
      </p:sp>
      <p:sp>
        <p:nvSpPr>
          <p:cNvPr id="15" name="Slide Number Placeholder 5"/>
          <p:cNvSpPr>
            <a:spLocks noGrp="1"/>
          </p:cNvSpPr>
          <p:nvPr>
            <p:ph type="sldNum" sz="quarter" idx="12"/>
          </p:nvPr>
        </p:nvSpPr>
        <p:spPr>
          <a:xfrm>
            <a:off x="8700162" y="6498648"/>
            <a:ext cx="375601" cy="281218"/>
          </a:xfrm>
        </p:spPr>
        <p:txBody>
          <a:bodyPr/>
          <a:lstStyle>
            <a:lvl1pPr algn="l">
              <a:defRPr sz="1200" b="1">
                <a:solidFill>
                  <a:schemeClr val="tx1"/>
                </a:solidFill>
              </a:defRPr>
            </a:lvl1pPr>
          </a:lstStyle>
          <a:p>
            <a:fld id="{4F532308-F742-4E8E-A0E9-3E442CCFFF54}" type="slidenum">
              <a:rPr lang="hu-HU" smtClean="0"/>
              <a:pPr/>
              <a:t>‹#›</a:t>
            </a:fld>
            <a:endParaRPr lang="hu-HU" dirty="0"/>
          </a:p>
        </p:txBody>
      </p:sp>
      <p:sp>
        <p:nvSpPr>
          <p:cNvPr id="16" name="TextBox 15"/>
          <p:cNvSpPr txBox="1"/>
          <p:nvPr userDrawn="1"/>
        </p:nvSpPr>
        <p:spPr>
          <a:xfrm>
            <a:off x="8559358" y="6507805"/>
            <a:ext cx="258404" cy="276999"/>
          </a:xfrm>
          <a:prstGeom prst="rect">
            <a:avLst/>
          </a:prstGeom>
          <a:noFill/>
        </p:spPr>
        <p:txBody>
          <a:bodyPr wrap="none" rtlCol="0">
            <a:spAutoFit/>
          </a:bodyPr>
          <a:lstStyle/>
          <a:p>
            <a:r>
              <a:rPr lang="hu-HU" sz="1200" b="1" dirty="0">
                <a:solidFill>
                  <a:schemeClr val="tx1"/>
                </a:solidFill>
              </a:rPr>
              <a:t>|</a:t>
            </a:r>
          </a:p>
        </p:txBody>
      </p:sp>
      <p:cxnSp>
        <p:nvCxnSpPr>
          <p:cNvPr id="11" name="Straight Connector 10"/>
          <p:cNvCxnSpPr/>
          <p:nvPr userDrawn="1"/>
        </p:nvCxnSpPr>
        <p:spPr>
          <a:xfrm>
            <a:off x="0" y="794885"/>
            <a:ext cx="7524328" cy="0"/>
          </a:xfrm>
          <a:prstGeom prst="line">
            <a:avLst/>
          </a:prstGeom>
          <a:ln w="5715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userDrawn="1"/>
        </p:nvCxnSpPr>
        <p:spPr>
          <a:xfrm>
            <a:off x="4211960" y="6453369"/>
            <a:ext cx="4932040" cy="0"/>
          </a:xfrm>
          <a:prstGeom prst="line">
            <a:avLst/>
          </a:prstGeom>
          <a:ln w="5715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565897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hu-HU"/>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u-HU"/>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u-HU"/>
          </a:p>
        </p:txBody>
      </p:sp>
      <p:sp>
        <p:nvSpPr>
          <p:cNvPr id="7" name="Date Placeholder 6"/>
          <p:cNvSpPr>
            <a:spLocks noGrp="1"/>
          </p:cNvSpPr>
          <p:nvPr>
            <p:ph type="dt" sz="half" idx="10"/>
          </p:nvPr>
        </p:nvSpPr>
        <p:spPr/>
        <p:txBody>
          <a:bodyPr/>
          <a:lstStyle/>
          <a:p>
            <a:endParaRPr lang="hu-HU"/>
          </a:p>
        </p:txBody>
      </p:sp>
      <p:sp>
        <p:nvSpPr>
          <p:cNvPr id="8" name="Footer Placeholder 7"/>
          <p:cNvSpPr>
            <a:spLocks noGrp="1"/>
          </p:cNvSpPr>
          <p:nvPr>
            <p:ph type="ftr" sz="quarter" idx="11"/>
          </p:nvPr>
        </p:nvSpPr>
        <p:spPr/>
        <p:txBody>
          <a:bodyPr/>
          <a:lstStyle/>
          <a:p>
            <a:r>
              <a:rPr lang="hu-HU"/>
              <a:t>Title of the presentation</a:t>
            </a:r>
          </a:p>
        </p:txBody>
      </p:sp>
      <p:sp>
        <p:nvSpPr>
          <p:cNvPr id="9" name="Slide Number Placeholder 8"/>
          <p:cNvSpPr>
            <a:spLocks noGrp="1"/>
          </p:cNvSpPr>
          <p:nvPr>
            <p:ph type="sldNum" sz="quarter" idx="12"/>
          </p:nvPr>
        </p:nvSpPr>
        <p:spPr/>
        <p:txBody>
          <a:bodyPr/>
          <a:lstStyle/>
          <a:p>
            <a:fld id="{4F532308-F742-4E8E-A0E9-3E442CCFFF54}" type="slidenum">
              <a:rPr lang="hu-HU" smtClean="0"/>
              <a:t>‹#›</a:t>
            </a:fld>
            <a:endParaRPr lang="hu-HU"/>
          </a:p>
        </p:txBody>
      </p:sp>
    </p:spTree>
    <p:extLst>
      <p:ext uri="{BB962C8B-B14F-4D97-AF65-F5344CB8AC3E}">
        <p14:creationId xmlns:p14="http://schemas.microsoft.com/office/powerpoint/2010/main" val="8723120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hu-HU"/>
          </a:p>
        </p:txBody>
      </p:sp>
      <p:sp>
        <p:nvSpPr>
          <p:cNvPr id="3" name="Date Placeholder 2"/>
          <p:cNvSpPr>
            <a:spLocks noGrp="1"/>
          </p:cNvSpPr>
          <p:nvPr>
            <p:ph type="dt" sz="half" idx="10"/>
          </p:nvPr>
        </p:nvSpPr>
        <p:spPr/>
        <p:txBody>
          <a:bodyPr/>
          <a:lstStyle/>
          <a:p>
            <a:endParaRPr lang="hu-HU"/>
          </a:p>
        </p:txBody>
      </p:sp>
      <p:sp>
        <p:nvSpPr>
          <p:cNvPr id="4" name="Footer Placeholder 3"/>
          <p:cNvSpPr>
            <a:spLocks noGrp="1"/>
          </p:cNvSpPr>
          <p:nvPr>
            <p:ph type="ftr" sz="quarter" idx="11"/>
          </p:nvPr>
        </p:nvSpPr>
        <p:spPr/>
        <p:txBody>
          <a:bodyPr/>
          <a:lstStyle/>
          <a:p>
            <a:r>
              <a:rPr lang="hu-HU"/>
              <a:t>Title of the presentation</a:t>
            </a:r>
          </a:p>
        </p:txBody>
      </p:sp>
      <p:sp>
        <p:nvSpPr>
          <p:cNvPr id="5" name="Slide Number Placeholder 4"/>
          <p:cNvSpPr>
            <a:spLocks noGrp="1"/>
          </p:cNvSpPr>
          <p:nvPr>
            <p:ph type="sldNum" sz="quarter" idx="12"/>
          </p:nvPr>
        </p:nvSpPr>
        <p:spPr/>
        <p:txBody>
          <a:bodyPr/>
          <a:lstStyle/>
          <a:p>
            <a:fld id="{4F532308-F742-4E8E-A0E9-3E442CCFFF54}" type="slidenum">
              <a:rPr lang="hu-HU" smtClean="0"/>
              <a:t>‹#›</a:t>
            </a:fld>
            <a:endParaRPr lang="hu-HU"/>
          </a:p>
        </p:txBody>
      </p:sp>
    </p:spTree>
    <p:extLst>
      <p:ext uri="{BB962C8B-B14F-4D97-AF65-F5344CB8AC3E}">
        <p14:creationId xmlns:p14="http://schemas.microsoft.com/office/powerpoint/2010/main" val="20994373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hu-HU"/>
          </a:p>
        </p:txBody>
      </p:sp>
      <p:sp>
        <p:nvSpPr>
          <p:cNvPr id="3" name="Footer Placeholder 2"/>
          <p:cNvSpPr>
            <a:spLocks noGrp="1"/>
          </p:cNvSpPr>
          <p:nvPr>
            <p:ph type="ftr" sz="quarter" idx="11"/>
          </p:nvPr>
        </p:nvSpPr>
        <p:spPr/>
        <p:txBody>
          <a:bodyPr/>
          <a:lstStyle/>
          <a:p>
            <a:r>
              <a:rPr lang="hu-HU"/>
              <a:t>Title of the presentation</a:t>
            </a:r>
          </a:p>
        </p:txBody>
      </p:sp>
      <p:sp>
        <p:nvSpPr>
          <p:cNvPr id="4" name="Slide Number Placeholder 3"/>
          <p:cNvSpPr>
            <a:spLocks noGrp="1"/>
          </p:cNvSpPr>
          <p:nvPr>
            <p:ph type="sldNum" sz="quarter" idx="12"/>
          </p:nvPr>
        </p:nvSpPr>
        <p:spPr/>
        <p:txBody>
          <a:bodyPr/>
          <a:lstStyle/>
          <a:p>
            <a:fld id="{4F532308-F742-4E8E-A0E9-3E442CCFFF54}" type="slidenum">
              <a:rPr lang="hu-HU" smtClean="0"/>
              <a:t>‹#›</a:t>
            </a:fld>
            <a:endParaRPr lang="hu-HU"/>
          </a:p>
        </p:txBody>
      </p:sp>
    </p:spTree>
    <p:extLst>
      <p:ext uri="{BB962C8B-B14F-4D97-AF65-F5344CB8AC3E}">
        <p14:creationId xmlns:p14="http://schemas.microsoft.com/office/powerpoint/2010/main" val="25784691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hu-HU"/>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u-HU"/>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hu-HU"/>
          </a:p>
        </p:txBody>
      </p:sp>
      <p:sp>
        <p:nvSpPr>
          <p:cNvPr id="6" name="Footer Placeholder 5"/>
          <p:cNvSpPr>
            <a:spLocks noGrp="1"/>
          </p:cNvSpPr>
          <p:nvPr>
            <p:ph type="ftr" sz="quarter" idx="11"/>
          </p:nvPr>
        </p:nvSpPr>
        <p:spPr/>
        <p:txBody>
          <a:bodyPr/>
          <a:lstStyle/>
          <a:p>
            <a:r>
              <a:rPr lang="hu-HU"/>
              <a:t>Title of the presentation</a:t>
            </a:r>
          </a:p>
        </p:txBody>
      </p:sp>
      <p:sp>
        <p:nvSpPr>
          <p:cNvPr id="7" name="Slide Number Placeholder 6"/>
          <p:cNvSpPr>
            <a:spLocks noGrp="1"/>
          </p:cNvSpPr>
          <p:nvPr>
            <p:ph type="sldNum" sz="quarter" idx="12"/>
          </p:nvPr>
        </p:nvSpPr>
        <p:spPr/>
        <p:txBody>
          <a:bodyPr/>
          <a:lstStyle/>
          <a:p>
            <a:fld id="{4F532308-F742-4E8E-A0E9-3E442CCFFF54}" type="slidenum">
              <a:rPr lang="hu-HU" smtClean="0"/>
              <a:t>‹#›</a:t>
            </a:fld>
            <a:endParaRPr lang="hu-HU"/>
          </a:p>
        </p:txBody>
      </p:sp>
    </p:spTree>
    <p:extLst>
      <p:ext uri="{BB962C8B-B14F-4D97-AF65-F5344CB8AC3E}">
        <p14:creationId xmlns:p14="http://schemas.microsoft.com/office/powerpoint/2010/main" val="21398480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hu-HU"/>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hu-HU"/>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hu-HU"/>
          </a:p>
        </p:txBody>
      </p:sp>
      <p:sp>
        <p:nvSpPr>
          <p:cNvPr id="6" name="Footer Placeholder 5"/>
          <p:cNvSpPr>
            <a:spLocks noGrp="1"/>
          </p:cNvSpPr>
          <p:nvPr>
            <p:ph type="ftr" sz="quarter" idx="11"/>
          </p:nvPr>
        </p:nvSpPr>
        <p:spPr/>
        <p:txBody>
          <a:bodyPr/>
          <a:lstStyle/>
          <a:p>
            <a:r>
              <a:rPr lang="hu-HU"/>
              <a:t>Title of the presentation</a:t>
            </a:r>
          </a:p>
        </p:txBody>
      </p:sp>
      <p:sp>
        <p:nvSpPr>
          <p:cNvPr id="7" name="Slide Number Placeholder 6"/>
          <p:cNvSpPr>
            <a:spLocks noGrp="1"/>
          </p:cNvSpPr>
          <p:nvPr>
            <p:ph type="sldNum" sz="quarter" idx="12"/>
          </p:nvPr>
        </p:nvSpPr>
        <p:spPr/>
        <p:txBody>
          <a:bodyPr/>
          <a:lstStyle/>
          <a:p>
            <a:fld id="{4F532308-F742-4E8E-A0E9-3E442CCFFF54}" type="slidenum">
              <a:rPr lang="hu-HU" smtClean="0"/>
              <a:t>‹#›</a:t>
            </a:fld>
            <a:endParaRPr lang="hu-HU"/>
          </a:p>
        </p:txBody>
      </p:sp>
    </p:spTree>
    <p:extLst>
      <p:ext uri="{BB962C8B-B14F-4D97-AF65-F5344CB8AC3E}">
        <p14:creationId xmlns:p14="http://schemas.microsoft.com/office/powerpoint/2010/main" val="42855048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hu-HU"/>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u-HU"/>
          </a:p>
        </p:txBody>
      </p:sp>
      <p:sp>
        <p:nvSpPr>
          <p:cNvPr id="4" name="Date Placeholder 3"/>
          <p:cNvSpPr>
            <a:spLocks noGrp="1"/>
          </p:cNvSpPr>
          <p:nvPr>
            <p:ph type="dt" sz="half" idx="10"/>
          </p:nvPr>
        </p:nvSpPr>
        <p:spPr/>
        <p:txBody>
          <a:bodyPr/>
          <a:lstStyle/>
          <a:p>
            <a:endParaRPr lang="hu-HU"/>
          </a:p>
        </p:txBody>
      </p:sp>
      <p:sp>
        <p:nvSpPr>
          <p:cNvPr id="5" name="Footer Placeholder 4"/>
          <p:cNvSpPr>
            <a:spLocks noGrp="1"/>
          </p:cNvSpPr>
          <p:nvPr>
            <p:ph type="ftr" sz="quarter" idx="11"/>
          </p:nvPr>
        </p:nvSpPr>
        <p:spPr/>
        <p:txBody>
          <a:bodyPr/>
          <a:lstStyle/>
          <a:p>
            <a:r>
              <a:rPr lang="hu-HU"/>
              <a:t>Title of the presentation</a:t>
            </a:r>
          </a:p>
        </p:txBody>
      </p:sp>
      <p:sp>
        <p:nvSpPr>
          <p:cNvPr id="6" name="Slide Number Placeholder 5"/>
          <p:cNvSpPr>
            <a:spLocks noGrp="1"/>
          </p:cNvSpPr>
          <p:nvPr>
            <p:ph type="sldNum" sz="quarter" idx="12"/>
          </p:nvPr>
        </p:nvSpPr>
        <p:spPr/>
        <p:txBody>
          <a:bodyPr/>
          <a:lstStyle/>
          <a:p>
            <a:fld id="{4F532308-F742-4E8E-A0E9-3E442CCFFF54}" type="slidenum">
              <a:rPr lang="hu-HU" smtClean="0"/>
              <a:t>‹#›</a:t>
            </a:fld>
            <a:endParaRPr lang="hu-HU"/>
          </a:p>
        </p:txBody>
      </p:sp>
    </p:spTree>
    <p:extLst>
      <p:ext uri="{BB962C8B-B14F-4D97-AF65-F5344CB8AC3E}">
        <p14:creationId xmlns:p14="http://schemas.microsoft.com/office/powerpoint/2010/main" val="17384988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hu-HU"/>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u-HU"/>
          </a:p>
        </p:txBody>
      </p:sp>
      <p:sp>
        <p:nvSpPr>
          <p:cNvPr id="4" name="Date Placeholder 3"/>
          <p:cNvSpPr>
            <a:spLocks noGrp="1"/>
          </p:cNvSpPr>
          <p:nvPr>
            <p:ph type="dt" sz="half" idx="10"/>
          </p:nvPr>
        </p:nvSpPr>
        <p:spPr/>
        <p:txBody>
          <a:bodyPr/>
          <a:lstStyle/>
          <a:p>
            <a:endParaRPr lang="hu-HU"/>
          </a:p>
        </p:txBody>
      </p:sp>
      <p:sp>
        <p:nvSpPr>
          <p:cNvPr id="5" name="Footer Placeholder 4"/>
          <p:cNvSpPr>
            <a:spLocks noGrp="1"/>
          </p:cNvSpPr>
          <p:nvPr>
            <p:ph type="ftr" sz="quarter" idx="11"/>
          </p:nvPr>
        </p:nvSpPr>
        <p:spPr/>
        <p:txBody>
          <a:bodyPr/>
          <a:lstStyle/>
          <a:p>
            <a:r>
              <a:rPr lang="hu-HU"/>
              <a:t>Title of the presentation</a:t>
            </a:r>
          </a:p>
        </p:txBody>
      </p:sp>
      <p:sp>
        <p:nvSpPr>
          <p:cNvPr id="6" name="Slide Number Placeholder 5"/>
          <p:cNvSpPr>
            <a:spLocks noGrp="1"/>
          </p:cNvSpPr>
          <p:nvPr>
            <p:ph type="sldNum" sz="quarter" idx="12"/>
          </p:nvPr>
        </p:nvSpPr>
        <p:spPr/>
        <p:txBody>
          <a:bodyPr/>
          <a:lstStyle/>
          <a:p>
            <a:fld id="{4F532308-F742-4E8E-A0E9-3E442CCFFF54}" type="slidenum">
              <a:rPr lang="hu-HU" smtClean="0"/>
              <a:t>‹#›</a:t>
            </a:fld>
            <a:endParaRPr lang="hu-HU"/>
          </a:p>
        </p:txBody>
      </p:sp>
    </p:spTree>
    <p:extLst>
      <p:ext uri="{BB962C8B-B14F-4D97-AF65-F5344CB8AC3E}">
        <p14:creationId xmlns:p14="http://schemas.microsoft.com/office/powerpoint/2010/main" val="13739994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hu-HU"/>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u-HU"/>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hu-HU"/>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hu-HU"/>
              <a:t>Title of the presentation</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F532308-F742-4E8E-A0E9-3E442CCFFF54}" type="slidenum">
              <a:rPr lang="hu-HU" smtClean="0"/>
              <a:t>‹#›</a:t>
            </a:fld>
            <a:endParaRPr lang="hu-HU"/>
          </a:p>
        </p:txBody>
      </p:sp>
    </p:spTree>
    <p:extLst>
      <p:ext uri="{BB962C8B-B14F-4D97-AF65-F5344CB8AC3E}">
        <p14:creationId xmlns:p14="http://schemas.microsoft.com/office/powerpoint/2010/main" val="321460906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hu-H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4.jpe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3.jpeg"/></Relationships>
</file>

<file path=ppt/slides/_rels/slide12.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19.jpe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20.png"/><Relationship Id="rId7" Type="http://schemas.openxmlformats.org/officeDocument/2006/relationships/image" Target="../media/image17.png"/><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image" Target="../media/image19.jpeg"/><Relationship Id="rId5" Type="http://schemas.openxmlformats.org/officeDocument/2006/relationships/image" Target="../media/image21.jpeg"/><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3197527"/>
            <a:ext cx="7772400" cy="1123950"/>
          </a:xfrm>
        </p:spPr>
        <p:txBody>
          <a:bodyPr>
            <a:normAutofit fontScale="90000"/>
          </a:bodyPr>
          <a:lstStyle/>
          <a:p>
            <a:r>
              <a:rPr lang="en-US" noProof="0" dirty="0"/>
              <a:t> Colonel Blotto in Cybersecurity</a:t>
            </a:r>
            <a:br>
              <a:rPr lang="en-US" noProof="0" dirty="0"/>
            </a:br>
            <a:r>
              <a:rPr lang="en-US" sz="2700" noProof="0" dirty="0"/>
              <a:t>Real-World Data, Reinforcement Learning and </a:t>
            </a:r>
            <a:br>
              <a:rPr lang="en-US" sz="2700" noProof="0" dirty="0"/>
            </a:br>
            <a:r>
              <a:rPr lang="en-US" sz="2700" noProof="0" dirty="0"/>
              <a:t>Information Asymmetry</a:t>
            </a:r>
            <a:endParaRPr lang="en-US" noProof="0" dirty="0"/>
          </a:p>
        </p:txBody>
      </p:sp>
      <p:sp>
        <p:nvSpPr>
          <p:cNvPr id="3" name="Subtitle 2"/>
          <p:cNvSpPr>
            <a:spLocks noGrp="1"/>
          </p:cNvSpPr>
          <p:nvPr>
            <p:ph type="subTitle" idx="1"/>
          </p:nvPr>
        </p:nvSpPr>
        <p:spPr>
          <a:xfrm>
            <a:off x="1371596" y="5247164"/>
            <a:ext cx="6400800" cy="1588573"/>
          </a:xfrm>
        </p:spPr>
        <p:txBody>
          <a:bodyPr>
            <a:normAutofit/>
          </a:bodyPr>
          <a:lstStyle/>
          <a:p>
            <a:r>
              <a:rPr lang="en-US" noProof="0" dirty="0"/>
              <a:t>Zalán Nagy</a:t>
            </a:r>
          </a:p>
          <a:p>
            <a:r>
              <a:rPr lang="en-US" sz="1800" noProof="0" dirty="0"/>
              <a:t>Advisor: Dr. Gergely </a:t>
            </a:r>
            <a:r>
              <a:rPr lang="en-US" sz="1800" noProof="0" dirty="0" err="1"/>
              <a:t>Biczók</a:t>
            </a:r>
            <a:br>
              <a:rPr lang="en-US" sz="1800" noProof="0" dirty="0"/>
            </a:br>
            <a:endParaRPr lang="en-US" sz="1800" noProof="0" dirty="0"/>
          </a:p>
        </p:txBody>
      </p:sp>
      <p:grpSp>
        <p:nvGrpSpPr>
          <p:cNvPr id="4" name="Group 3"/>
          <p:cNvGrpSpPr/>
          <p:nvPr/>
        </p:nvGrpSpPr>
        <p:grpSpPr>
          <a:xfrm>
            <a:off x="3182875" y="1469531"/>
            <a:ext cx="2778243" cy="1066993"/>
            <a:chOff x="3182875" y="1574039"/>
            <a:chExt cx="2778243" cy="1066993"/>
          </a:xfrm>
        </p:grpSpPr>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82875" y="1574039"/>
              <a:ext cx="2778243" cy="802309"/>
            </a:xfrm>
            <a:prstGeom prst="rect">
              <a:avLst/>
            </a:prstGeom>
          </p:spPr>
        </p:pic>
        <p:cxnSp>
          <p:nvCxnSpPr>
            <p:cNvPr id="7" name="Straight Connector 6"/>
            <p:cNvCxnSpPr/>
            <p:nvPr/>
          </p:nvCxnSpPr>
          <p:spPr>
            <a:xfrm>
              <a:off x="3224440" y="2314296"/>
              <a:ext cx="2695117" cy="0"/>
            </a:xfrm>
            <a:prstGeom prst="line">
              <a:avLst/>
            </a:prstGeom>
            <a:ln w="5715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15" name="TextBox 14"/>
            <p:cNvSpPr txBox="1"/>
            <p:nvPr/>
          </p:nvSpPr>
          <p:spPr>
            <a:xfrm>
              <a:off x="3237336" y="2333255"/>
              <a:ext cx="2669320" cy="307777"/>
            </a:xfrm>
            <a:prstGeom prst="rect">
              <a:avLst/>
            </a:prstGeom>
            <a:noFill/>
          </p:spPr>
          <p:txBody>
            <a:bodyPr wrap="none" rtlCol="0">
              <a:spAutoFit/>
            </a:bodyPr>
            <a:lstStyle/>
            <a:p>
              <a:r>
                <a:rPr lang="en-US" sz="1400" b="1" noProof="0" dirty="0">
                  <a:latin typeface="Consolas" panose="020B0609020204030204" pitchFamily="49" charset="0"/>
                </a:rPr>
                <a:t>w </a:t>
              </a:r>
              <a:r>
                <a:rPr lang="en-US" sz="1400" b="1" noProof="0" dirty="0" err="1">
                  <a:latin typeface="Consolas" panose="020B0609020204030204" pitchFamily="49" charset="0"/>
                </a:rPr>
                <a:t>w</a:t>
              </a:r>
              <a:r>
                <a:rPr lang="en-US" sz="1400" b="1" noProof="0" dirty="0">
                  <a:latin typeface="Consolas" panose="020B0609020204030204" pitchFamily="49" charset="0"/>
                </a:rPr>
                <a:t> </a:t>
              </a:r>
              <a:r>
                <a:rPr lang="en-US" sz="1400" b="1" noProof="0" dirty="0" err="1">
                  <a:latin typeface="Consolas" panose="020B0609020204030204" pitchFamily="49" charset="0"/>
                </a:rPr>
                <a:t>w</a:t>
              </a:r>
              <a:r>
                <a:rPr lang="en-US" sz="1400" b="1" noProof="0" dirty="0">
                  <a:latin typeface="Consolas" panose="020B0609020204030204" pitchFamily="49" charset="0"/>
                </a:rPr>
                <a:t> . c r y s y s . h u</a:t>
              </a:r>
            </a:p>
          </p:txBody>
        </p:sp>
      </p:grpSp>
    </p:spTree>
    <p:extLst>
      <p:ext uri="{BB962C8B-B14F-4D97-AF65-F5344CB8AC3E}">
        <p14:creationId xmlns:p14="http://schemas.microsoft.com/office/powerpoint/2010/main" val="4187983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noProof="0" dirty="0"/>
              <a:t>Motivation</a:t>
            </a:r>
          </a:p>
        </p:txBody>
      </p:sp>
      <p:sp>
        <p:nvSpPr>
          <p:cNvPr id="3" name="Content Placeholder 2"/>
          <p:cNvSpPr>
            <a:spLocks noGrp="1"/>
          </p:cNvSpPr>
          <p:nvPr>
            <p:ph idx="1"/>
          </p:nvPr>
        </p:nvSpPr>
        <p:spPr/>
        <p:txBody>
          <a:bodyPr/>
          <a:lstStyle/>
          <a:p>
            <a:r>
              <a:rPr lang="en-US" noProof="0" dirty="0"/>
              <a:t>Thousands of new vulnerabilities every day</a:t>
            </a:r>
          </a:p>
          <a:p>
            <a:endParaRPr lang="en-US" noProof="0" dirty="0"/>
          </a:p>
          <a:p>
            <a:r>
              <a:rPr lang="en-US" noProof="0" dirty="0"/>
              <a:t>Limited defensive and offensive resources</a:t>
            </a:r>
          </a:p>
          <a:p>
            <a:endParaRPr lang="en-US" noProof="0" dirty="0"/>
          </a:p>
          <a:p>
            <a:r>
              <a:rPr lang="en-US" noProof="0" dirty="0"/>
              <a:t>Competition between attackers and defenders</a:t>
            </a:r>
          </a:p>
        </p:txBody>
      </p:sp>
      <p:sp>
        <p:nvSpPr>
          <p:cNvPr id="4" name="Footer Placeholder 3"/>
          <p:cNvSpPr>
            <a:spLocks noGrp="1"/>
          </p:cNvSpPr>
          <p:nvPr>
            <p:ph type="ftr" sz="quarter" idx="11"/>
          </p:nvPr>
        </p:nvSpPr>
        <p:spPr/>
        <p:txBody>
          <a:bodyPr/>
          <a:lstStyle/>
          <a:p>
            <a:r>
              <a:rPr lang="en-US" noProof="0" dirty="0"/>
              <a:t>Colonel Blotto in Cybersecurity</a:t>
            </a:r>
          </a:p>
        </p:txBody>
      </p:sp>
      <p:sp>
        <p:nvSpPr>
          <p:cNvPr id="40" name="Slide Number Placeholder 39"/>
          <p:cNvSpPr>
            <a:spLocks noGrp="1"/>
          </p:cNvSpPr>
          <p:nvPr>
            <p:ph type="sldNum" sz="quarter" idx="12"/>
          </p:nvPr>
        </p:nvSpPr>
        <p:spPr/>
        <p:txBody>
          <a:bodyPr/>
          <a:lstStyle/>
          <a:p>
            <a:fld id="{4F532308-F742-4E8E-A0E9-3E442CCFFF54}" type="slidenum">
              <a:rPr lang="en-US" noProof="0" smtClean="0"/>
              <a:pPr/>
              <a:t>2</a:t>
            </a:fld>
            <a:endParaRPr lang="en-US" noProof="0" dirty="0"/>
          </a:p>
        </p:txBody>
      </p:sp>
      <p:pic>
        <p:nvPicPr>
          <p:cNvPr id="8194" name="Picture 2" descr="Cyber Defense: Over 41,733 Royalty-Free Licensable Stock Illustrations &amp;  Drawings | Shutterstock">
            <a:extLst>
              <a:ext uri="{FF2B5EF4-FFF2-40B4-BE49-F238E27FC236}">
                <a16:creationId xmlns:a16="http://schemas.microsoft.com/office/drawing/2014/main" id="{7092E837-37D0-C775-AD99-35047CB9DD2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71750" y="3429000"/>
            <a:ext cx="4000500" cy="2667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561211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noProof="0" dirty="0"/>
              <a:t>The strategic nature of cybersecurity</a:t>
            </a:r>
          </a:p>
        </p:txBody>
      </p:sp>
      <p:sp>
        <p:nvSpPr>
          <p:cNvPr id="3" name="Content Placeholder 2"/>
          <p:cNvSpPr>
            <a:spLocks noGrp="1"/>
          </p:cNvSpPr>
          <p:nvPr>
            <p:ph idx="1"/>
          </p:nvPr>
        </p:nvSpPr>
        <p:spPr/>
        <p:txBody>
          <a:bodyPr/>
          <a:lstStyle/>
          <a:p>
            <a:r>
              <a:rPr lang="en-US" noProof="0" dirty="0"/>
              <a:t>Digital infrastructure as a critical system</a:t>
            </a:r>
          </a:p>
          <a:p>
            <a:endParaRPr lang="en-US" noProof="0" dirty="0"/>
          </a:p>
          <a:p>
            <a:r>
              <a:rPr lang="en-US" noProof="0" dirty="0"/>
              <a:t>Real economic damage caused by attacks</a:t>
            </a:r>
          </a:p>
          <a:p>
            <a:endParaRPr lang="en-US" noProof="0" dirty="0"/>
          </a:p>
          <a:p>
            <a:r>
              <a:rPr lang="en-US" noProof="0" dirty="0"/>
              <a:t>Strategic decision-making and risk</a:t>
            </a:r>
          </a:p>
        </p:txBody>
      </p:sp>
      <p:sp>
        <p:nvSpPr>
          <p:cNvPr id="4" name="Footer Placeholder 3"/>
          <p:cNvSpPr>
            <a:spLocks noGrp="1"/>
          </p:cNvSpPr>
          <p:nvPr>
            <p:ph type="ftr" sz="quarter" idx="11"/>
          </p:nvPr>
        </p:nvSpPr>
        <p:spPr/>
        <p:txBody>
          <a:bodyPr/>
          <a:lstStyle/>
          <a:p>
            <a:r>
              <a:rPr lang="en-US" dirty="0"/>
              <a:t>Colonel Blotto in Cybersecurity</a:t>
            </a:r>
          </a:p>
        </p:txBody>
      </p:sp>
      <p:sp>
        <p:nvSpPr>
          <p:cNvPr id="5" name="Slide Number Placeholder 4"/>
          <p:cNvSpPr>
            <a:spLocks noGrp="1"/>
          </p:cNvSpPr>
          <p:nvPr>
            <p:ph type="sldNum" sz="quarter" idx="12"/>
          </p:nvPr>
        </p:nvSpPr>
        <p:spPr/>
        <p:txBody>
          <a:bodyPr/>
          <a:lstStyle/>
          <a:p>
            <a:fld id="{4F532308-F742-4E8E-A0E9-3E442CCFFF54}" type="slidenum">
              <a:rPr lang="en-US" noProof="0" smtClean="0"/>
              <a:pPr/>
              <a:t>3</a:t>
            </a:fld>
            <a:endParaRPr lang="en-US" noProof="0" dirty="0"/>
          </a:p>
        </p:txBody>
      </p:sp>
      <p:pic>
        <p:nvPicPr>
          <p:cNvPr id="1027" name="Picture 3" descr="Top 8 Cyber Threat Maps To Track Cyber Attacks">
            <a:extLst>
              <a:ext uri="{FF2B5EF4-FFF2-40B4-BE49-F238E27FC236}">
                <a16:creationId xmlns:a16="http://schemas.microsoft.com/office/drawing/2014/main" id="{A9014F70-1AEB-CDA2-04BB-247415D75498}"/>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83722" y="3821518"/>
            <a:ext cx="4188278" cy="2094139"/>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descr="SolarWinds: Hacked firm issues urgent security fix">
            <a:extLst>
              <a:ext uri="{FF2B5EF4-FFF2-40B4-BE49-F238E27FC236}">
                <a16:creationId xmlns:a16="http://schemas.microsoft.com/office/drawing/2014/main" id="{04D54A23-13B6-85AC-0B48-5D923B050E3E}"/>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963886" y="3821518"/>
            <a:ext cx="3722914" cy="209413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825387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hu-HU" noProof="0" dirty="0" err="1"/>
              <a:t>Colonel</a:t>
            </a:r>
            <a:r>
              <a:rPr lang="hu-HU" noProof="0" dirty="0"/>
              <a:t> </a:t>
            </a:r>
            <a:r>
              <a:rPr lang="hu-HU" noProof="0" dirty="0" err="1"/>
              <a:t>Blotto</a:t>
            </a:r>
            <a:r>
              <a:rPr lang="hu-HU" noProof="0" dirty="0"/>
              <a:t> </a:t>
            </a:r>
            <a:r>
              <a:rPr lang="hu-HU" noProof="0" dirty="0" err="1"/>
              <a:t>model</a:t>
            </a:r>
            <a:endParaRPr lang="en-US" noProof="0" dirty="0"/>
          </a:p>
        </p:txBody>
      </p:sp>
      <p:sp>
        <p:nvSpPr>
          <p:cNvPr id="3" name="Content Placeholder 2"/>
          <p:cNvSpPr>
            <a:spLocks noGrp="1"/>
          </p:cNvSpPr>
          <p:nvPr>
            <p:ph idx="1"/>
          </p:nvPr>
        </p:nvSpPr>
        <p:spPr/>
        <p:txBody>
          <a:bodyPr/>
          <a:lstStyle/>
          <a:p>
            <a:r>
              <a:rPr lang="en-US" noProof="0" dirty="0"/>
              <a:t>Two commanders → multiple battlefields → limited resources</a:t>
            </a:r>
          </a:p>
          <a:p>
            <a:endParaRPr lang="hu-HU" dirty="0"/>
          </a:p>
          <a:p>
            <a:r>
              <a:rPr lang="en-US" dirty="0"/>
              <a:t>The winner is the one who allocates more resources to a given battlefield</a:t>
            </a:r>
            <a:endParaRPr lang="hu-HU" noProof="0" dirty="0"/>
          </a:p>
          <a:p>
            <a:endParaRPr lang="en-US" noProof="0" dirty="0"/>
          </a:p>
          <a:p>
            <a:endParaRPr lang="en-US" noProof="0" dirty="0"/>
          </a:p>
          <a:p>
            <a:endParaRPr lang="en-US" noProof="0" dirty="0"/>
          </a:p>
        </p:txBody>
      </p:sp>
      <p:sp>
        <p:nvSpPr>
          <p:cNvPr id="4" name="Footer Placeholder 3"/>
          <p:cNvSpPr>
            <a:spLocks noGrp="1"/>
          </p:cNvSpPr>
          <p:nvPr>
            <p:ph type="ftr" sz="quarter" idx="11"/>
          </p:nvPr>
        </p:nvSpPr>
        <p:spPr/>
        <p:txBody>
          <a:bodyPr/>
          <a:lstStyle/>
          <a:p>
            <a:r>
              <a:rPr lang="en-US" dirty="0"/>
              <a:t>Colonel Blotto in Cybersecurity</a:t>
            </a:r>
          </a:p>
        </p:txBody>
      </p:sp>
      <p:sp>
        <p:nvSpPr>
          <p:cNvPr id="5" name="Slide Number Placeholder 4"/>
          <p:cNvSpPr>
            <a:spLocks noGrp="1"/>
          </p:cNvSpPr>
          <p:nvPr>
            <p:ph type="sldNum" sz="quarter" idx="12"/>
          </p:nvPr>
        </p:nvSpPr>
        <p:spPr/>
        <p:txBody>
          <a:bodyPr/>
          <a:lstStyle/>
          <a:p>
            <a:fld id="{4F532308-F742-4E8E-A0E9-3E442CCFFF54}" type="slidenum">
              <a:rPr lang="en-US" noProof="0" smtClean="0"/>
              <a:pPr/>
              <a:t>4</a:t>
            </a:fld>
            <a:endParaRPr lang="en-US" noProof="0" dirty="0"/>
          </a:p>
        </p:txBody>
      </p:sp>
      <p:grpSp>
        <p:nvGrpSpPr>
          <p:cNvPr id="10" name="Csoportba foglalás 9">
            <a:extLst>
              <a:ext uri="{FF2B5EF4-FFF2-40B4-BE49-F238E27FC236}">
                <a16:creationId xmlns:a16="http://schemas.microsoft.com/office/drawing/2014/main" id="{59DB276B-81D0-23F0-33BE-A12F9F019757}"/>
              </a:ext>
            </a:extLst>
          </p:cNvPr>
          <p:cNvGrpSpPr/>
          <p:nvPr/>
        </p:nvGrpSpPr>
        <p:grpSpPr>
          <a:xfrm>
            <a:off x="0" y="3095897"/>
            <a:ext cx="9144000" cy="2955440"/>
            <a:chOff x="0" y="3187337"/>
            <a:chExt cx="9144000" cy="2955440"/>
          </a:xfrm>
        </p:grpSpPr>
        <p:pic>
          <p:nvPicPr>
            <p:cNvPr id="9218" name="Picture 2" descr="Dong Quan Vu' s Personal Website">
              <a:extLst>
                <a:ext uri="{FF2B5EF4-FFF2-40B4-BE49-F238E27FC236}">
                  <a16:creationId xmlns:a16="http://schemas.microsoft.com/office/drawing/2014/main" id="{8CC3B6BA-8A9A-1992-7F3E-9301106D0F4C}"/>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3064" b="7341"/>
            <a:stretch>
              <a:fillRect/>
            </a:stretch>
          </p:blipFill>
          <p:spPr bwMode="auto">
            <a:xfrm>
              <a:off x="0" y="3187337"/>
              <a:ext cx="9144000" cy="2860766"/>
            </a:xfrm>
            <a:prstGeom prst="rect">
              <a:avLst/>
            </a:prstGeom>
            <a:extLst>
              <a:ext uri="{909E8E84-426E-40DD-AFC4-6F175D3DCCD1}">
                <a14:hiddenFill xmlns:a14="http://schemas.microsoft.com/office/drawing/2010/main">
                  <a:solidFill>
                    <a:srgbClr val="FFFFFF"/>
                  </a:solidFill>
                </a14:hiddenFill>
              </a:ext>
            </a:extLst>
          </p:spPr>
        </p:pic>
        <p:grpSp>
          <p:nvGrpSpPr>
            <p:cNvPr id="8" name="Csoportba foglalás 7">
              <a:extLst>
                <a:ext uri="{FF2B5EF4-FFF2-40B4-BE49-F238E27FC236}">
                  <a16:creationId xmlns:a16="http://schemas.microsoft.com/office/drawing/2014/main" id="{9F7506C4-803E-5FF1-9448-3A4F11093E78}"/>
                </a:ext>
              </a:extLst>
            </p:cNvPr>
            <p:cNvGrpSpPr/>
            <p:nvPr/>
          </p:nvGrpSpPr>
          <p:grpSpPr>
            <a:xfrm>
              <a:off x="0" y="5418499"/>
              <a:ext cx="9144000" cy="724278"/>
              <a:chOff x="0" y="4916031"/>
              <a:chExt cx="9144000" cy="724278"/>
            </a:xfrm>
          </p:grpSpPr>
          <p:sp>
            <p:nvSpPr>
              <p:cNvPr id="6" name="Téglalap 5">
                <a:extLst>
                  <a:ext uri="{FF2B5EF4-FFF2-40B4-BE49-F238E27FC236}">
                    <a16:creationId xmlns:a16="http://schemas.microsoft.com/office/drawing/2014/main" id="{7F2A1A0B-82D3-FBD0-CA36-123209D26770}"/>
                  </a:ext>
                </a:extLst>
              </p:cNvPr>
              <p:cNvSpPr/>
              <p:nvPr/>
            </p:nvSpPr>
            <p:spPr>
              <a:xfrm>
                <a:off x="0" y="4916032"/>
                <a:ext cx="1348966" cy="72427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7" name="Téglalap 6">
                <a:extLst>
                  <a:ext uri="{FF2B5EF4-FFF2-40B4-BE49-F238E27FC236}">
                    <a16:creationId xmlns:a16="http://schemas.microsoft.com/office/drawing/2014/main" id="{C1C3A395-B15A-BD29-DFC5-43569493A338}"/>
                  </a:ext>
                </a:extLst>
              </p:cNvPr>
              <p:cNvSpPr/>
              <p:nvPr/>
            </p:nvSpPr>
            <p:spPr>
              <a:xfrm>
                <a:off x="7795034" y="4916031"/>
                <a:ext cx="1348966" cy="72427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spTree>
    <p:extLst>
      <p:ext uri="{BB962C8B-B14F-4D97-AF65-F5344CB8AC3E}">
        <p14:creationId xmlns:p14="http://schemas.microsoft.com/office/powerpoint/2010/main" val="15581951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0" dirty="0"/>
              <a:t>CVE, CVSS, EPSS</a:t>
            </a:r>
          </a:p>
        </p:txBody>
      </p:sp>
      <p:sp>
        <p:nvSpPr>
          <p:cNvPr id="4" name="Footer Placeholder 3"/>
          <p:cNvSpPr>
            <a:spLocks noGrp="1"/>
          </p:cNvSpPr>
          <p:nvPr>
            <p:ph type="ftr" sz="quarter" idx="11"/>
          </p:nvPr>
        </p:nvSpPr>
        <p:spPr/>
        <p:txBody>
          <a:bodyPr/>
          <a:lstStyle/>
          <a:p>
            <a:r>
              <a:rPr lang="en-US" dirty="0"/>
              <a:t>Colonel Blotto in Cybersecurity</a:t>
            </a:r>
          </a:p>
        </p:txBody>
      </p:sp>
      <p:sp>
        <p:nvSpPr>
          <p:cNvPr id="5" name="Slide Number Placeholder 4"/>
          <p:cNvSpPr>
            <a:spLocks noGrp="1"/>
          </p:cNvSpPr>
          <p:nvPr>
            <p:ph type="sldNum" sz="quarter" idx="12"/>
          </p:nvPr>
        </p:nvSpPr>
        <p:spPr/>
        <p:txBody>
          <a:bodyPr/>
          <a:lstStyle/>
          <a:p>
            <a:fld id="{4F532308-F742-4E8E-A0E9-3E442CCFFF54}" type="slidenum">
              <a:rPr lang="en-US" noProof="0" smtClean="0"/>
              <a:pPr/>
              <a:t>5</a:t>
            </a:fld>
            <a:endParaRPr lang="en-US" noProof="0" dirty="0"/>
          </a:p>
        </p:txBody>
      </p:sp>
      <p:graphicFrame>
        <p:nvGraphicFramePr>
          <p:cNvPr id="7" name="Táblázat 6">
            <a:extLst>
              <a:ext uri="{FF2B5EF4-FFF2-40B4-BE49-F238E27FC236}">
                <a16:creationId xmlns:a16="http://schemas.microsoft.com/office/drawing/2014/main" id="{6DC32DBA-E023-9F48-5442-7DC89B705CA0}"/>
              </a:ext>
            </a:extLst>
          </p:cNvPr>
          <p:cNvGraphicFramePr>
            <a:graphicFrameLocks noGrp="1"/>
          </p:cNvGraphicFramePr>
          <p:nvPr>
            <p:extLst>
              <p:ext uri="{D42A27DB-BD31-4B8C-83A1-F6EECF244321}">
                <p14:modId xmlns:p14="http://schemas.microsoft.com/office/powerpoint/2010/main" val="317921738"/>
              </p:ext>
            </p:extLst>
          </p:nvPr>
        </p:nvGraphicFramePr>
        <p:xfrm>
          <a:off x="547279" y="1490454"/>
          <a:ext cx="7813964" cy="3600000"/>
        </p:xfrm>
        <a:graphic>
          <a:graphicData uri="http://schemas.openxmlformats.org/drawingml/2006/table">
            <a:tbl>
              <a:tblPr>
                <a:tableStyleId>{5C22544A-7EE6-4342-B048-85BDC9FD1C3A}</a:tableStyleId>
              </a:tblPr>
              <a:tblGrid>
                <a:gridCol w="1579950">
                  <a:extLst>
                    <a:ext uri="{9D8B030D-6E8A-4147-A177-3AD203B41FA5}">
                      <a16:colId xmlns:a16="http://schemas.microsoft.com/office/drawing/2014/main" val="71512505"/>
                    </a:ext>
                  </a:extLst>
                </a:gridCol>
                <a:gridCol w="3412903">
                  <a:extLst>
                    <a:ext uri="{9D8B030D-6E8A-4147-A177-3AD203B41FA5}">
                      <a16:colId xmlns:a16="http://schemas.microsoft.com/office/drawing/2014/main" val="2285647785"/>
                    </a:ext>
                  </a:extLst>
                </a:gridCol>
                <a:gridCol w="2821111">
                  <a:extLst>
                    <a:ext uri="{9D8B030D-6E8A-4147-A177-3AD203B41FA5}">
                      <a16:colId xmlns:a16="http://schemas.microsoft.com/office/drawing/2014/main" val="1798518058"/>
                    </a:ext>
                  </a:extLst>
                </a:gridCol>
              </a:tblGrid>
              <a:tr h="900000">
                <a:tc>
                  <a:txBody>
                    <a:bodyPr/>
                    <a:lstStyle/>
                    <a:p>
                      <a:pPr>
                        <a:buNone/>
                      </a:pPr>
                      <a:r>
                        <a:rPr lang="en-US" sz="2000" i="1" noProof="0" dirty="0"/>
                        <a:t>Abbreviation</a:t>
                      </a:r>
                    </a:p>
                  </a:txBody>
                  <a:tcPr marL="65019" marR="65019" marT="32509" marB="32509" anchor="ctr"/>
                </a:tc>
                <a:tc>
                  <a:txBody>
                    <a:bodyPr/>
                    <a:lstStyle/>
                    <a:p>
                      <a:pPr>
                        <a:buNone/>
                      </a:pPr>
                      <a:r>
                        <a:rPr lang="en-US" sz="2000" i="1" noProof="0" dirty="0"/>
                        <a:t>Meaning</a:t>
                      </a:r>
                    </a:p>
                  </a:txBody>
                  <a:tcPr marL="65019" marR="65019" marT="32509" marB="32509" anchor="ctr"/>
                </a:tc>
                <a:tc>
                  <a:txBody>
                    <a:bodyPr/>
                    <a:lstStyle/>
                    <a:p>
                      <a:pPr>
                        <a:buNone/>
                      </a:pPr>
                      <a:r>
                        <a:rPr lang="en-US" sz="2000" i="1" noProof="0" dirty="0"/>
                        <a:t>What does it measure?</a:t>
                      </a:r>
                    </a:p>
                  </a:txBody>
                  <a:tcPr marL="65019" marR="65019" marT="32509" marB="32509" anchor="ctr"/>
                </a:tc>
                <a:extLst>
                  <a:ext uri="{0D108BD9-81ED-4DB2-BD59-A6C34878D82A}">
                    <a16:rowId xmlns:a16="http://schemas.microsoft.com/office/drawing/2014/main" val="3242483805"/>
                  </a:ext>
                </a:extLst>
              </a:tr>
              <a:tr h="900000">
                <a:tc>
                  <a:txBody>
                    <a:bodyPr/>
                    <a:lstStyle/>
                    <a:p>
                      <a:pPr>
                        <a:buNone/>
                      </a:pPr>
                      <a:r>
                        <a:rPr lang="en-US" sz="2000" noProof="0" dirty="0"/>
                        <a:t>CVE</a:t>
                      </a:r>
                    </a:p>
                  </a:txBody>
                  <a:tcPr marL="65019" marR="65019" marT="32509" marB="32509" anchor="ctr"/>
                </a:tc>
                <a:tc>
                  <a:txBody>
                    <a:bodyPr/>
                    <a:lstStyle/>
                    <a:p>
                      <a:pPr>
                        <a:buNone/>
                      </a:pPr>
                      <a:r>
                        <a:rPr lang="en-US" sz="2000" noProof="0" dirty="0"/>
                        <a:t>Common Vulnerabilities and Exposures</a:t>
                      </a:r>
                    </a:p>
                  </a:txBody>
                  <a:tcPr marL="65019" marR="65019" marT="32509" marB="32509" anchor="ctr"/>
                </a:tc>
                <a:tc>
                  <a:txBody>
                    <a:bodyPr/>
                    <a:lstStyle/>
                    <a:p>
                      <a:pPr>
                        <a:buNone/>
                      </a:pPr>
                      <a:r>
                        <a:rPr lang="en-US" sz="2000" noProof="0" dirty="0"/>
                        <a:t>Identifier only</a:t>
                      </a:r>
                    </a:p>
                  </a:txBody>
                  <a:tcPr marL="65019" marR="65019" marT="32509" marB="32509" anchor="ctr"/>
                </a:tc>
                <a:extLst>
                  <a:ext uri="{0D108BD9-81ED-4DB2-BD59-A6C34878D82A}">
                    <a16:rowId xmlns:a16="http://schemas.microsoft.com/office/drawing/2014/main" val="4023009933"/>
                  </a:ext>
                </a:extLst>
              </a:tr>
              <a:tr h="900000">
                <a:tc>
                  <a:txBody>
                    <a:bodyPr/>
                    <a:lstStyle/>
                    <a:p>
                      <a:pPr>
                        <a:buNone/>
                      </a:pPr>
                      <a:r>
                        <a:rPr lang="en-US" sz="2000" noProof="0" dirty="0"/>
                        <a:t>CVSS</a:t>
                      </a:r>
                    </a:p>
                  </a:txBody>
                  <a:tcPr marL="65019" marR="65019" marT="32509" marB="32509" anchor="ctr"/>
                </a:tc>
                <a:tc>
                  <a:txBody>
                    <a:bodyPr/>
                    <a:lstStyle/>
                    <a:p>
                      <a:pPr>
                        <a:buNone/>
                      </a:pPr>
                      <a:r>
                        <a:rPr lang="en-US" sz="2000" noProof="0" dirty="0"/>
                        <a:t>Common Vulnerability Scoring System</a:t>
                      </a:r>
                    </a:p>
                  </a:txBody>
                  <a:tcPr marL="65019" marR="65019" marT="32509" marB="32509" anchor="ctr"/>
                </a:tc>
                <a:tc>
                  <a:txBody>
                    <a:bodyPr/>
                    <a:lstStyle/>
                    <a:p>
                      <a:pPr>
                        <a:buNone/>
                      </a:pPr>
                      <a:r>
                        <a:rPr lang="en-US" sz="2000" noProof="0" dirty="0"/>
                        <a:t>Impact (0–10)</a:t>
                      </a:r>
                    </a:p>
                  </a:txBody>
                  <a:tcPr marL="65019" marR="65019" marT="32509" marB="32509" anchor="ctr"/>
                </a:tc>
                <a:extLst>
                  <a:ext uri="{0D108BD9-81ED-4DB2-BD59-A6C34878D82A}">
                    <a16:rowId xmlns:a16="http://schemas.microsoft.com/office/drawing/2014/main" val="227456140"/>
                  </a:ext>
                </a:extLst>
              </a:tr>
              <a:tr h="900000">
                <a:tc>
                  <a:txBody>
                    <a:bodyPr/>
                    <a:lstStyle/>
                    <a:p>
                      <a:pPr>
                        <a:buNone/>
                      </a:pPr>
                      <a:r>
                        <a:rPr lang="en-US" sz="2000" noProof="0" dirty="0"/>
                        <a:t>EPSS</a:t>
                      </a:r>
                    </a:p>
                  </a:txBody>
                  <a:tcPr marL="65019" marR="65019" marT="32509" marB="32509" anchor="ctr"/>
                </a:tc>
                <a:tc>
                  <a:txBody>
                    <a:bodyPr/>
                    <a:lstStyle/>
                    <a:p>
                      <a:pPr>
                        <a:buNone/>
                      </a:pPr>
                      <a:r>
                        <a:rPr lang="en-US" sz="2000" noProof="0" dirty="0"/>
                        <a:t>Exploit Prediction Scoring System</a:t>
                      </a:r>
                    </a:p>
                  </a:txBody>
                  <a:tcPr marL="65019" marR="65019" marT="32509" marB="32509" anchor="ctr"/>
                </a:tc>
                <a:tc>
                  <a:txBody>
                    <a:bodyPr/>
                    <a:lstStyle/>
                    <a:p>
                      <a:pPr>
                        <a:buNone/>
                      </a:pPr>
                      <a:r>
                        <a:rPr lang="en-US" sz="2000" noProof="0" dirty="0"/>
                        <a:t>Likelihood of exploitation (0–1)</a:t>
                      </a:r>
                    </a:p>
                  </a:txBody>
                  <a:tcPr marL="65019" marR="65019" marT="32509" marB="32509" anchor="ctr"/>
                </a:tc>
                <a:extLst>
                  <a:ext uri="{0D108BD9-81ED-4DB2-BD59-A6C34878D82A}">
                    <a16:rowId xmlns:a16="http://schemas.microsoft.com/office/drawing/2014/main" val="857517687"/>
                  </a:ext>
                </a:extLst>
              </a:tr>
            </a:tbl>
          </a:graphicData>
        </a:graphic>
      </p:graphicFrame>
      <p:sp>
        <p:nvSpPr>
          <p:cNvPr id="9" name="Content Placeholder 2">
            <a:extLst>
              <a:ext uri="{FF2B5EF4-FFF2-40B4-BE49-F238E27FC236}">
                <a16:creationId xmlns:a16="http://schemas.microsoft.com/office/drawing/2014/main" id="{507A23DF-9ABA-A505-057C-11C3B36E9CDE}"/>
              </a:ext>
            </a:extLst>
          </p:cNvPr>
          <p:cNvSpPr>
            <a:spLocks noGrp="1"/>
          </p:cNvSpPr>
          <p:nvPr>
            <p:ph idx="1"/>
          </p:nvPr>
        </p:nvSpPr>
        <p:spPr>
          <a:xfrm>
            <a:off x="251520" y="5514108"/>
            <a:ext cx="8435280" cy="797791"/>
          </a:xfrm>
        </p:spPr>
        <p:txBody>
          <a:bodyPr>
            <a:normAutofit/>
          </a:bodyPr>
          <a:lstStyle/>
          <a:p>
            <a:r>
              <a:rPr lang="en-US" noProof="0" dirty="0"/>
              <a:t>Risk = exploitability probability (EPSS) × impact (CVSS)</a:t>
            </a:r>
          </a:p>
        </p:txBody>
      </p:sp>
    </p:spTree>
    <p:extLst>
      <p:ext uri="{BB962C8B-B14F-4D97-AF65-F5344CB8AC3E}">
        <p14:creationId xmlns:p14="http://schemas.microsoft.com/office/powerpoint/2010/main" val="19175838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9F7612-5BBA-A4A2-D7CC-A4372627D45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1B362C2-0011-02FC-86E5-6F8C3E9496C9}"/>
              </a:ext>
            </a:extLst>
          </p:cNvPr>
          <p:cNvSpPr>
            <a:spLocks noGrp="1"/>
          </p:cNvSpPr>
          <p:nvPr>
            <p:ph type="title"/>
          </p:nvPr>
        </p:nvSpPr>
        <p:spPr/>
        <p:txBody>
          <a:bodyPr/>
          <a:lstStyle/>
          <a:p>
            <a:r>
              <a:rPr lang="en-US" noProof="0" dirty="0"/>
              <a:t>CVE, CVSS, EPSS</a:t>
            </a:r>
          </a:p>
        </p:txBody>
      </p:sp>
      <p:sp>
        <p:nvSpPr>
          <p:cNvPr id="4" name="Footer Placeholder 3">
            <a:extLst>
              <a:ext uri="{FF2B5EF4-FFF2-40B4-BE49-F238E27FC236}">
                <a16:creationId xmlns:a16="http://schemas.microsoft.com/office/drawing/2014/main" id="{D52AEA32-CF4C-1B1C-F667-E9289C698E65}"/>
              </a:ext>
            </a:extLst>
          </p:cNvPr>
          <p:cNvSpPr>
            <a:spLocks noGrp="1"/>
          </p:cNvSpPr>
          <p:nvPr>
            <p:ph type="ftr" sz="quarter" idx="11"/>
          </p:nvPr>
        </p:nvSpPr>
        <p:spPr/>
        <p:txBody>
          <a:bodyPr/>
          <a:lstStyle/>
          <a:p>
            <a:r>
              <a:rPr lang="en-US" dirty="0"/>
              <a:t>Colonel Blotto in Cybersecurity</a:t>
            </a:r>
          </a:p>
        </p:txBody>
      </p:sp>
      <p:sp>
        <p:nvSpPr>
          <p:cNvPr id="5" name="Slide Number Placeholder 4">
            <a:extLst>
              <a:ext uri="{FF2B5EF4-FFF2-40B4-BE49-F238E27FC236}">
                <a16:creationId xmlns:a16="http://schemas.microsoft.com/office/drawing/2014/main" id="{D5912B97-C443-3FD2-6566-108D17D13CFF}"/>
              </a:ext>
            </a:extLst>
          </p:cNvPr>
          <p:cNvSpPr>
            <a:spLocks noGrp="1"/>
          </p:cNvSpPr>
          <p:nvPr>
            <p:ph type="sldNum" sz="quarter" idx="12"/>
          </p:nvPr>
        </p:nvSpPr>
        <p:spPr/>
        <p:txBody>
          <a:bodyPr/>
          <a:lstStyle/>
          <a:p>
            <a:fld id="{4F532308-F742-4E8E-A0E9-3E442CCFFF54}" type="slidenum">
              <a:rPr lang="en-US" noProof="0" smtClean="0"/>
              <a:pPr/>
              <a:t>6</a:t>
            </a:fld>
            <a:endParaRPr lang="en-US" noProof="0" dirty="0"/>
          </a:p>
        </p:txBody>
      </p:sp>
      <p:pic>
        <p:nvPicPr>
          <p:cNvPr id="2056" name="Picture 8" descr="Who to Trust? National Vulnerability Database CVSS Accuracy Issues -  VulnCheck | Blog | VulnCheck">
            <a:extLst>
              <a:ext uri="{FF2B5EF4-FFF2-40B4-BE49-F238E27FC236}">
                <a16:creationId xmlns:a16="http://schemas.microsoft.com/office/drawing/2014/main" id="{F2A7BB31-C23F-00FF-9C69-8ACA034629F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1809" y="1751700"/>
            <a:ext cx="7640382" cy="3748561"/>
          </a:xfrm>
          <a:prstGeom prst="rect">
            <a:avLst/>
          </a:prstGeom>
          <a:noFill/>
          <a:extLst>
            <a:ext uri="{909E8E84-426E-40DD-AFC4-6F175D3DCCD1}">
              <a14:hiddenFill xmlns:a14="http://schemas.microsoft.com/office/drawing/2010/main">
                <a:solidFill>
                  <a:srgbClr val="FFFFFF"/>
                </a:solidFill>
              </a14:hiddenFill>
            </a:ext>
          </a:extLst>
        </p:spPr>
      </p:pic>
      <p:pic>
        <p:nvPicPr>
          <p:cNvPr id="3" name="Kép 2" descr="A képen szöveg, képernyőkép, Betűtípus, szám látható&#10;&#10;Előfordulhat, hogy az AI által létrehozott tartalom helytelen.">
            <a:extLst>
              <a:ext uri="{FF2B5EF4-FFF2-40B4-BE49-F238E27FC236}">
                <a16:creationId xmlns:a16="http://schemas.microsoft.com/office/drawing/2014/main" id="{9F0D8C1D-7878-D2DB-7E4D-613C7944DCDB}"/>
              </a:ext>
            </a:extLst>
          </p:cNvPr>
          <p:cNvPicPr>
            <a:picLocks noChangeAspect="1"/>
          </p:cNvPicPr>
          <p:nvPr/>
        </p:nvPicPr>
        <p:blipFill>
          <a:blip r:embed="rId4">
            <a:extLst>
              <a:ext uri="{28A0092B-C50C-407E-A947-70E740481C1C}">
                <a14:useLocalDpi xmlns:a14="http://schemas.microsoft.com/office/drawing/2010/main" val="0"/>
              </a:ext>
            </a:extLst>
          </a:blip>
          <a:srcRect l="3129" t="7944" r="2822"/>
          <a:stretch>
            <a:fillRect/>
          </a:stretch>
        </p:blipFill>
        <p:spPr>
          <a:xfrm>
            <a:off x="1559631" y="2168618"/>
            <a:ext cx="6024737" cy="2520763"/>
          </a:xfrm>
          <a:prstGeom prst="rect">
            <a:avLst/>
          </a:prstGeom>
        </p:spPr>
      </p:pic>
    </p:spTree>
    <p:extLst>
      <p:ext uri="{BB962C8B-B14F-4D97-AF65-F5344CB8AC3E}">
        <p14:creationId xmlns:p14="http://schemas.microsoft.com/office/powerpoint/2010/main" val="31282590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xit" presetSubtype="0" fill="hold" nodeType="withEffect">
                                  <p:stCondLst>
                                    <p:cond delay="0"/>
                                  </p:stCondLst>
                                  <p:childTnLst>
                                    <p:set>
                                      <p:cBhvr>
                                        <p:cTn id="8" dur="1" fill="hold">
                                          <p:stCondLst>
                                            <p:cond delay="0"/>
                                          </p:stCondLst>
                                        </p:cTn>
                                        <p:tgtEl>
                                          <p:spTgt spid="205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0" dirty="0"/>
              <a:t>Learning agents</a:t>
            </a:r>
          </a:p>
        </p:txBody>
      </p:sp>
      <p:sp>
        <p:nvSpPr>
          <p:cNvPr id="3" name="Content Placeholder 2"/>
          <p:cNvSpPr>
            <a:spLocks noGrp="1"/>
          </p:cNvSpPr>
          <p:nvPr>
            <p:ph idx="1"/>
          </p:nvPr>
        </p:nvSpPr>
        <p:spPr/>
        <p:txBody>
          <a:bodyPr/>
          <a:lstStyle/>
          <a:p>
            <a:r>
              <a:rPr lang="en-US" noProof="0" dirty="0"/>
              <a:t>Reinforcement Learning (Q-learning)</a:t>
            </a:r>
          </a:p>
          <a:p>
            <a:endParaRPr lang="en-US" noProof="0" dirty="0"/>
          </a:p>
          <a:p>
            <a:r>
              <a:rPr lang="en-US" noProof="0" dirty="0"/>
              <a:t>Attacker → maximize gain</a:t>
            </a:r>
          </a:p>
          <a:p>
            <a:endParaRPr lang="en-US" noProof="0" dirty="0"/>
          </a:p>
          <a:p>
            <a:r>
              <a:rPr lang="en-US" noProof="0" dirty="0"/>
              <a:t>Defender → minimize loss</a:t>
            </a:r>
          </a:p>
        </p:txBody>
      </p:sp>
      <p:sp>
        <p:nvSpPr>
          <p:cNvPr id="4" name="Footer Placeholder 3"/>
          <p:cNvSpPr>
            <a:spLocks noGrp="1"/>
          </p:cNvSpPr>
          <p:nvPr>
            <p:ph type="ftr" sz="quarter" idx="11"/>
          </p:nvPr>
        </p:nvSpPr>
        <p:spPr/>
        <p:txBody>
          <a:bodyPr/>
          <a:lstStyle/>
          <a:p>
            <a:r>
              <a:rPr lang="en-US" noProof="0" dirty="0"/>
              <a:t>Colonel Blotto in Cybersecurity</a:t>
            </a:r>
          </a:p>
        </p:txBody>
      </p:sp>
      <p:sp>
        <p:nvSpPr>
          <p:cNvPr id="5" name="Slide Number Placeholder 4"/>
          <p:cNvSpPr>
            <a:spLocks noGrp="1"/>
          </p:cNvSpPr>
          <p:nvPr>
            <p:ph type="sldNum" sz="quarter" idx="12"/>
          </p:nvPr>
        </p:nvSpPr>
        <p:spPr/>
        <p:txBody>
          <a:bodyPr/>
          <a:lstStyle/>
          <a:p>
            <a:fld id="{4F532308-F742-4E8E-A0E9-3E442CCFFF54}" type="slidenum">
              <a:rPr lang="en-US" noProof="0" smtClean="0"/>
              <a:pPr/>
              <a:t>7</a:t>
            </a:fld>
            <a:endParaRPr lang="en-US" noProof="0" dirty="0"/>
          </a:p>
        </p:txBody>
      </p:sp>
      <p:pic>
        <p:nvPicPr>
          <p:cNvPr id="12290" name="Picture 2" descr="The Ultimate Beginner's Guide to Reinforcement Learning | by Siddharth  Sharma | TDS Archive | Medium">
            <a:extLst>
              <a:ext uri="{FF2B5EF4-FFF2-40B4-BE49-F238E27FC236}">
                <a16:creationId xmlns:a16="http://schemas.microsoft.com/office/drawing/2014/main" id="{6FA647C2-A635-1C5C-BB0A-72B2B6D8A7D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38250" y="3429000"/>
            <a:ext cx="6667500" cy="2571750"/>
          </a:xfrm>
          <a:prstGeom prst="rect">
            <a:avLst/>
          </a:prstGeom>
          <a:noFill/>
          <a:extLst>
            <a:ext uri="{909E8E84-426E-40DD-AFC4-6F175D3DCCD1}">
              <a14:hiddenFill xmlns:a14="http://schemas.microsoft.com/office/drawing/2010/main">
                <a:solidFill>
                  <a:srgbClr val="FFFFFF"/>
                </a:solidFill>
              </a14:hiddenFill>
            </a:ext>
          </a:extLst>
        </p:spPr>
      </p:pic>
      <p:pic>
        <p:nvPicPr>
          <p:cNvPr id="3074" name="Picture 2" descr="Machine learning Generic color lineal-color icon | Freepik">
            <a:extLst>
              <a:ext uri="{FF2B5EF4-FFF2-40B4-BE49-F238E27FC236}">
                <a16:creationId xmlns:a16="http://schemas.microsoft.com/office/drawing/2014/main" id="{477AF466-8B04-3527-815F-95ADB7BF161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49856" y="1610413"/>
            <a:ext cx="1260911" cy="126091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352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571DB2-AD0D-D1F9-2536-0BFC8806BAC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D192158-EC93-1765-A4EF-B9650A2B51CA}"/>
              </a:ext>
            </a:extLst>
          </p:cNvPr>
          <p:cNvSpPr>
            <a:spLocks noGrp="1"/>
          </p:cNvSpPr>
          <p:nvPr>
            <p:ph type="title"/>
          </p:nvPr>
        </p:nvSpPr>
        <p:spPr/>
        <p:txBody>
          <a:bodyPr>
            <a:normAutofit/>
          </a:bodyPr>
          <a:lstStyle/>
          <a:p>
            <a:r>
              <a:rPr lang="en-US" noProof="0" dirty="0"/>
              <a:t>I</a:t>
            </a:r>
            <a:r>
              <a:rPr lang="hu-HU" noProof="0" dirty="0" err="1"/>
              <a:t>nformation</a:t>
            </a:r>
            <a:r>
              <a:rPr lang="hu-HU" noProof="0" dirty="0"/>
              <a:t> </a:t>
            </a:r>
            <a:r>
              <a:rPr lang="hu-HU" noProof="0" dirty="0" err="1"/>
              <a:t>scenarios</a:t>
            </a:r>
            <a:endParaRPr lang="en-US" noProof="0" dirty="0"/>
          </a:p>
        </p:txBody>
      </p:sp>
      <p:sp>
        <p:nvSpPr>
          <p:cNvPr id="4" name="Footer Placeholder 3">
            <a:extLst>
              <a:ext uri="{FF2B5EF4-FFF2-40B4-BE49-F238E27FC236}">
                <a16:creationId xmlns:a16="http://schemas.microsoft.com/office/drawing/2014/main" id="{3641F868-8505-FA1F-E6B4-9CEC40B38D37}"/>
              </a:ext>
            </a:extLst>
          </p:cNvPr>
          <p:cNvSpPr>
            <a:spLocks noGrp="1"/>
          </p:cNvSpPr>
          <p:nvPr>
            <p:ph type="ftr" sz="quarter" idx="11"/>
          </p:nvPr>
        </p:nvSpPr>
        <p:spPr/>
        <p:txBody>
          <a:bodyPr/>
          <a:lstStyle/>
          <a:p>
            <a:r>
              <a:rPr lang="en-US" noProof="0" dirty="0"/>
              <a:t>Colonel Blotto in Cybersecurity</a:t>
            </a:r>
          </a:p>
        </p:txBody>
      </p:sp>
      <p:sp>
        <p:nvSpPr>
          <p:cNvPr id="5" name="Slide Number Placeholder 4">
            <a:extLst>
              <a:ext uri="{FF2B5EF4-FFF2-40B4-BE49-F238E27FC236}">
                <a16:creationId xmlns:a16="http://schemas.microsoft.com/office/drawing/2014/main" id="{C208501A-DBCD-DA0B-31D2-7DDBDCCDCDDC}"/>
              </a:ext>
            </a:extLst>
          </p:cNvPr>
          <p:cNvSpPr>
            <a:spLocks noGrp="1"/>
          </p:cNvSpPr>
          <p:nvPr>
            <p:ph type="sldNum" sz="quarter" idx="12"/>
          </p:nvPr>
        </p:nvSpPr>
        <p:spPr/>
        <p:txBody>
          <a:bodyPr/>
          <a:lstStyle/>
          <a:p>
            <a:fld id="{4F532308-F742-4E8E-A0E9-3E442CCFFF54}" type="slidenum">
              <a:rPr lang="en-US" noProof="0" smtClean="0"/>
              <a:pPr/>
              <a:t>8</a:t>
            </a:fld>
            <a:endParaRPr lang="en-US" noProof="0" dirty="0"/>
          </a:p>
        </p:txBody>
      </p:sp>
      <p:graphicFrame>
        <p:nvGraphicFramePr>
          <p:cNvPr id="10" name="Táblázat 9">
            <a:extLst>
              <a:ext uri="{FF2B5EF4-FFF2-40B4-BE49-F238E27FC236}">
                <a16:creationId xmlns:a16="http://schemas.microsoft.com/office/drawing/2014/main" id="{C9CB86E8-C4AD-FAF1-E93E-1CD0BD6998B1}"/>
              </a:ext>
            </a:extLst>
          </p:cNvPr>
          <p:cNvGraphicFramePr>
            <a:graphicFrameLocks noGrp="1"/>
          </p:cNvGraphicFramePr>
          <p:nvPr>
            <p:extLst>
              <p:ext uri="{D42A27DB-BD31-4B8C-83A1-F6EECF244321}">
                <p14:modId xmlns:p14="http://schemas.microsoft.com/office/powerpoint/2010/main" val="1983117033"/>
              </p:ext>
            </p:extLst>
          </p:nvPr>
        </p:nvGraphicFramePr>
        <p:xfrm>
          <a:off x="435349" y="1071576"/>
          <a:ext cx="8280000" cy="5184000"/>
        </p:xfrm>
        <a:graphic>
          <a:graphicData uri="http://schemas.openxmlformats.org/drawingml/2006/table">
            <a:tbl>
              <a:tblPr>
                <a:tableStyleId>{5C22544A-7EE6-4342-B048-85BDC9FD1C3A}</a:tableStyleId>
              </a:tblPr>
              <a:tblGrid>
                <a:gridCol w="2274324">
                  <a:extLst>
                    <a:ext uri="{9D8B030D-6E8A-4147-A177-3AD203B41FA5}">
                      <a16:colId xmlns:a16="http://schemas.microsoft.com/office/drawing/2014/main" val="71512505"/>
                    </a:ext>
                  </a:extLst>
                </a:gridCol>
                <a:gridCol w="1037676">
                  <a:extLst>
                    <a:ext uri="{9D8B030D-6E8A-4147-A177-3AD203B41FA5}">
                      <a16:colId xmlns:a16="http://schemas.microsoft.com/office/drawing/2014/main" val="2285647785"/>
                    </a:ext>
                  </a:extLst>
                </a:gridCol>
                <a:gridCol w="1656000">
                  <a:extLst>
                    <a:ext uri="{9D8B030D-6E8A-4147-A177-3AD203B41FA5}">
                      <a16:colId xmlns:a16="http://schemas.microsoft.com/office/drawing/2014/main" val="1400573619"/>
                    </a:ext>
                  </a:extLst>
                </a:gridCol>
                <a:gridCol w="1656000">
                  <a:extLst>
                    <a:ext uri="{9D8B030D-6E8A-4147-A177-3AD203B41FA5}">
                      <a16:colId xmlns:a16="http://schemas.microsoft.com/office/drawing/2014/main" val="1798518058"/>
                    </a:ext>
                  </a:extLst>
                </a:gridCol>
                <a:gridCol w="1656000">
                  <a:extLst>
                    <a:ext uri="{9D8B030D-6E8A-4147-A177-3AD203B41FA5}">
                      <a16:colId xmlns:a16="http://schemas.microsoft.com/office/drawing/2014/main" val="1975158619"/>
                    </a:ext>
                  </a:extLst>
                </a:gridCol>
              </a:tblGrid>
              <a:tr h="720000">
                <a:tc rowSpan="2">
                  <a:txBody>
                    <a:bodyPr/>
                    <a:lstStyle/>
                    <a:p>
                      <a:pPr>
                        <a:buNone/>
                      </a:pPr>
                      <a:r>
                        <a:rPr lang="en-US" sz="2000" i="1" noProof="0" dirty="0"/>
                        <a:t>Scenario</a:t>
                      </a:r>
                    </a:p>
                  </a:txBody>
                  <a:tcPr marL="65019" marR="65019" marT="32509" marB="32509" anchor="ctr"/>
                </a:tc>
                <a:tc gridSpan="2">
                  <a:txBody>
                    <a:bodyPr/>
                    <a:lstStyle/>
                    <a:p>
                      <a:pPr algn="ctr">
                        <a:buNone/>
                      </a:pPr>
                      <a:r>
                        <a:rPr lang="en-US" sz="2000" i="1" noProof="0" dirty="0"/>
                        <a:t>EPSS visibility</a:t>
                      </a:r>
                    </a:p>
                  </a:txBody>
                  <a:tcPr marL="65019" marR="65019" marT="32509" marB="32509" anchor="ctr"/>
                </a:tc>
                <a:tc hMerge="1">
                  <a:txBody>
                    <a:bodyPr/>
                    <a:lstStyle/>
                    <a:p>
                      <a:pPr>
                        <a:buNone/>
                      </a:pPr>
                      <a:endParaRPr lang="hu-HU" sz="2000" dirty="0"/>
                    </a:p>
                  </a:txBody>
                  <a:tcPr marL="65019" marR="65019" marT="32509" marB="32509" anchor="ctr"/>
                </a:tc>
                <a:tc gridSpan="2">
                  <a:txBody>
                    <a:bodyPr/>
                    <a:lstStyle/>
                    <a:p>
                      <a:pPr algn="ctr">
                        <a:buNone/>
                      </a:pPr>
                      <a:r>
                        <a:rPr lang="en-US" sz="2000" i="1" noProof="0" dirty="0"/>
                        <a:t>Strategy observability</a:t>
                      </a:r>
                    </a:p>
                  </a:txBody>
                  <a:tcPr marL="65019" marR="65019" marT="32509" marB="32509" anchor="ctr"/>
                </a:tc>
                <a:tc hMerge="1">
                  <a:txBody>
                    <a:bodyPr/>
                    <a:lstStyle/>
                    <a:p>
                      <a:pPr>
                        <a:buNone/>
                      </a:pPr>
                      <a:endParaRPr lang="hu-HU" sz="2000" dirty="0"/>
                    </a:p>
                  </a:txBody>
                  <a:tcPr marL="65019" marR="65019" marT="32509" marB="32509" anchor="ctr"/>
                </a:tc>
                <a:extLst>
                  <a:ext uri="{0D108BD9-81ED-4DB2-BD59-A6C34878D82A}">
                    <a16:rowId xmlns:a16="http://schemas.microsoft.com/office/drawing/2014/main" val="3242483805"/>
                  </a:ext>
                </a:extLst>
              </a:tr>
              <a:tr h="720000">
                <a:tc vMerge="1">
                  <a:txBody>
                    <a:bodyPr/>
                    <a:lstStyle/>
                    <a:p>
                      <a:pPr>
                        <a:buNone/>
                      </a:pPr>
                      <a:endParaRPr lang="hu-HU" sz="2000" dirty="0"/>
                    </a:p>
                  </a:txBody>
                  <a:tcPr marL="65019" marR="65019" marT="32509" marB="32509" anchor="ctr"/>
                </a:tc>
                <a:tc>
                  <a:txBody>
                    <a:bodyPr/>
                    <a:lstStyle/>
                    <a:p>
                      <a:pPr algn="ctr">
                        <a:buNone/>
                      </a:pPr>
                      <a:r>
                        <a:rPr lang="en-US" sz="2000" i="1" kern="1200" noProof="0" dirty="0">
                          <a:solidFill>
                            <a:schemeClr val="dk1"/>
                          </a:solidFill>
                          <a:latin typeface="+mn-lt"/>
                          <a:ea typeface="+mn-ea"/>
                          <a:cs typeface="+mn-cs"/>
                        </a:rPr>
                        <a:t>Attacker</a:t>
                      </a:r>
                    </a:p>
                  </a:txBody>
                  <a:tcPr marL="65019" marR="65019" marT="32509" marB="32509" anchor="ctr"/>
                </a:tc>
                <a:tc>
                  <a:txBody>
                    <a:bodyPr/>
                    <a:lstStyle/>
                    <a:p>
                      <a:pPr algn="ctr">
                        <a:buNone/>
                      </a:pPr>
                      <a:r>
                        <a:rPr lang="en-US" sz="2000" i="1" kern="1200" noProof="0" dirty="0">
                          <a:solidFill>
                            <a:schemeClr val="dk1"/>
                          </a:solidFill>
                          <a:latin typeface="+mn-lt"/>
                          <a:ea typeface="+mn-ea"/>
                          <a:cs typeface="+mn-cs"/>
                        </a:rPr>
                        <a:t>Defender</a:t>
                      </a:r>
                    </a:p>
                  </a:txBody>
                  <a:tcPr marL="65019" marR="65019" marT="32509" marB="32509" anchor="ctr"/>
                </a:tc>
                <a:tc>
                  <a:txBody>
                    <a:bodyPr/>
                    <a:lstStyle/>
                    <a:p>
                      <a:pPr algn="ctr">
                        <a:buNone/>
                      </a:pPr>
                      <a:r>
                        <a:rPr lang="en-US" sz="2000" i="1" kern="1200" noProof="0" dirty="0">
                          <a:solidFill>
                            <a:schemeClr val="dk1"/>
                          </a:solidFill>
                          <a:latin typeface="+mn-lt"/>
                          <a:ea typeface="+mn-ea"/>
                          <a:cs typeface="+mn-cs"/>
                        </a:rPr>
                        <a:t>Attacker</a:t>
                      </a:r>
                      <a:endParaRPr lang="en-US" sz="2000" i="1" noProof="0" dirty="0"/>
                    </a:p>
                  </a:txBody>
                  <a:tcPr marL="65019" marR="65019" marT="32509" marB="32509"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i="1" kern="1200" noProof="0" dirty="0">
                          <a:solidFill>
                            <a:schemeClr val="dk1"/>
                          </a:solidFill>
                          <a:latin typeface="+mn-lt"/>
                          <a:ea typeface="+mn-ea"/>
                          <a:cs typeface="+mn-cs"/>
                        </a:rPr>
                        <a:t>Defender</a:t>
                      </a:r>
                    </a:p>
                  </a:txBody>
                  <a:tcPr marL="65019" marR="65019" marT="32509" marB="32509" anchor="ctr"/>
                </a:tc>
                <a:extLst>
                  <a:ext uri="{0D108BD9-81ED-4DB2-BD59-A6C34878D82A}">
                    <a16:rowId xmlns:a16="http://schemas.microsoft.com/office/drawing/2014/main" val="3799232837"/>
                  </a:ext>
                </a:extLst>
              </a:tr>
              <a:tr h="936000">
                <a:tc>
                  <a:txBody>
                    <a:bodyPr/>
                    <a:lstStyle/>
                    <a:p>
                      <a:pPr>
                        <a:buNone/>
                      </a:pPr>
                      <a:r>
                        <a:rPr lang="en-US" sz="2000" noProof="0" dirty="0"/>
                        <a:t>R0 – Symmetric baseline</a:t>
                      </a:r>
                    </a:p>
                  </a:txBody>
                  <a:tcPr marL="65019" marR="65019" marT="32509" marB="32509" anchor="ctr"/>
                </a:tc>
                <a:tc>
                  <a:txBody>
                    <a:bodyPr/>
                    <a:lstStyle/>
                    <a:p>
                      <a:pPr algn="ctr">
                        <a:buNone/>
                      </a:pPr>
                      <a:r>
                        <a:rPr lang="en-US" sz="2000" noProof="0" dirty="0">
                          <a:solidFill>
                            <a:srgbClr val="009A4D"/>
                          </a:solidFill>
                        </a:rPr>
                        <a:t>✓</a:t>
                      </a:r>
                    </a:p>
                  </a:txBody>
                  <a:tcPr marL="65019" marR="65019" marT="32509" marB="32509" anchor="ctr"/>
                </a:tc>
                <a:tc>
                  <a:txBody>
                    <a:bodyPr/>
                    <a:lstStyle/>
                    <a:p>
                      <a:pPr algn="ctr">
                        <a:buNone/>
                      </a:pPr>
                      <a:r>
                        <a:rPr lang="en-US" sz="2000" noProof="0" dirty="0">
                          <a:solidFill>
                            <a:srgbClr val="009A4D"/>
                          </a:solidFill>
                        </a:rPr>
                        <a:t>✓</a:t>
                      </a:r>
                    </a:p>
                  </a:txBody>
                  <a:tcPr marL="65019" marR="65019" marT="32509" marB="32509"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noProof="0" dirty="0">
                          <a:solidFill>
                            <a:srgbClr val="FF0000"/>
                          </a:solidFill>
                        </a:rPr>
                        <a:t>✗</a:t>
                      </a:r>
                    </a:p>
                  </a:txBody>
                  <a:tcPr marL="65019" marR="65019" marT="32509" marB="32509"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noProof="0" dirty="0">
                          <a:solidFill>
                            <a:srgbClr val="FF0000"/>
                          </a:solidFill>
                        </a:rPr>
                        <a:t>✗</a:t>
                      </a:r>
                    </a:p>
                  </a:txBody>
                  <a:tcPr marL="65019" marR="65019" marT="32509" marB="32509" anchor="ctr"/>
                </a:tc>
                <a:extLst>
                  <a:ext uri="{0D108BD9-81ED-4DB2-BD59-A6C34878D82A}">
                    <a16:rowId xmlns:a16="http://schemas.microsoft.com/office/drawing/2014/main" val="2851134693"/>
                  </a:ext>
                </a:extLst>
              </a:tr>
              <a:tr h="936000">
                <a:tc>
                  <a:txBody>
                    <a:bodyPr/>
                    <a:lstStyle/>
                    <a:p>
                      <a:pPr>
                        <a:buNone/>
                      </a:pPr>
                      <a:r>
                        <a:rPr lang="en-US" sz="2000" noProof="0" dirty="0"/>
                        <a:t>R1 – Defender  intelligence edge</a:t>
                      </a:r>
                    </a:p>
                  </a:txBody>
                  <a:tcPr marL="65019" marR="65019" marT="32509" marB="32509" anchor="ctr"/>
                </a:tc>
                <a:tc>
                  <a:txBody>
                    <a:bodyPr/>
                    <a:lstStyle/>
                    <a:p>
                      <a:pPr algn="ctr">
                        <a:buNone/>
                      </a:pPr>
                      <a:r>
                        <a:rPr lang="en-US" sz="2000" noProof="0" dirty="0">
                          <a:solidFill>
                            <a:srgbClr val="FF0000"/>
                          </a:solidFill>
                        </a:rPr>
                        <a:t>✗</a:t>
                      </a:r>
                    </a:p>
                  </a:txBody>
                  <a:tcPr marL="65019" marR="65019" marT="32509" marB="32509" anchor="ctr"/>
                </a:tc>
                <a:tc>
                  <a:txBody>
                    <a:bodyPr/>
                    <a:lstStyle/>
                    <a:p>
                      <a:pPr algn="ctr">
                        <a:buNone/>
                      </a:pPr>
                      <a:r>
                        <a:rPr lang="en-US" sz="2000" noProof="0" dirty="0">
                          <a:solidFill>
                            <a:srgbClr val="009A4D"/>
                          </a:solidFill>
                        </a:rPr>
                        <a:t>✓</a:t>
                      </a:r>
                    </a:p>
                  </a:txBody>
                  <a:tcPr marL="65019" marR="65019" marT="32509" marB="32509"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noProof="0" dirty="0">
                          <a:solidFill>
                            <a:srgbClr val="FF0000"/>
                          </a:solidFill>
                        </a:rPr>
                        <a:t>✗</a:t>
                      </a:r>
                    </a:p>
                  </a:txBody>
                  <a:tcPr marL="65019" marR="65019" marT="32509" marB="32509" anchor="ctr"/>
                </a:tc>
                <a:tc>
                  <a:txBody>
                    <a:bodyPr/>
                    <a:lstStyle/>
                    <a:p>
                      <a:pPr algn="ctr">
                        <a:buNone/>
                      </a:pPr>
                      <a:r>
                        <a:rPr lang="en-US" sz="2000" noProof="0" dirty="0">
                          <a:solidFill>
                            <a:srgbClr val="009A4D"/>
                          </a:solidFill>
                        </a:rPr>
                        <a:t>✓</a:t>
                      </a:r>
                    </a:p>
                  </a:txBody>
                  <a:tcPr marL="65019" marR="65019" marT="32509" marB="32509" anchor="ctr"/>
                </a:tc>
                <a:extLst>
                  <a:ext uri="{0D108BD9-81ED-4DB2-BD59-A6C34878D82A}">
                    <a16:rowId xmlns:a16="http://schemas.microsoft.com/office/drawing/2014/main" val="4023009933"/>
                  </a:ext>
                </a:extLst>
              </a:tr>
              <a:tr h="936000">
                <a:tc>
                  <a:txBody>
                    <a:bodyPr/>
                    <a:lstStyle/>
                    <a:p>
                      <a:pPr>
                        <a:buNone/>
                      </a:pPr>
                      <a:r>
                        <a:rPr lang="en-US" sz="2000" noProof="0" dirty="0"/>
                        <a:t>R2 – Attacker intelligence edge</a:t>
                      </a:r>
                    </a:p>
                  </a:txBody>
                  <a:tcPr marL="65019" marR="65019" marT="32509" marB="32509" anchor="ctr"/>
                </a:tc>
                <a:tc>
                  <a:txBody>
                    <a:bodyPr/>
                    <a:lstStyle/>
                    <a:p>
                      <a:pPr algn="ctr">
                        <a:buNone/>
                      </a:pPr>
                      <a:r>
                        <a:rPr lang="en-US" sz="2000" noProof="0" dirty="0">
                          <a:solidFill>
                            <a:srgbClr val="009A4D"/>
                          </a:solidFill>
                        </a:rPr>
                        <a:t>✓</a:t>
                      </a:r>
                    </a:p>
                  </a:txBody>
                  <a:tcPr marL="65019" marR="65019" marT="32509" marB="32509"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noProof="0" dirty="0">
                          <a:solidFill>
                            <a:srgbClr val="FF0000"/>
                          </a:solidFill>
                        </a:rPr>
                        <a:t>✗</a:t>
                      </a:r>
                    </a:p>
                  </a:txBody>
                  <a:tcPr marL="65019" marR="65019" marT="32509" marB="32509"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noProof="0" dirty="0">
                          <a:solidFill>
                            <a:srgbClr val="FF0000"/>
                          </a:solidFill>
                        </a:rPr>
                        <a:t>✗</a:t>
                      </a:r>
                    </a:p>
                  </a:txBody>
                  <a:tcPr marL="65019" marR="65019" marT="32509" marB="32509"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noProof="0" dirty="0">
                          <a:solidFill>
                            <a:srgbClr val="FF0000"/>
                          </a:solidFill>
                        </a:rPr>
                        <a:t>✗</a:t>
                      </a:r>
                    </a:p>
                  </a:txBody>
                  <a:tcPr marL="65019" marR="65019" marT="32509" marB="32509" anchor="ctr"/>
                </a:tc>
                <a:extLst>
                  <a:ext uri="{0D108BD9-81ED-4DB2-BD59-A6C34878D82A}">
                    <a16:rowId xmlns:a16="http://schemas.microsoft.com/office/drawing/2014/main" val="227456140"/>
                  </a:ext>
                </a:extLst>
              </a:tr>
              <a:tr h="936000">
                <a:tc>
                  <a:txBody>
                    <a:bodyPr/>
                    <a:lstStyle/>
                    <a:p>
                      <a:pPr>
                        <a:buNone/>
                      </a:pPr>
                      <a:r>
                        <a:rPr lang="en-US" sz="2000" noProof="0" dirty="0"/>
                        <a:t>R3 – Hybrid asymmetry</a:t>
                      </a:r>
                    </a:p>
                  </a:txBody>
                  <a:tcPr marL="65019" marR="65019" marT="32509" marB="32509" anchor="ctr"/>
                </a:tc>
                <a:tc>
                  <a:txBody>
                    <a:bodyPr/>
                    <a:lstStyle/>
                    <a:p>
                      <a:pPr algn="ctr">
                        <a:buNone/>
                      </a:pPr>
                      <a:r>
                        <a:rPr lang="en-US" sz="2000" noProof="0" dirty="0">
                          <a:solidFill>
                            <a:srgbClr val="009A4D"/>
                          </a:solidFill>
                        </a:rPr>
                        <a:t>✓</a:t>
                      </a:r>
                    </a:p>
                  </a:txBody>
                  <a:tcPr marL="65019" marR="65019" marT="32509" marB="32509" anchor="ctr"/>
                </a:tc>
                <a:tc>
                  <a:txBody>
                    <a:bodyPr/>
                    <a:lstStyle/>
                    <a:p>
                      <a:pPr algn="ctr">
                        <a:buNone/>
                      </a:pPr>
                      <a:r>
                        <a:rPr lang="en-US" sz="2000" noProof="0" dirty="0">
                          <a:solidFill>
                            <a:srgbClr val="009A4D"/>
                          </a:solidFill>
                        </a:rPr>
                        <a:t>✓</a:t>
                      </a:r>
                    </a:p>
                  </a:txBody>
                  <a:tcPr marL="65019" marR="65019" marT="32509" marB="32509"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noProof="0" dirty="0">
                          <a:solidFill>
                            <a:srgbClr val="FF0000"/>
                          </a:solidFill>
                        </a:rPr>
                        <a:t>✗</a:t>
                      </a:r>
                    </a:p>
                  </a:txBody>
                  <a:tcPr marL="65019" marR="65019" marT="32509" marB="32509" anchor="ctr"/>
                </a:tc>
                <a:tc>
                  <a:txBody>
                    <a:bodyPr/>
                    <a:lstStyle/>
                    <a:p>
                      <a:pPr algn="ctr">
                        <a:buNone/>
                      </a:pPr>
                      <a:r>
                        <a:rPr lang="en-US" sz="2000" noProof="0" dirty="0">
                          <a:solidFill>
                            <a:srgbClr val="009A4D"/>
                          </a:solidFill>
                        </a:rPr>
                        <a:t>✓</a:t>
                      </a:r>
                    </a:p>
                  </a:txBody>
                  <a:tcPr marL="65019" marR="65019" marT="32509" marB="32509" anchor="ctr"/>
                </a:tc>
                <a:extLst>
                  <a:ext uri="{0D108BD9-81ED-4DB2-BD59-A6C34878D82A}">
                    <a16:rowId xmlns:a16="http://schemas.microsoft.com/office/drawing/2014/main" val="857517687"/>
                  </a:ext>
                </a:extLst>
              </a:tr>
            </a:tbl>
          </a:graphicData>
        </a:graphic>
      </p:graphicFrame>
    </p:spTree>
    <p:extLst>
      <p:ext uri="{BB962C8B-B14F-4D97-AF65-F5344CB8AC3E}">
        <p14:creationId xmlns:p14="http://schemas.microsoft.com/office/powerpoint/2010/main" val="40923670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125FAF-E917-6425-CEB2-48E8554FEF1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3AD8538-D4AE-79EF-C41C-8DBAA7477C9D}"/>
              </a:ext>
            </a:extLst>
          </p:cNvPr>
          <p:cNvSpPr>
            <a:spLocks noGrp="1"/>
          </p:cNvSpPr>
          <p:nvPr>
            <p:ph type="title"/>
          </p:nvPr>
        </p:nvSpPr>
        <p:spPr/>
        <p:txBody>
          <a:bodyPr>
            <a:normAutofit/>
          </a:bodyPr>
          <a:lstStyle/>
          <a:p>
            <a:r>
              <a:rPr lang="hu-HU" dirty="0" err="1"/>
              <a:t>Resource</a:t>
            </a:r>
            <a:r>
              <a:rPr lang="hu-HU" dirty="0"/>
              <a:t> </a:t>
            </a:r>
            <a:r>
              <a:rPr lang="hu-HU" dirty="0" err="1"/>
              <a:t>allocation</a:t>
            </a:r>
            <a:r>
              <a:rPr lang="hu-HU" dirty="0"/>
              <a:t> </a:t>
            </a:r>
            <a:r>
              <a:rPr lang="hu-HU" dirty="0" err="1"/>
              <a:t>strategies</a:t>
            </a:r>
            <a:endParaRPr lang="en-US" noProof="0" dirty="0"/>
          </a:p>
        </p:txBody>
      </p:sp>
      <p:sp>
        <p:nvSpPr>
          <p:cNvPr id="4" name="Footer Placeholder 3">
            <a:extLst>
              <a:ext uri="{FF2B5EF4-FFF2-40B4-BE49-F238E27FC236}">
                <a16:creationId xmlns:a16="http://schemas.microsoft.com/office/drawing/2014/main" id="{1CE2E75C-882F-72C1-FD44-2E89C0AD0DA0}"/>
              </a:ext>
            </a:extLst>
          </p:cNvPr>
          <p:cNvSpPr>
            <a:spLocks noGrp="1"/>
          </p:cNvSpPr>
          <p:nvPr>
            <p:ph type="ftr" sz="quarter" idx="11"/>
          </p:nvPr>
        </p:nvSpPr>
        <p:spPr/>
        <p:txBody>
          <a:bodyPr/>
          <a:lstStyle/>
          <a:p>
            <a:r>
              <a:rPr lang="en-US" dirty="0"/>
              <a:t>Colonel Blotto in Cybersecurity</a:t>
            </a:r>
          </a:p>
        </p:txBody>
      </p:sp>
      <p:sp>
        <p:nvSpPr>
          <p:cNvPr id="5" name="Slide Number Placeholder 4">
            <a:extLst>
              <a:ext uri="{FF2B5EF4-FFF2-40B4-BE49-F238E27FC236}">
                <a16:creationId xmlns:a16="http://schemas.microsoft.com/office/drawing/2014/main" id="{46A424E9-E220-83AD-C0CD-120F1155FDD6}"/>
              </a:ext>
            </a:extLst>
          </p:cNvPr>
          <p:cNvSpPr>
            <a:spLocks noGrp="1"/>
          </p:cNvSpPr>
          <p:nvPr>
            <p:ph type="sldNum" sz="quarter" idx="12"/>
          </p:nvPr>
        </p:nvSpPr>
        <p:spPr/>
        <p:txBody>
          <a:bodyPr/>
          <a:lstStyle/>
          <a:p>
            <a:fld id="{4F532308-F742-4E8E-A0E9-3E442CCFFF54}" type="slidenum">
              <a:rPr lang="en-US" noProof="0" smtClean="0"/>
              <a:pPr/>
              <a:t>9</a:t>
            </a:fld>
            <a:endParaRPr lang="en-US" noProof="0" dirty="0"/>
          </a:p>
        </p:txBody>
      </p:sp>
      <p:graphicFrame>
        <p:nvGraphicFramePr>
          <p:cNvPr id="7" name="Táblázat 6">
            <a:extLst>
              <a:ext uri="{FF2B5EF4-FFF2-40B4-BE49-F238E27FC236}">
                <a16:creationId xmlns:a16="http://schemas.microsoft.com/office/drawing/2014/main" id="{7206D6C4-52DF-4D01-316C-1EBE223F0AB8}"/>
              </a:ext>
            </a:extLst>
          </p:cNvPr>
          <p:cNvGraphicFramePr>
            <a:graphicFrameLocks noGrp="1"/>
          </p:cNvGraphicFramePr>
          <p:nvPr>
            <p:extLst>
              <p:ext uri="{D42A27DB-BD31-4B8C-83A1-F6EECF244321}">
                <p14:modId xmlns:p14="http://schemas.microsoft.com/office/powerpoint/2010/main" val="3117834656"/>
              </p:ext>
            </p:extLst>
          </p:nvPr>
        </p:nvGraphicFramePr>
        <p:xfrm>
          <a:off x="1677371" y="1017480"/>
          <a:ext cx="5789258" cy="4038134"/>
        </p:xfrm>
        <a:graphic>
          <a:graphicData uri="http://schemas.openxmlformats.org/drawingml/2006/table">
            <a:tbl>
              <a:tblPr>
                <a:tableStyleId>{5C22544A-7EE6-4342-B048-85BDC9FD1C3A}</a:tableStyleId>
              </a:tblPr>
              <a:tblGrid>
                <a:gridCol w="2894629">
                  <a:extLst>
                    <a:ext uri="{9D8B030D-6E8A-4147-A177-3AD203B41FA5}">
                      <a16:colId xmlns:a16="http://schemas.microsoft.com/office/drawing/2014/main" val="71512505"/>
                    </a:ext>
                  </a:extLst>
                </a:gridCol>
                <a:gridCol w="2894629">
                  <a:extLst>
                    <a:ext uri="{9D8B030D-6E8A-4147-A177-3AD203B41FA5}">
                      <a16:colId xmlns:a16="http://schemas.microsoft.com/office/drawing/2014/main" val="2285647785"/>
                    </a:ext>
                  </a:extLst>
                </a:gridCol>
              </a:tblGrid>
              <a:tr h="560586">
                <a:tc>
                  <a:txBody>
                    <a:bodyPr/>
                    <a:lstStyle/>
                    <a:p>
                      <a:pPr>
                        <a:buNone/>
                      </a:pPr>
                      <a:r>
                        <a:rPr lang="hu-HU" sz="2000" i="1" noProof="0" dirty="0" err="1"/>
                        <a:t>Attacker</a:t>
                      </a:r>
                      <a:r>
                        <a:rPr lang="hu-HU" sz="2000" i="1" noProof="0" dirty="0"/>
                        <a:t> </a:t>
                      </a:r>
                      <a:r>
                        <a:rPr lang="hu-HU" sz="2000" i="1" noProof="0" dirty="0" err="1"/>
                        <a:t>Strategies</a:t>
                      </a:r>
                      <a:endParaRPr lang="en-US" sz="2000" i="1" noProof="0" dirty="0"/>
                    </a:p>
                  </a:txBody>
                  <a:tcPr marL="65019" marR="65019" marT="32509" marB="32509" anchor="ctr"/>
                </a:tc>
                <a:tc>
                  <a:txBody>
                    <a:bodyPr/>
                    <a:lstStyle/>
                    <a:p>
                      <a:pPr>
                        <a:buNone/>
                      </a:pPr>
                      <a:r>
                        <a:rPr lang="hu-HU" sz="2000" i="1" noProof="0" dirty="0" err="1"/>
                        <a:t>Defender</a:t>
                      </a:r>
                      <a:r>
                        <a:rPr lang="hu-HU" sz="2000" i="1" noProof="0" dirty="0"/>
                        <a:t> </a:t>
                      </a:r>
                      <a:r>
                        <a:rPr lang="hu-HU" sz="2000" i="1" noProof="0" dirty="0" err="1"/>
                        <a:t>Strategies</a:t>
                      </a:r>
                      <a:endParaRPr lang="en-US" sz="2000" i="1" noProof="0" dirty="0"/>
                    </a:p>
                  </a:txBody>
                  <a:tcPr marL="65019" marR="65019" marT="32509" marB="32509" anchor="ctr"/>
                </a:tc>
                <a:extLst>
                  <a:ext uri="{0D108BD9-81ED-4DB2-BD59-A6C34878D82A}">
                    <a16:rowId xmlns:a16="http://schemas.microsoft.com/office/drawing/2014/main" val="3242483805"/>
                  </a:ext>
                </a:extLst>
              </a:tr>
              <a:tr h="560586">
                <a:tc>
                  <a:txBody>
                    <a:bodyPr/>
                    <a:lstStyle/>
                    <a:p>
                      <a:pPr>
                        <a:buNone/>
                      </a:pPr>
                      <a:r>
                        <a:rPr lang="hu-HU" sz="2000" dirty="0" err="1"/>
                        <a:t>Even</a:t>
                      </a:r>
                      <a:r>
                        <a:rPr lang="hu-HU" sz="2000" dirty="0"/>
                        <a:t> </a:t>
                      </a:r>
                      <a:r>
                        <a:rPr lang="hu-HU" sz="2000" dirty="0" err="1"/>
                        <a:t>allocation</a:t>
                      </a:r>
                      <a:endParaRPr lang="en-US" sz="2000" noProof="0" dirty="0"/>
                    </a:p>
                  </a:txBody>
                  <a:tcPr marL="65019" marR="65019" marT="32509" marB="32509" anchor="ctr"/>
                </a:tc>
                <a:tc>
                  <a:txBody>
                    <a:bodyPr/>
                    <a:lstStyle/>
                    <a:p>
                      <a:pPr>
                        <a:buNone/>
                      </a:pPr>
                      <a:r>
                        <a:rPr lang="hu-HU" sz="2000" dirty="0" err="1"/>
                        <a:t>Even</a:t>
                      </a:r>
                      <a:r>
                        <a:rPr lang="hu-HU" sz="2000" dirty="0"/>
                        <a:t> </a:t>
                      </a:r>
                      <a:r>
                        <a:rPr lang="hu-HU" sz="2000" dirty="0" err="1"/>
                        <a:t>defense</a:t>
                      </a:r>
                      <a:endParaRPr lang="en-US" sz="2000" noProof="0" dirty="0"/>
                    </a:p>
                  </a:txBody>
                  <a:tcPr marL="65019" marR="65019" marT="32509" marB="32509" anchor="ctr"/>
                </a:tc>
                <a:extLst>
                  <a:ext uri="{0D108BD9-81ED-4DB2-BD59-A6C34878D82A}">
                    <a16:rowId xmlns:a16="http://schemas.microsoft.com/office/drawing/2014/main" val="4023009933"/>
                  </a:ext>
                </a:extLst>
              </a:tr>
              <a:tr h="668483">
                <a:tc>
                  <a:txBody>
                    <a:bodyPr/>
                    <a:lstStyle/>
                    <a:p>
                      <a:pPr>
                        <a:buNone/>
                      </a:pPr>
                      <a:r>
                        <a:rPr lang="hu-HU" sz="2000" dirty="0" err="1"/>
                        <a:t>Value-proportional</a:t>
                      </a:r>
                      <a:r>
                        <a:rPr lang="hu-HU" sz="2000" dirty="0"/>
                        <a:t> </a:t>
                      </a:r>
                      <a:r>
                        <a:rPr lang="hu-HU" sz="2000" dirty="0" err="1"/>
                        <a:t>allocation</a:t>
                      </a:r>
                      <a:endParaRPr lang="en-US" sz="2000" noProof="0" dirty="0"/>
                    </a:p>
                  </a:txBody>
                  <a:tcPr marL="65019" marR="65019" marT="32509" marB="32509" anchor="ctr"/>
                </a:tc>
                <a:tc>
                  <a:txBody>
                    <a:bodyPr/>
                    <a:lstStyle/>
                    <a:p>
                      <a:pPr>
                        <a:buNone/>
                      </a:pPr>
                      <a:r>
                        <a:rPr lang="hu-HU" sz="2000" dirty="0" err="1"/>
                        <a:t>Value-proportional</a:t>
                      </a:r>
                      <a:r>
                        <a:rPr lang="hu-HU" sz="2000" dirty="0"/>
                        <a:t> </a:t>
                      </a:r>
                      <a:r>
                        <a:rPr lang="hu-HU" sz="2000" dirty="0" err="1"/>
                        <a:t>defense</a:t>
                      </a:r>
                      <a:endParaRPr lang="en-US" sz="2000" noProof="0" dirty="0"/>
                    </a:p>
                  </a:txBody>
                  <a:tcPr marL="65019" marR="65019" marT="32509" marB="32509" anchor="ctr"/>
                </a:tc>
                <a:extLst>
                  <a:ext uri="{0D108BD9-81ED-4DB2-BD59-A6C34878D82A}">
                    <a16:rowId xmlns:a16="http://schemas.microsoft.com/office/drawing/2014/main" val="394483248"/>
                  </a:ext>
                </a:extLst>
              </a:tr>
              <a:tr h="560586">
                <a:tc>
                  <a:txBody>
                    <a:bodyPr/>
                    <a:lstStyle/>
                    <a:p>
                      <a:pPr>
                        <a:buNone/>
                      </a:pPr>
                      <a:r>
                        <a:rPr lang="hu-HU" sz="2000" dirty="0"/>
                        <a:t>Top-3 </a:t>
                      </a:r>
                      <a:r>
                        <a:rPr lang="hu-HU" sz="2000" dirty="0" err="1"/>
                        <a:t>targeting</a:t>
                      </a:r>
                      <a:endParaRPr lang="en-US" sz="2000" noProof="0" dirty="0"/>
                    </a:p>
                  </a:txBody>
                  <a:tcPr marL="65019" marR="65019" marT="32509" marB="32509" anchor="ctr"/>
                </a:tc>
                <a:tc>
                  <a:txBody>
                    <a:bodyPr/>
                    <a:lstStyle/>
                    <a:p>
                      <a:pPr>
                        <a:buNone/>
                      </a:pPr>
                      <a:r>
                        <a:rPr lang="hu-HU" sz="2000" dirty="0"/>
                        <a:t>Top-3 </a:t>
                      </a:r>
                      <a:r>
                        <a:rPr lang="hu-HU" sz="2000" dirty="0" err="1"/>
                        <a:t>defense</a:t>
                      </a:r>
                      <a:endParaRPr lang="en-US" sz="2000" noProof="0" dirty="0"/>
                    </a:p>
                  </a:txBody>
                  <a:tcPr marL="65019" marR="65019" marT="32509" marB="32509" anchor="ctr"/>
                </a:tc>
                <a:extLst>
                  <a:ext uri="{0D108BD9-81ED-4DB2-BD59-A6C34878D82A}">
                    <a16:rowId xmlns:a16="http://schemas.microsoft.com/office/drawing/2014/main" val="4256368298"/>
                  </a:ext>
                </a:extLst>
              </a:tr>
              <a:tr h="560586">
                <a:tc>
                  <a:txBody>
                    <a:bodyPr/>
                    <a:lstStyle/>
                    <a:p>
                      <a:pPr>
                        <a:buNone/>
                      </a:pPr>
                      <a:r>
                        <a:rPr lang="en-US" sz="2000" noProof="0" dirty="0"/>
                        <a:t>All-in (Top-1)</a:t>
                      </a:r>
                    </a:p>
                  </a:txBody>
                  <a:tcPr marL="65019" marR="65019" marT="32509" marB="32509" anchor="ctr"/>
                </a:tc>
                <a:tc>
                  <a:txBody>
                    <a:bodyPr/>
                    <a:lstStyle/>
                    <a:p>
                      <a:pPr>
                        <a:buNone/>
                      </a:pPr>
                      <a:r>
                        <a:rPr lang="en-US" sz="2000" noProof="0" dirty="0"/>
                        <a:t>All-in (Top-1)</a:t>
                      </a:r>
                    </a:p>
                  </a:txBody>
                  <a:tcPr marL="65019" marR="65019" marT="32509" marB="32509" anchor="ctr"/>
                </a:tc>
                <a:extLst>
                  <a:ext uri="{0D108BD9-81ED-4DB2-BD59-A6C34878D82A}">
                    <a16:rowId xmlns:a16="http://schemas.microsoft.com/office/drawing/2014/main" val="344200648"/>
                  </a:ext>
                </a:extLst>
              </a:tr>
              <a:tr h="560586">
                <a:tc>
                  <a:txBody>
                    <a:bodyPr/>
                    <a:lstStyle/>
                    <a:p>
                      <a:pPr>
                        <a:buNone/>
                      </a:pPr>
                      <a:r>
                        <a:rPr lang="hu-HU" sz="2000" dirty="0"/>
                        <a:t>Random </a:t>
                      </a:r>
                      <a:r>
                        <a:rPr lang="hu-HU" sz="2000" dirty="0" err="1"/>
                        <a:t>allocation</a:t>
                      </a:r>
                      <a:endParaRPr lang="en-US" sz="2000" noProof="0" dirty="0"/>
                    </a:p>
                  </a:txBody>
                  <a:tcPr marL="65019" marR="65019" marT="32509" marB="32509" anchor="ctr"/>
                </a:tc>
                <a:tc>
                  <a:txBody>
                    <a:bodyPr/>
                    <a:lstStyle/>
                    <a:p>
                      <a:pPr>
                        <a:buNone/>
                      </a:pPr>
                      <a:r>
                        <a:rPr lang="hu-HU" sz="2000" dirty="0"/>
                        <a:t>Random </a:t>
                      </a:r>
                      <a:r>
                        <a:rPr lang="hu-HU" sz="2000" dirty="0" err="1"/>
                        <a:t>defense</a:t>
                      </a:r>
                      <a:endParaRPr lang="en-US" sz="2000" noProof="0" dirty="0"/>
                    </a:p>
                  </a:txBody>
                  <a:tcPr marL="65019" marR="65019" marT="32509" marB="32509" anchor="ctr"/>
                </a:tc>
                <a:extLst>
                  <a:ext uri="{0D108BD9-81ED-4DB2-BD59-A6C34878D82A}">
                    <a16:rowId xmlns:a16="http://schemas.microsoft.com/office/drawing/2014/main" val="508209178"/>
                  </a:ext>
                </a:extLst>
              </a:tr>
              <a:tr h="560586">
                <a:tc>
                  <a:txBody>
                    <a:bodyPr/>
                    <a:lstStyle/>
                    <a:p>
                      <a:pPr>
                        <a:buNone/>
                      </a:pPr>
                      <a:r>
                        <a:rPr lang="en-US" sz="2000" noProof="0" dirty="0"/>
                        <a:t>(-)</a:t>
                      </a:r>
                    </a:p>
                  </a:txBody>
                  <a:tcPr marL="65019" marR="65019" marT="32509" marB="32509" anchor="ctr"/>
                </a:tc>
                <a:tc>
                  <a:txBody>
                    <a:bodyPr/>
                    <a:lstStyle/>
                    <a:p>
                      <a:pPr>
                        <a:buNone/>
                      </a:pPr>
                      <a:r>
                        <a:rPr lang="hu-HU" sz="2000" dirty="0" err="1"/>
                        <a:t>Pattern-reactive</a:t>
                      </a:r>
                      <a:r>
                        <a:rPr lang="hu-HU" sz="2000" dirty="0"/>
                        <a:t> </a:t>
                      </a:r>
                      <a:r>
                        <a:rPr lang="hu-HU" sz="2000" dirty="0" err="1"/>
                        <a:t>defense</a:t>
                      </a:r>
                      <a:endParaRPr lang="en-US" sz="2000" noProof="0" dirty="0"/>
                    </a:p>
                  </a:txBody>
                  <a:tcPr marL="65019" marR="65019" marT="32509" marB="32509" anchor="ctr"/>
                </a:tc>
                <a:extLst>
                  <a:ext uri="{0D108BD9-81ED-4DB2-BD59-A6C34878D82A}">
                    <a16:rowId xmlns:a16="http://schemas.microsoft.com/office/drawing/2014/main" val="167385614"/>
                  </a:ext>
                </a:extLst>
              </a:tr>
            </a:tbl>
          </a:graphicData>
        </a:graphic>
      </p:graphicFrame>
      <p:grpSp>
        <p:nvGrpSpPr>
          <p:cNvPr id="11" name="Csoportba foglalás 10">
            <a:extLst>
              <a:ext uri="{FF2B5EF4-FFF2-40B4-BE49-F238E27FC236}">
                <a16:creationId xmlns:a16="http://schemas.microsoft.com/office/drawing/2014/main" id="{0C89A55B-8DF3-C8D4-87A7-10CEF3375BAC}"/>
              </a:ext>
            </a:extLst>
          </p:cNvPr>
          <p:cNvGrpSpPr>
            <a:grpSpLocks noChangeAspect="1"/>
          </p:cNvGrpSpPr>
          <p:nvPr/>
        </p:nvGrpSpPr>
        <p:grpSpPr>
          <a:xfrm>
            <a:off x="240462" y="5153983"/>
            <a:ext cx="4621824" cy="1493824"/>
            <a:chOff x="0" y="3187337"/>
            <a:chExt cx="9144000" cy="2955440"/>
          </a:xfrm>
        </p:grpSpPr>
        <p:pic>
          <p:nvPicPr>
            <p:cNvPr id="12" name="Picture 2" descr="Dong Quan Vu' s Personal Website">
              <a:extLst>
                <a:ext uri="{FF2B5EF4-FFF2-40B4-BE49-F238E27FC236}">
                  <a16:creationId xmlns:a16="http://schemas.microsoft.com/office/drawing/2014/main" id="{8DA5F513-FBBB-891A-E2CB-85813085BBB1}"/>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t="13064" b="7341"/>
            <a:stretch>
              <a:fillRect/>
            </a:stretch>
          </p:blipFill>
          <p:spPr bwMode="auto">
            <a:xfrm>
              <a:off x="0" y="3187337"/>
              <a:ext cx="9144000" cy="2860766"/>
            </a:xfrm>
            <a:prstGeom prst="rect">
              <a:avLst/>
            </a:prstGeom>
            <a:extLst>
              <a:ext uri="{909E8E84-426E-40DD-AFC4-6F175D3DCCD1}">
                <a14:hiddenFill xmlns:a14="http://schemas.microsoft.com/office/drawing/2010/main">
                  <a:solidFill>
                    <a:srgbClr val="FFFFFF"/>
                  </a:solidFill>
                </a14:hiddenFill>
              </a:ext>
            </a:extLst>
          </p:spPr>
        </p:pic>
        <p:grpSp>
          <p:nvGrpSpPr>
            <p:cNvPr id="13" name="Csoportba foglalás 12">
              <a:extLst>
                <a:ext uri="{FF2B5EF4-FFF2-40B4-BE49-F238E27FC236}">
                  <a16:creationId xmlns:a16="http://schemas.microsoft.com/office/drawing/2014/main" id="{5BD6AF41-8EE2-A2AD-4348-B80A4DA53306}"/>
                </a:ext>
              </a:extLst>
            </p:cNvPr>
            <p:cNvGrpSpPr/>
            <p:nvPr/>
          </p:nvGrpSpPr>
          <p:grpSpPr>
            <a:xfrm>
              <a:off x="0" y="5418499"/>
              <a:ext cx="9144000" cy="724278"/>
              <a:chOff x="0" y="4916031"/>
              <a:chExt cx="9144000" cy="724278"/>
            </a:xfrm>
          </p:grpSpPr>
          <p:sp>
            <p:nvSpPr>
              <p:cNvPr id="14" name="Téglalap 13">
                <a:extLst>
                  <a:ext uri="{FF2B5EF4-FFF2-40B4-BE49-F238E27FC236}">
                    <a16:creationId xmlns:a16="http://schemas.microsoft.com/office/drawing/2014/main" id="{0DABC019-376C-7A50-87B9-AD6C8BC824D5}"/>
                  </a:ext>
                </a:extLst>
              </p:cNvPr>
              <p:cNvSpPr/>
              <p:nvPr/>
            </p:nvSpPr>
            <p:spPr>
              <a:xfrm>
                <a:off x="0" y="4916032"/>
                <a:ext cx="1348966" cy="72427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5" name="Téglalap 14">
                <a:extLst>
                  <a:ext uri="{FF2B5EF4-FFF2-40B4-BE49-F238E27FC236}">
                    <a16:creationId xmlns:a16="http://schemas.microsoft.com/office/drawing/2014/main" id="{5F12C386-8B92-CE66-54E5-230B045B6C74}"/>
                  </a:ext>
                </a:extLst>
              </p:cNvPr>
              <p:cNvSpPr/>
              <p:nvPr/>
            </p:nvSpPr>
            <p:spPr>
              <a:xfrm>
                <a:off x="7795034" y="4916031"/>
                <a:ext cx="1348966" cy="72427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spTree>
    <p:extLst>
      <p:ext uri="{BB962C8B-B14F-4D97-AF65-F5344CB8AC3E}">
        <p14:creationId xmlns:p14="http://schemas.microsoft.com/office/powerpoint/2010/main" val="25818254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511A83-98DC-7AB4-BCAF-66181FA5576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A9B1DB8-F48E-F6F7-3BC9-84609521C568}"/>
              </a:ext>
            </a:extLst>
          </p:cNvPr>
          <p:cNvSpPr>
            <a:spLocks noGrp="1"/>
          </p:cNvSpPr>
          <p:nvPr>
            <p:ph type="title"/>
          </p:nvPr>
        </p:nvSpPr>
        <p:spPr/>
        <p:txBody>
          <a:bodyPr>
            <a:normAutofit/>
          </a:bodyPr>
          <a:lstStyle/>
          <a:p>
            <a:r>
              <a:rPr lang="hu-HU" dirty="0" err="1"/>
              <a:t>Model</a:t>
            </a:r>
            <a:r>
              <a:rPr lang="hu-HU" dirty="0"/>
              <a:t> </a:t>
            </a:r>
            <a:r>
              <a:rPr lang="hu-HU" dirty="0" err="1"/>
              <a:t>configuration</a:t>
            </a:r>
            <a:endParaRPr lang="en-US" noProof="0" dirty="0"/>
          </a:p>
        </p:txBody>
      </p:sp>
      <p:sp>
        <p:nvSpPr>
          <p:cNvPr id="3" name="Content Placeholder 2">
            <a:extLst>
              <a:ext uri="{FF2B5EF4-FFF2-40B4-BE49-F238E27FC236}">
                <a16:creationId xmlns:a16="http://schemas.microsoft.com/office/drawing/2014/main" id="{E6B5DDA7-5410-8ADB-0522-BD5D9C9A40AD}"/>
              </a:ext>
            </a:extLst>
          </p:cNvPr>
          <p:cNvSpPr>
            <a:spLocks noGrp="1"/>
          </p:cNvSpPr>
          <p:nvPr>
            <p:ph idx="1"/>
          </p:nvPr>
        </p:nvSpPr>
        <p:spPr/>
        <p:txBody>
          <a:bodyPr>
            <a:normAutofit/>
          </a:bodyPr>
          <a:lstStyle/>
          <a:p>
            <a:r>
              <a:rPr lang="hu-HU" dirty="0"/>
              <a:t>10 </a:t>
            </a:r>
            <a:r>
              <a:rPr lang="hu-HU" dirty="0" err="1"/>
              <a:t>vendors</a:t>
            </a:r>
            <a:r>
              <a:rPr lang="hu-HU" dirty="0"/>
              <a:t> (</a:t>
            </a:r>
            <a:r>
              <a:rPr lang="hu-HU" dirty="0" err="1"/>
              <a:t>battlefields</a:t>
            </a:r>
            <a:r>
              <a:rPr lang="hu-HU" dirty="0"/>
              <a:t>)</a:t>
            </a:r>
          </a:p>
          <a:p>
            <a:endParaRPr lang="en-US" noProof="0" dirty="0"/>
          </a:p>
          <a:p>
            <a:r>
              <a:rPr lang="sv-SE" dirty="0"/>
              <a:t>Attacker (20 units), defender (40 units)</a:t>
            </a:r>
            <a:endParaRPr lang="hu-HU" dirty="0"/>
          </a:p>
          <a:p>
            <a:endParaRPr lang="en-US" noProof="0" dirty="0"/>
          </a:p>
          <a:p>
            <a:r>
              <a:rPr lang="en-US" dirty="0"/>
              <a:t>Episodes: 500 per day × 10 repetitions</a:t>
            </a:r>
            <a:endParaRPr lang="hu-HU" dirty="0"/>
          </a:p>
          <a:p>
            <a:pPr lvl="1"/>
            <a:r>
              <a:rPr lang="en-US" dirty="0"/>
              <a:t>Time periods: January – May – August 2025</a:t>
            </a:r>
            <a:endParaRPr lang="en-US" noProof="0" dirty="0"/>
          </a:p>
        </p:txBody>
      </p:sp>
      <p:sp>
        <p:nvSpPr>
          <p:cNvPr id="4" name="Footer Placeholder 3">
            <a:extLst>
              <a:ext uri="{FF2B5EF4-FFF2-40B4-BE49-F238E27FC236}">
                <a16:creationId xmlns:a16="http://schemas.microsoft.com/office/drawing/2014/main" id="{5E78A38E-8DF2-5021-2307-F8CE93146004}"/>
              </a:ext>
            </a:extLst>
          </p:cNvPr>
          <p:cNvSpPr>
            <a:spLocks noGrp="1"/>
          </p:cNvSpPr>
          <p:nvPr>
            <p:ph type="ftr" sz="quarter" idx="11"/>
          </p:nvPr>
        </p:nvSpPr>
        <p:spPr/>
        <p:txBody>
          <a:bodyPr/>
          <a:lstStyle/>
          <a:p>
            <a:r>
              <a:rPr lang="en-US" dirty="0"/>
              <a:t>Colonel Blotto in Cybersecurity</a:t>
            </a:r>
          </a:p>
        </p:txBody>
      </p:sp>
      <p:sp>
        <p:nvSpPr>
          <p:cNvPr id="5" name="Slide Number Placeholder 4">
            <a:extLst>
              <a:ext uri="{FF2B5EF4-FFF2-40B4-BE49-F238E27FC236}">
                <a16:creationId xmlns:a16="http://schemas.microsoft.com/office/drawing/2014/main" id="{4A040294-CB55-AAEB-D4A9-C3131DD7A6DF}"/>
              </a:ext>
            </a:extLst>
          </p:cNvPr>
          <p:cNvSpPr>
            <a:spLocks noGrp="1"/>
          </p:cNvSpPr>
          <p:nvPr>
            <p:ph type="sldNum" sz="quarter" idx="12"/>
          </p:nvPr>
        </p:nvSpPr>
        <p:spPr/>
        <p:txBody>
          <a:bodyPr/>
          <a:lstStyle/>
          <a:p>
            <a:fld id="{4F532308-F742-4E8E-A0E9-3E442CCFFF54}" type="slidenum">
              <a:rPr lang="en-US" noProof="0" smtClean="0"/>
              <a:pPr/>
              <a:t>10</a:t>
            </a:fld>
            <a:endParaRPr lang="en-US" noProof="0" dirty="0"/>
          </a:p>
        </p:txBody>
      </p:sp>
      <p:pic>
        <p:nvPicPr>
          <p:cNvPr id="16386" name="Picture 2">
            <a:extLst>
              <a:ext uri="{FF2B5EF4-FFF2-40B4-BE49-F238E27FC236}">
                <a16:creationId xmlns:a16="http://schemas.microsoft.com/office/drawing/2014/main" id="{2389AD9B-2325-A9FF-0DB3-1C8FF59518FD}"/>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69852" y="3682318"/>
            <a:ext cx="2711838" cy="2967671"/>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D918D24F-3CCC-4AB6-292E-4354ACEADF85}"/>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118589" y="2869733"/>
            <a:ext cx="4858298" cy="353684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068472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60A0FEC5-968F-B556-C088-F1F43F250595}"/>
              </a:ext>
            </a:extLst>
          </p:cNvPr>
          <p:cNvSpPr>
            <a:spLocks noGrp="1"/>
          </p:cNvSpPr>
          <p:nvPr>
            <p:ph type="title"/>
          </p:nvPr>
        </p:nvSpPr>
        <p:spPr/>
        <p:txBody>
          <a:bodyPr/>
          <a:lstStyle/>
          <a:p>
            <a:r>
              <a:rPr lang="hu-HU" dirty="0"/>
              <a:t>Key </a:t>
            </a:r>
            <a:r>
              <a:rPr lang="hu-HU" dirty="0" err="1"/>
              <a:t>measures</a:t>
            </a:r>
            <a:endParaRPr lang="en-US" noProof="0" dirty="0"/>
          </a:p>
        </p:txBody>
      </p:sp>
      <p:sp>
        <p:nvSpPr>
          <p:cNvPr id="3" name="Tartalom helye 2">
            <a:extLst>
              <a:ext uri="{FF2B5EF4-FFF2-40B4-BE49-F238E27FC236}">
                <a16:creationId xmlns:a16="http://schemas.microsoft.com/office/drawing/2014/main" id="{D42E3A7E-DEE8-3646-3E90-3A021BFB0A7C}"/>
              </a:ext>
            </a:extLst>
          </p:cNvPr>
          <p:cNvSpPr>
            <a:spLocks noGrp="1"/>
          </p:cNvSpPr>
          <p:nvPr>
            <p:ph idx="1"/>
          </p:nvPr>
        </p:nvSpPr>
        <p:spPr/>
        <p:txBody>
          <a:bodyPr/>
          <a:lstStyle/>
          <a:p>
            <a:r>
              <a:rPr lang="en-US" dirty="0"/>
              <a:t>R</a:t>
            </a:r>
            <a:r>
              <a:rPr lang="en-US" baseline="-25000" dirty="0"/>
              <a:t>A</a:t>
            </a:r>
            <a:r>
              <a:rPr lang="en-US" dirty="0"/>
              <a:t>, R</a:t>
            </a:r>
            <a:r>
              <a:rPr lang="en-US" baseline="-25000" dirty="0"/>
              <a:t>D</a:t>
            </a:r>
            <a:r>
              <a:rPr lang="en-US" dirty="0"/>
              <a:t> – average reward of the attacker and the defender</a:t>
            </a:r>
            <a:endParaRPr lang="en-US" noProof="0" dirty="0"/>
          </a:p>
          <a:p>
            <a:endParaRPr lang="en-US" noProof="0" dirty="0"/>
          </a:p>
          <a:p>
            <a:r>
              <a:rPr lang="en-US" dirty="0"/>
              <a:t>ρ = R</a:t>
            </a:r>
            <a:r>
              <a:rPr lang="en-US" baseline="-25000" dirty="0"/>
              <a:t>A</a:t>
            </a:r>
            <a:r>
              <a:rPr lang="en-US" dirty="0"/>
              <a:t> / R</a:t>
            </a:r>
            <a:r>
              <a:rPr lang="en-US" baseline="-25000" dirty="0"/>
              <a:t>D</a:t>
            </a:r>
            <a:r>
              <a:rPr lang="en-US" dirty="0"/>
              <a:t> – defender efficiency ratio</a:t>
            </a:r>
            <a:endParaRPr lang="en-US" noProof="0" dirty="0"/>
          </a:p>
          <a:p>
            <a:endParaRPr lang="en-US" noProof="0" dirty="0"/>
          </a:p>
          <a:p>
            <a:r>
              <a:rPr lang="en-US" dirty="0"/>
              <a:t>Entropy (H) – strategic diversity and learning dynamics</a:t>
            </a:r>
            <a:endParaRPr lang="en-US" noProof="0" dirty="0"/>
          </a:p>
        </p:txBody>
      </p:sp>
      <p:sp>
        <p:nvSpPr>
          <p:cNvPr id="4" name="Élőláb helye 3">
            <a:extLst>
              <a:ext uri="{FF2B5EF4-FFF2-40B4-BE49-F238E27FC236}">
                <a16:creationId xmlns:a16="http://schemas.microsoft.com/office/drawing/2014/main" id="{DDD3FEE1-FB68-2E1A-53EF-E98910590D01}"/>
              </a:ext>
            </a:extLst>
          </p:cNvPr>
          <p:cNvSpPr>
            <a:spLocks noGrp="1"/>
          </p:cNvSpPr>
          <p:nvPr>
            <p:ph type="ftr" sz="quarter" idx="11"/>
          </p:nvPr>
        </p:nvSpPr>
        <p:spPr/>
        <p:txBody>
          <a:bodyPr/>
          <a:lstStyle/>
          <a:p>
            <a:r>
              <a:rPr lang="en-US" dirty="0"/>
              <a:t>Colonel Blotto in Cybersecurity</a:t>
            </a:r>
          </a:p>
        </p:txBody>
      </p:sp>
      <p:sp>
        <p:nvSpPr>
          <p:cNvPr id="5" name="Dia számának helye 4">
            <a:extLst>
              <a:ext uri="{FF2B5EF4-FFF2-40B4-BE49-F238E27FC236}">
                <a16:creationId xmlns:a16="http://schemas.microsoft.com/office/drawing/2014/main" id="{21C50391-70F6-C82D-4F7A-5063387D4AEA}"/>
              </a:ext>
            </a:extLst>
          </p:cNvPr>
          <p:cNvSpPr>
            <a:spLocks noGrp="1"/>
          </p:cNvSpPr>
          <p:nvPr>
            <p:ph type="sldNum" sz="quarter" idx="12"/>
          </p:nvPr>
        </p:nvSpPr>
        <p:spPr/>
        <p:txBody>
          <a:bodyPr/>
          <a:lstStyle/>
          <a:p>
            <a:fld id="{4F532308-F742-4E8E-A0E9-3E442CCFFF54}" type="slidenum">
              <a:rPr lang="en-US" noProof="0" smtClean="0"/>
              <a:pPr/>
              <a:t>11</a:t>
            </a:fld>
            <a:endParaRPr lang="en-US" noProof="0" dirty="0"/>
          </a:p>
        </p:txBody>
      </p:sp>
      <p:pic>
        <p:nvPicPr>
          <p:cNvPr id="14341" name="Picture 5" descr="Metrics - Free business icons">
            <a:extLst>
              <a:ext uri="{FF2B5EF4-FFF2-40B4-BE49-F238E27FC236}">
                <a16:creationId xmlns:a16="http://schemas.microsoft.com/office/drawing/2014/main" id="{4E8BA07D-A65B-A385-B5CA-7017E1E80FD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29168" y="3778098"/>
            <a:ext cx="1827873" cy="1827873"/>
          </a:xfrm>
          <a:prstGeom prst="rect">
            <a:avLst/>
          </a:prstGeom>
          <a:noFill/>
          <a:extLst>
            <a:ext uri="{909E8E84-426E-40DD-AFC4-6F175D3DCCD1}">
              <a14:hiddenFill xmlns:a14="http://schemas.microsoft.com/office/drawing/2010/main">
                <a:solidFill>
                  <a:srgbClr val="FFFFFF"/>
                </a:solidFill>
              </a14:hiddenFill>
            </a:ext>
          </a:extLst>
        </p:spPr>
      </p:pic>
      <p:pic>
        <p:nvPicPr>
          <p:cNvPr id="14343" name="Picture 7" descr="Key Business Performance Metrics Icon Stock Vector - Illustration of  design, strategy: 352796351">
            <a:extLst>
              <a:ext uri="{FF2B5EF4-FFF2-40B4-BE49-F238E27FC236}">
                <a16:creationId xmlns:a16="http://schemas.microsoft.com/office/drawing/2014/main" id="{46EAF10C-436D-337A-4C37-B641999D66D3}"/>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104866" y="3575112"/>
            <a:ext cx="2458950" cy="24589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585953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119770-43A7-C7BE-A56B-E4471B2DFA3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D3BB54D-9E5E-3B8C-9809-77E8A717BF11}"/>
              </a:ext>
            </a:extLst>
          </p:cNvPr>
          <p:cNvSpPr>
            <a:spLocks noGrp="1"/>
          </p:cNvSpPr>
          <p:nvPr>
            <p:ph type="title"/>
          </p:nvPr>
        </p:nvSpPr>
        <p:spPr/>
        <p:txBody>
          <a:bodyPr/>
          <a:lstStyle/>
          <a:p>
            <a:r>
              <a:rPr lang="hu-HU" dirty="0"/>
              <a:t>Main </a:t>
            </a:r>
            <a:r>
              <a:rPr lang="hu-HU" dirty="0" err="1"/>
              <a:t>results</a:t>
            </a:r>
            <a:r>
              <a:rPr lang="hu-HU" dirty="0"/>
              <a:t> I.</a:t>
            </a:r>
            <a:endParaRPr lang="en-US" noProof="0" dirty="0"/>
          </a:p>
        </p:txBody>
      </p:sp>
      <p:pic>
        <p:nvPicPr>
          <p:cNvPr id="9" name="Tartalom helye 8" descr="A képen szöveg, diagram, sor, Diagram látható&#10;&#10;Előfordulhat, hogy az AI által létrehozott tartalom helytelen.">
            <a:extLst>
              <a:ext uri="{FF2B5EF4-FFF2-40B4-BE49-F238E27FC236}">
                <a16:creationId xmlns:a16="http://schemas.microsoft.com/office/drawing/2014/main" id="{CDFFE08A-71EB-B97C-B07F-911141E76773}"/>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603504" y="2700206"/>
            <a:ext cx="7936992" cy="3706368"/>
          </a:xfrm>
        </p:spPr>
      </p:pic>
      <p:sp>
        <p:nvSpPr>
          <p:cNvPr id="4" name="Footer Placeholder 3">
            <a:extLst>
              <a:ext uri="{FF2B5EF4-FFF2-40B4-BE49-F238E27FC236}">
                <a16:creationId xmlns:a16="http://schemas.microsoft.com/office/drawing/2014/main" id="{5AC0A2A5-02D9-52C8-BABE-B69CF509B03B}"/>
              </a:ext>
            </a:extLst>
          </p:cNvPr>
          <p:cNvSpPr>
            <a:spLocks noGrp="1"/>
          </p:cNvSpPr>
          <p:nvPr>
            <p:ph type="ftr" sz="quarter" idx="11"/>
          </p:nvPr>
        </p:nvSpPr>
        <p:spPr/>
        <p:txBody>
          <a:bodyPr/>
          <a:lstStyle/>
          <a:p>
            <a:r>
              <a:rPr lang="en-US" dirty="0"/>
              <a:t>Colonel Blotto in Cybersecurity</a:t>
            </a:r>
          </a:p>
        </p:txBody>
      </p:sp>
      <p:sp>
        <p:nvSpPr>
          <p:cNvPr id="5" name="Slide Number Placeholder 4">
            <a:extLst>
              <a:ext uri="{FF2B5EF4-FFF2-40B4-BE49-F238E27FC236}">
                <a16:creationId xmlns:a16="http://schemas.microsoft.com/office/drawing/2014/main" id="{6EE55836-4431-4784-F5AE-6E6352D11A4B}"/>
              </a:ext>
            </a:extLst>
          </p:cNvPr>
          <p:cNvSpPr>
            <a:spLocks noGrp="1"/>
          </p:cNvSpPr>
          <p:nvPr>
            <p:ph type="sldNum" sz="quarter" idx="12"/>
          </p:nvPr>
        </p:nvSpPr>
        <p:spPr/>
        <p:txBody>
          <a:bodyPr/>
          <a:lstStyle/>
          <a:p>
            <a:fld id="{4F532308-F742-4E8E-A0E9-3E442CCFFF54}" type="slidenum">
              <a:rPr lang="en-US" noProof="0" smtClean="0"/>
              <a:pPr/>
              <a:t>12</a:t>
            </a:fld>
            <a:endParaRPr lang="en-US" noProof="0" dirty="0"/>
          </a:p>
        </p:txBody>
      </p:sp>
      <p:sp>
        <p:nvSpPr>
          <p:cNvPr id="10" name="Content Placeholder 2">
            <a:extLst>
              <a:ext uri="{FF2B5EF4-FFF2-40B4-BE49-F238E27FC236}">
                <a16:creationId xmlns:a16="http://schemas.microsoft.com/office/drawing/2014/main" id="{55450DCB-231F-7778-6E84-31A50C756D6C}"/>
              </a:ext>
            </a:extLst>
          </p:cNvPr>
          <p:cNvSpPr txBox="1">
            <a:spLocks/>
          </p:cNvSpPr>
          <p:nvPr/>
        </p:nvSpPr>
        <p:spPr>
          <a:xfrm>
            <a:off x="251520" y="1052736"/>
            <a:ext cx="8435280" cy="5259164"/>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Wingdings" panose="05000000000000000000" pitchFamily="2" charset="2"/>
              <a:buChar char="§"/>
              <a:defRPr sz="24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en-US" dirty="0"/>
              <a:t>The defender achieved better overall performance in every scenario</a:t>
            </a:r>
            <a:endParaRPr lang="en-US" noProof="0" dirty="0"/>
          </a:p>
          <a:p>
            <a:r>
              <a:rPr lang="en-US" noProof="0" dirty="0"/>
              <a:t>R1, R3: strongest defense (defender intelligence advantage)</a:t>
            </a:r>
          </a:p>
          <a:p>
            <a:r>
              <a:rPr lang="en-US" noProof="0" dirty="0"/>
              <a:t>R2: temporary attacker improvement, but unstable</a:t>
            </a:r>
          </a:p>
        </p:txBody>
      </p:sp>
    </p:spTree>
    <p:extLst>
      <p:ext uri="{BB962C8B-B14F-4D97-AF65-F5344CB8AC3E}">
        <p14:creationId xmlns:p14="http://schemas.microsoft.com/office/powerpoint/2010/main" val="159242162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45D8A1-3BF8-E16E-97E2-4550AD96385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01D06FE-2B69-6060-2CD6-8BCDCB3D7042}"/>
              </a:ext>
            </a:extLst>
          </p:cNvPr>
          <p:cNvSpPr>
            <a:spLocks noGrp="1"/>
          </p:cNvSpPr>
          <p:nvPr>
            <p:ph type="title"/>
          </p:nvPr>
        </p:nvSpPr>
        <p:spPr/>
        <p:txBody>
          <a:bodyPr/>
          <a:lstStyle/>
          <a:p>
            <a:r>
              <a:rPr lang="hu-HU" dirty="0"/>
              <a:t>Main </a:t>
            </a:r>
            <a:r>
              <a:rPr lang="hu-HU" dirty="0" err="1"/>
              <a:t>results</a:t>
            </a:r>
            <a:r>
              <a:rPr lang="hu-HU" dirty="0"/>
              <a:t> II.</a:t>
            </a:r>
            <a:endParaRPr lang="en-US" noProof="0" dirty="0"/>
          </a:p>
        </p:txBody>
      </p:sp>
      <p:sp>
        <p:nvSpPr>
          <p:cNvPr id="3" name="Content Placeholder 2">
            <a:extLst>
              <a:ext uri="{FF2B5EF4-FFF2-40B4-BE49-F238E27FC236}">
                <a16:creationId xmlns:a16="http://schemas.microsoft.com/office/drawing/2014/main" id="{7221E10C-5004-187D-89D6-05A25D02CC8F}"/>
              </a:ext>
            </a:extLst>
          </p:cNvPr>
          <p:cNvSpPr>
            <a:spLocks noGrp="1"/>
          </p:cNvSpPr>
          <p:nvPr>
            <p:ph idx="1"/>
          </p:nvPr>
        </p:nvSpPr>
        <p:spPr/>
        <p:txBody>
          <a:bodyPr/>
          <a:lstStyle/>
          <a:p>
            <a:r>
              <a:rPr lang="en-US" noProof="0" dirty="0"/>
              <a:t>No static convergence</a:t>
            </a:r>
          </a:p>
          <a:p>
            <a:r>
              <a:rPr lang="en-US" noProof="0" dirty="0"/>
              <a:t>Medium entropy → continuous adaptation</a:t>
            </a:r>
            <a:endParaRPr lang="hu-HU" noProof="0" dirty="0"/>
          </a:p>
          <a:p>
            <a:r>
              <a:rPr lang="en-US" noProof="0" dirty="0"/>
              <a:t>Dynamic, equilibrium-like learning</a:t>
            </a:r>
          </a:p>
        </p:txBody>
      </p:sp>
      <p:sp>
        <p:nvSpPr>
          <p:cNvPr id="4" name="Footer Placeholder 3">
            <a:extLst>
              <a:ext uri="{FF2B5EF4-FFF2-40B4-BE49-F238E27FC236}">
                <a16:creationId xmlns:a16="http://schemas.microsoft.com/office/drawing/2014/main" id="{6F79626E-B699-98CD-D116-A15ED538E252}"/>
              </a:ext>
            </a:extLst>
          </p:cNvPr>
          <p:cNvSpPr>
            <a:spLocks noGrp="1"/>
          </p:cNvSpPr>
          <p:nvPr>
            <p:ph type="ftr" sz="quarter" idx="11"/>
          </p:nvPr>
        </p:nvSpPr>
        <p:spPr/>
        <p:txBody>
          <a:bodyPr/>
          <a:lstStyle/>
          <a:p>
            <a:r>
              <a:rPr lang="en-US" dirty="0"/>
              <a:t>Colonel Blotto in Cybersecurity</a:t>
            </a:r>
          </a:p>
        </p:txBody>
      </p:sp>
      <p:sp>
        <p:nvSpPr>
          <p:cNvPr id="5" name="Slide Number Placeholder 4">
            <a:extLst>
              <a:ext uri="{FF2B5EF4-FFF2-40B4-BE49-F238E27FC236}">
                <a16:creationId xmlns:a16="http://schemas.microsoft.com/office/drawing/2014/main" id="{CF5E58E5-4160-4575-2268-4B02E5AD2149}"/>
              </a:ext>
            </a:extLst>
          </p:cNvPr>
          <p:cNvSpPr>
            <a:spLocks noGrp="1"/>
          </p:cNvSpPr>
          <p:nvPr>
            <p:ph type="sldNum" sz="quarter" idx="12"/>
          </p:nvPr>
        </p:nvSpPr>
        <p:spPr/>
        <p:txBody>
          <a:bodyPr/>
          <a:lstStyle/>
          <a:p>
            <a:fld id="{4F532308-F742-4E8E-A0E9-3E442CCFFF54}" type="slidenum">
              <a:rPr lang="en-US" noProof="0" smtClean="0"/>
              <a:pPr/>
              <a:t>13</a:t>
            </a:fld>
            <a:endParaRPr lang="en-US" noProof="0" dirty="0"/>
          </a:p>
        </p:txBody>
      </p:sp>
      <p:pic>
        <p:nvPicPr>
          <p:cNvPr id="10" name="Kép 9" descr="A képen szöveg, képernyőkép, diagram, Betűtípus látható&#10;&#10;Előfordulhat, hogy az AI által létrehozott tartalom helytelen.">
            <a:extLst>
              <a:ext uri="{FF2B5EF4-FFF2-40B4-BE49-F238E27FC236}">
                <a16:creationId xmlns:a16="http://schemas.microsoft.com/office/drawing/2014/main" id="{FF98BF5B-A44B-6F2C-5D22-438D0C252B6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30684" y="2523647"/>
            <a:ext cx="6282631" cy="3788253"/>
          </a:xfrm>
          <a:prstGeom prst="rect">
            <a:avLst/>
          </a:prstGeom>
        </p:spPr>
      </p:pic>
    </p:spTree>
    <p:extLst>
      <p:ext uri="{BB962C8B-B14F-4D97-AF65-F5344CB8AC3E}">
        <p14:creationId xmlns:p14="http://schemas.microsoft.com/office/powerpoint/2010/main" val="31144624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B2CD05-D560-9F7C-B521-9BF38514214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D2DEDD5-F8F4-330C-7CEA-90690DD02F15}"/>
              </a:ext>
            </a:extLst>
          </p:cNvPr>
          <p:cNvSpPr>
            <a:spLocks noGrp="1"/>
          </p:cNvSpPr>
          <p:nvPr>
            <p:ph type="title"/>
          </p:nvPr>
        </p:nvSpPr>
        <p:spPr/>
        <p:txBody>
          <a:bodyPr/>
          <a:lstStyle/>
          <a:p>
            <a:r>
              <a:rPr lang="hu-HU" dirty="0"/>
              <a:t>Main </a:t>
            </a:r>
            <a:r>
              <a:rPr lang="hu-HU" dirty="0" err="1"/>
              <a:t>results</a:t>
            </a:r>
            <a:r>
              <a:rPr lang="hu-HU" dirty="0"/>
              <a:t> </a:t>
            </a:r>
            <a:r>
              <a:rPr lang="en-US" noProof="0" dirty="0"/>
              <a:t>III.</a:t>
            </a:r>
          </a:p>
        </p:txBody>
      </p:sp>
      <p:sp>
        <p:nvSpPr>
          <p:cNvPr id="3" name="Content Placeholder 2">
            <a:extLst>
              <a:ext uri="{FF2B5EF4-FFF2-40B4-BE49-F238E27FC236}">
                <a16:creationId xmlns:a16="http://schemas.microsoft.com/office/drawing/2014/main" id="{783131B5-1DDA-927E-9112-924058DA6A63}"/>
              </a:ext>
            </a:extLst>
          </p:cNvPr>
          <p:cNvSpPr>
            <a:spLocks noGrp="1"/>
          </p:cNvSpPr>
          <p:nvPr>
            <p:ph idx="1"/>
          </p:nvPr>
        </p:nvSpPr>
        <p:spPr/>
        <p:txBody>
          <a:bodyPr/>
          <a:lstStyle/>
          <a:p>
            <a:r>
              <a:rPr lang="en-US" dirty="0"/>
              <a:t>Attacker strategies are dominated by concentrated choices</a:t>
            </a:r>
            <a:endParaRPr lang="en-US" noProof="0" dirty="0"/>
          </a:p>
          <a:p>
            <a:endParaRPr lang="hu-HU" dirty="0"/>
          </a:p>
          <a:p>
            <a:r>
              <a:rPr lang="en-US" dirty="0"/>
              <a:t>Defender strategies rely on predictive and value-proportional allocation</a:t>
            </a:r>
            <a:endParaRPr lang="en-US" noProof="0" dirty="0"/>
          </a:p>
        </p:txBody>
      </p:sp>
      <p:sp>
        <p:nvSpPr>
          <p:cNvPr id="4" name="Footer Placeholder 3">
            <a:extLst>
              <a:ext uri="{FF2B5EF4-FFF2-40B4-BE49-F238E27FC236}">
                <a16:creationId xmlns:a16="http://schemas.microsoft.com/office/drawing/2014/main" id="{946AFE1C-D314-CD54-C37E-B4E753B6A629}"/>
              </a:ext>
            </a:extLst>
          </p:cNvPr>
          <p:cNvSpPr>
            <a:spLocks noGrp="1"/>
          </p:cNvSpPr>
          <p:nvPr>
            <p:ph type="ftr" sz="quarter" idx="11"/>
          </p:nvPr>
        </p:nvSpPr>
        <p:spPr/>
        <p:txBody>
          <a:bodyPr/>
          <a:lstStyle/>
          <a:p>
            <a:r>
              <a:rPr lang="en-US" dirty="0"/>
              <a:t>Colonel Blotto in Cybersecurity</a:t>
            </a:r>
          </a:p>
        </p:txBody>
      </p:sp>
      <p:sp>
        <p:nvSpPr>
          <p:cNvPr id="5" name="Slide Number Placeholder 4">
            <a:extLst>
              <a:ext uri="{FF2B5EF4-FFF2-40B4-BE49-F238E27FC236}">
                <a16:creationId xmlns:a16="http://schemas.microsoft.com/office/drawing/2014/main" id="{3B3EE2A0-D9BE-996F-C78A-57131EC3B7E8}"/>
              </a:ext>
            </a:extLst>
          </p:cNvPr>
          <p:cNvSpPr>
            <a:spLocks noGrp="1"/>
          </p:cNvSpPr>
          <p:nvPr>
            <p:ph type="sldNum" sz="quarter" idx="12"/>
          </p:nvPr>
        </p:nvSpPr>
        <p:spPr/>
        <p:txBody>
          <a:bodyPr/>
          <a:lstStyle/>
          <a:p>
            <a:fld id="{4F532308-F742-4E8E-A0E9-3E442CCFFF54}" type="slidenum">
              <a:rPr lang="en-US" noProof="0" smtClean="0"/>
              <a:pPr/>
              <a:t>14</a:t>
            </a:fld>
            <a:endParaRPr lang="en-US" noProof="0" dirty="0"/>
          </a:p>
        </p:txBody>
      </p:sp>
      <p:pic>
        <p:nvPicPr>
          <p:cNvPr id="7" name="Kép 6" descr="A képen szöveg, képernyőkép, diagram, Betűtípus látható&#10;&#10;Előfordulhat, hogy az AI által létrehozott tartalom helytelen.">
            <a:extLst>
              <a:ext uri="{FF2B5EF4-FFF2-40B4-BE49-F238E27FC236}">
                <a16:creationId xmlns:a16="http://schemas.microsoft.com/office/drawing/2014/main" id="{6053C226-1E05-28F7-7C34-D64D6B027CE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48477" y="2843276"/>
            <a:ext cx="7211568" cy="3468624"/>
          </a:xfrm>
          <a:prstGeom prst="rect">
            <a:avLst/>
          </a:prstGeom>
        </p:spPr>
      </p:pic>
    </p:spTree>
    <p:extLst>
      <p:ext uri="{BB962C8B-B14F-4D97-AF65-F5344CB8AC3E}">
        <p14:creationId xmlns:p14="http://schemas.microsoft.com/office/powerpoint/2010/main" val="40549983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5B084C-ADB3-833C-0EB5-889303CAC82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B61CE7D-A7F2-7100-1A93-3FAACA69FB4B}"/>
              </a:ext>
            </a:extLst>
          </p:cNvPr>
          <p:cNvSpPr>
            <a:spLocks noGrp="1"/>
          </p:cNvSpPr>
          <p:nvPr>
            <p:ph type="title"/>
          </p:nvPr>
        </p:nvSpPr>
        <p:spPr/>
        <p:txBody>
          <a:bodyPr/>
          <a:lstStyle/>
          <a:p>
            <a:r>
              <a:rPr lang="hu-HU" noProof="0" dirty="0" err="1"/>
              <a:t>Conclusions</a:t>
            </a:r>
            <a:endParaRPr lang="en-US" noProof="0" dirty="0"/>
          </a:p>
        </p:txBody>
      </p:sp>
      <p:sp>
        <p:nvSpPr>
          <p:cNvPr id="3" name="Content Placeholder 2">
            <a:extLst>
              <a:ext uri="{FF2B5EF4-FFF2-40B4-BE49-F238E27FC236}">
                <a16:creationId xmlns:a16="http://schemas.microsoft.com/office/drawing/2014/main" id="{2BA8D88E-1540-7A5E-D732-888BD9AEF623}"/>
              </a:ext>
            </a:extLst>
          </p:cNvPr>
          <p:cNvSpPr>
            <a:spLocks noGrp="1"/>
          </p:cNvSpPr>
          <p:nvPr>
            <p:ph idx="1"/>
          </p:nvPr>
        </p:nvSpPr>
        <p:spPr>
          <a:xfrm>
            <a:off x="251520" y="1052736"/>
            <a:ext cx="8435280" cy="2827602"/>
          </a:xfrm>
        </p:spPr>
        <p:txBody>
          <a:bodyPr>
            <a:normAutofit/>
          </a:bodyPr>
          <a:lstStyle/>
          <a:p>
            <a:r>
              <a:rPr lang="en-US" noProof="0" dirty="0"/>
              <a:t>Information is only useful when paired with adaptation</a:t>
            </a:r>
          </a:p>
          <a:p>
            <a:endParaRPr lang="en-US" noProof="0" dirty="0"/>
          </a:p>
          <a:p>
            <a:r>
              <a:rPr lang="hu-HU" dirty="0"/>
              <a:t>No </a:t>
            </a:r>
            <a:r>
              <a:rPr lang="hu-HU" dirty="0" err="1"/>
              <a:t>static</a:t>
            </a:r>
            <a:r>
              <a:rPr lang="hu-HU" dirty="0"/>
              <a:t> </a:t>
            </a:r>
            <a:r>
              <a:rPr lang="hu-HU" dirty="0" err="1"/>
              <a:t>equilibrium</a:t>
            </a:r>
            <a:r>
              <a:rPr lang="hu-HU" dirty="0"/>
              <a:t>, </a:t>
            </a:r>
            <a:r>
              <a:rPr lang="hu-HU" dirty="0" err="1"/>
              <a:t>continuous</a:t>
            </a:r>
            <a:r>
              <a:rPr lang="hu-HU" dirty="0"/>
              <a:t> </a:t>
            </a:r>
            <a:r>
              <a:rPr lang="hu-HU" dirty="0" err="1"/>
              <a:t>adjustment</a:t>
            </a:r>
            <a:r>
              <a:rPr lang="hu-HU" dirty="0"/>
              <a:t> </a:t>
            </a:r>
            <a:r>
              <a:rPr lang="hu-HU" dirty="0" err="1"/>
              <a:t>dominates</a:t>
            </a:r>
            <a:endParaRPr lang="hu-HU" dirty="0"/>
          </a:p>
          <a:p>
            <a:endParaRPr lang="en-US" noProof="0" dirty="0"/>
          </a:p>
          <a:p>
            <a:r>
              <a:rPr lang="en-US" dirty="0"/>
              <a:t>Adaptive defense remains the most reliable approach</a:t>
            </a:r>
            <a:endParaRPr lang="en-US" noProof="0" dirty="0"/>
          </a:p>
        </p:txBody>
      </p:sp>
      <p:sp>
        <p:nvSpPr>
          <p:cNvPr id="4" name="Footer Placeholder 3">
            <a:extLst>
              <a:ext uri="{FF2B5EF4-FFF2-40B4-BE49-F238E27FC236}">
                <a16:creationId xmlns:a16="http://schemas.microsoft.com/office/drawing/2014/main" id="{36D3F3C0-CA0D-7DF1-73FF-09E85286A82A}"/>
              </a:ext>
            </a:extLst>
          </p:cNvPr>
          <p:cNvSpPr>
            <a:spLocks noGrp="1"/>
          </p:cNvSpPr>
          <p:nvPr>
            <p:ph type="ftr" sz="quarter" idx="11"/>
          </p:nvPr>
        </p:nvSpPr>
        <p:spPr/>
        <p:txBody>
          <a:bodyPr/>
          <a:lstStyle/>
          <a:p>
            <a:r>
              <a:rPr lang="en-US" dirty="0"/>
              <a:t>Colonel Blotto in Cybersecurity</a:t>
            </a:r>
          </a:p>
        </p:txBody>
      </p:sp>
      <p:sp>
        <p:nvSpPr>
          <p:cNvPr id="5" name="Slide Number Placeholder 4">
            <a:extLst>
              <a:ext uri="{FF2B5EF4-FFF2-40B4-BE49-F238E27FC236}">
                <a16:creationId xmlns:a16="http://schemas.microsoft.com/office/drawing/2014/main" id="{DC415CCC-BB6F-49A1-B164-2E9677A3EEC7}"/>
              </a:ext>
            </a:extLst>
          </p:cNvPr>
          <p:cNvSpPr>
            <a:spLocks noGrp="1"/>
          </p:cNvSpPr>
          <p:nvPr>
            <p:ph type="sldNum" sz="quarter" idx="12"/>
          </p:nvPr>
        </p:nvSpPr>
        <p:spPr/>
        <p:txBody>
          <a:bodyPr/>
          <a:lstStyle/>
          <a:p>
            <a:fld id="{4F532308-F742-4E8E-A0E9-3E442CCFFF54}" type="slidenum">
              <a:rPr lang="en-US" noProof="0" smtClean="0"/>
              <a:pPr/>
              <a:t>15</a:t>
            </a:fld>
            <a:endParaRPr lang="en-US" noProof="0" dirty="0"/>
          </a:p>
        </p:txBody>
      </p:sp>
      <p:pic>
        <p:nvPicPr>
          <p:cNvPr id="15368" name="Picture 8" descr="Honeypot gradient vector icon for dark theme. Trap for attackers. Deceptive  method of cybersecurity. Luring hackers. Thin line color symbol. Modern  style pictogram. Vector isolated outline drawing 6842964 Vector Art at  Vecteezy">
            <a:extLst>
              <a:ext uri="{FF2B5EF4-FFF2-40B4-BE49-F238E27FC236}">
                <a16:creationId xmlns:a16="http://schemas.microsoft.com/office/drawing/2014/main" id="{E3391573-6791-06D3-B331-C9E5063C828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65320" y="3429000"/>
            <a:ext cx="2714992" cy="271499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4746177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EB9E8C-146F-2FDD-C579-162DBA54761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7B57DF6-FA70-3EB8-5F30-504CFCA777E7}"/>
              </a:ext>
            </a:extLst>
          </p:cNvPr>
          <p:cNvSpPr>
            <a:spLocks noGrp="1"/>
          </p:cNvSpPr>
          <p:nvPr>
            <p:ph type="title"/>
          </p:nvPr>
        </p:nvSpPr>
        <p:spPr/>
        <p:txBody>
          <a:bodyPr/>
          <a:lstStyle/>
          <a:p>
            <a:r>
              <a:rPr lang="hu-HU" noProof="0" dirty="0" err="1"/>
              <a:t>Future</a:t>
            </a:r>
            <a:r>
              <a:rPr lang="hu-HU" noProof="0" dirty="0"/>
              <a:t> </a:t>
            </a:r>
            <a:r>
              <a:rPr lang="hu-HU" noProof="0" dirty="0" err="1"/>
              <a:t>work</a:t>
            </a:r>
            <a:endParaRPr lang="en-US" noProof="0" dirty="0"/>
          </a:p>
        </p:txBody>
      </p:sp>
      <p:sp>
        <p:nvSpPr>
          <p:cNvPr id="3" name="Content Placeholder 2">
            <a:extLst>
              <a:ext uri="{FF2B5EF4-FFF2-40B4-BE49-F238E27FC236}">
                <a16:creationId xmlns:a16="http://schemas.microsoft.com/office/drawing/2014/main" id="{256FF766-41CC-AC14-AFEC-4A79BBE0F1E2}"/>
              </a:ext>
            </a:extLst>
          </p:cNvPr>
          <p:cNvSpPr>
            <a:spLocks noGrp="1"/>
          </p:cNvSpPr>
          <p:nvPr>
            <p:ph idx="1"/>
          </p:nvPr>
        </p:nvSpPr>
        <p:spPr/>
        <p:txBody>
          <a:bodyPr>
            <a:normAutofit/>
          </a:bodyPr>
          <a:lstStyle/>
          <a:p>
            <a:r>
              <a:rPr lang="en-US" dirty="0"/>
              <a:t>Deep RL for more complex strategies</a:t>
            </a:r>
            <a:endParaRPr lang="en-US" noProof="0" dirty="0"/>
          </a:p>
          <a:p>
            <a:pPr marL="0" indent="0">
              <a:buNone/>
            </a:pPr>
            <a:endParaRPr lang="en-US" noProof="0" dirty="0"/>
          </a:p>
          <a:p>
            <a:r>
              <a:rPr lang="hu-HU" dirty="0" err="1"/>
              <a:t>Graph-based</a:t>
            </a:r>
            <a:r>
              <a:rPr lang="hu-HU" dirty="0"/>
              <a:t> </a:t>
            </a:r>
            <a:r>
              <a:rPr lang="hu-HU" dirty="0" err="1"/>
              <a:t>vendor</a:t>
            </a:r>
            <a:r>
              <a:rPr lang="hu-HU" dirty="0"/>
              <a:t> </a:t>
            </a:r>
            <a:r>
              <a:rPr lang="hu-HU" dirty="0" err="1"/>
              <a:t>risk</a:t>
            </a:r>
            <a:r>
              <a:rPr lang="hu-HU" dirty="0"/>
              <a:t> </a:t>
            </a:r>
            <a:r>
              <a:rPr lang="hu-HU" dirty="0" err="1"/>
              <a:t>links</a:t>
            </a:r>
            <a:endParaRPr lang="en-US" noProof="0" dirty="0"/>
          </a:p>
          <a:p>
            <a:endParaRPr lang="en-US" noProof="0" dirty="0"/>
          </a:p>
          <a:p>
            <a:r>
              <a:rPr lang="hu-HU" dirty="0" err="1"/>
              <a:t>Two-phase</a:t>
            </a:r>
            <a:r>
              <a:rPr lang="hu-HU" dirty="0"/>
              <a:t> </a:t>
            </a:r>
            <a:r>
              <a:rPr lang="hu-HU" dirty="0" err="1"/>
              <a:t>attack</a:t>
            </a:r>
            <a:r>
              <a:rPr lang="hu-HU" dirty="0"/>
              <a:t> modelling</a:t>
            </a:r>
            <a:endParaRPr lang="en-US" noProof="0" dirty="0"/>
          </a:p>
          <a:p>
            <a:endParaRPr lang="en-US" noProof="0" dirty="0"/>
          </a:p>
          <a:p>
            <a:r>
              <a:rPr lang="en-US" dirty="0"/>
              <a:t>Real-time updates with diverse data</a:t>
            </a:r>
            <a:endParaRPr lang="hu-HU" dirty="0"/>
          </a:p>
          <a:p>
            <a:endParaRPr lang="hu-HU" noProof="0" dirty="0"/>
          </a:p>
          <a:p>
            <a:r>
              <a:rPr lang="hu-HU" dirty="0" err="1"/>
              <a:t>Exploring</a:t>
            </a:r>
            <a:r>
              <a:rPr lang="hu-HU" dirty="0"/>
              <a:t> </a:t>
            </a:r>
            <a:r>
              <a:rPr lang="hu-HU" dirty="0" err="1"/>
              <a:t>broader</a:t>
            </a:r>
            <a:r>
              <a:rPr lang="hu-HU" dirty="0"/>
              <a:t> </a:t>
            </a:r>
            <a:r>
              <a:rPr lang="hu-HU" dirty="0" err="1"/>
              <a:t>resource</a:t>
            </a:r>
            <a:r>
              <a:rPr lang="hu-HU" dirty="0"/>
              <a:t> </a:t>
            </a:r>
            <a:r>
              <a:rPr lang="hu-HU" dirty="0" err="1"/>
              <a:t>asymmetry</a:t>
            </a:r>
            <a:endParaRPr lang="en-US" noProof="0" dirty="0"/>
          </a:p>
        </p:txBody>
      </p:sp>
      <p:sp>
        <p:nvSpPr>
          <p:cNvPr id="4" name="Footer Placeholder 3">
            <a:extLst>
              <a:ext uri="{FF2B5EF4-FFF2-40B4-BE49-F238E27FC236}">
                <a16:creationId xmlns:a16="http://schemas.microsoft.com/office/drawing/2014/main" id="{0D45A738-C44F-F198-F8DB-F9A0D87A98F7}"/>
              </a:ext>
            </a:extLst>
          </p:cNvPr>
          <p:cNvSpPr>
            <a:spLocks noGrp="1"/>
          </p:cNvSpPr>
          <p:nvPr>
            <p:ph type="ftr" sz="quarter" idx="11"/>
          </p:nvPr>
        </p:nvSpPr>
        <p:spPr/>
        <p:txBody>
          <a:bodyPr/>
          <a:lstStyle/>
          <a:p>
            <a:r>
              <a:rPr lang="en-US" dirty="0"/>
              <a:t>Colonel Blotto in Cybersecurity</a:t>
            </a:r>
          </a:p>
        </p:txBody>
      </p:sp>
      <p:sp>
        <p:nvSpPr>
          <p:cNvPr id="5" name="Slide Number Placeholder 4">
            <a:extLst>
              <a:ext uri="{FF2B5EF4-FFF2-40B4-BE49-F238E27FC236}">
                <a16:creationId xmlns:a16="http://schemas.microsoft.com/office/drawing/2014/main" id="{FE053416-B9A4-7E88-AD98-5F868A59DCF2}"/>
              </a:ext>
            </a:extLst>
          </p:cNvPr>
          <p:cNvSpPr>
            <a:spLocks noGrp="1"/>
          </p:cNvSpPr>
          <p:nvPr>
            <p:ph type="sldNum" sz="quarter" idx="12"/>
          </p:nvPr>
        </p:nvSpPr>
        <p:spPr/>
        <p:txBody>
          <a:bodyPr/>
          <a:lstStyle/>
          <a:p>
            <a:fld id="{4F532308-F742-4E8E-A0E9-3E442CCFFF54}" type="slidenum">
              <a:rPr lang="en-US" noProof="0" smtClean="0"/>
              <a:pPr/>
              <a:t>16</a:t>
            </a:fld>
            <a:endParaRPr lang="en-US" noProof="0" dirty="0"/>
          </a:p>
        </p:txBody>
      </p:sp>
      <p:pic>
        <p:nvPicPr>
          <p:cNvPr id="4100" name="Picture 4" descr="Future Technology - Free technology icons">
            <a:extLst>
              <a:ext uri="{FF2B5EF4-FFF2-40B4-BE49-F238E27FC236}">
                <a16:creationId xmlns:a16="http://schemas.microsoft.com/office/drawing/2014/main" id="{1DAE6576-F329-2709-077D-FFC0BDC5BA1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98089" y="3662139"/>
            <a:ext cx="2143125" cy="2143125"/>
          </a:xfrm>
          <a:prstGeom prst="rect">
            <a:avLst/>
          </a:prstGeom>
          <a:noFill/>
          <a:extLst>
            <a:ext uri="{909E8E84-426E-40DD-AFC4-6F175D3DCCD1}">
              <a14:hiddenFill xmlns:a14="http://schemas.microsoft.com/office/drawing/2010/main">
                <a:solidFill>
                  <a:srgbClr val="FFFFFF"/>
                </a:solidFill>
              </a14:hiddenFill>
            </a:ext>
          </a:extLst>
        </p:spPr>
      </p:pic>
      <p:pic>
        <p:nvPicPr>
          <p:cNvPr id="4102" name="Picture 6" descr="Neural network icon vector image can be used for data science | Premium  Vector">
            <a:extLst>
              <a:ext uri="{FF2B5EF4-FFF2-40B4-BE49-F238E27FC236}">
                <a16:creationId xmlns:a16="http://schemas.microsoft.com/office/drawing/2014/main" id="{164FF118-BB4D-11E4-C426-951BC83C2F1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43675" y="1012378"/>
            <a:ext cx="2143125" cy="21431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8589741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0F11E7-AF97-33B1-F99B-2918A329AC7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942A215-BFC7-F21B-985B-DA200F8BFB3E}"/>
              </a:ext>
            </a:extLst>
          </p:cNvPr>
          <p:cNvSpPr>
            <a:spLocks noGrp="1"/>
          </p:cNvSpPr>
          <p:nvPr>
            <p:ph type="title"/>
          </p:nvPr>
        </p:nvSpPr>
        <p:spPr/>
        <p:txBody>
          <a:bodyPr>
            <a:normAutofit/>
          </a:bodyPr>
          <a:lstStyle/>
          <a:p>
            <a:r>
              <a:rPr lang="hu-HU" noProof="0" dirty="0"/>
              <a:t>Bírálói kérdések I.</a:t>
            </a:r>
          </a:p>
        </p:txBody>
      </p:sp>
      <p:sp>
        <p:nvSpPr>
          <p:cNvPr id="3" name="Content Placeholder 2">
            <a:extLst>
              <a:ext uri="{FF2B5EF4-FFF2-40B4-BE49-F238E27FC236}">
                <a16:creationId xmlns:a16="http://schemas.microsoft.com/office/drawing/2014/main" id="{C4249AE3-6418-7485-6DD4-AF876DAF8E30}"/>
              </a:ext>
            </a:extLst>
          </p:cNvPr>
          <p:cNvSpPr>
            <a:spLocks noGrp="1"/>
          </p:cNvSpPr>
          <p:nvPr>
            <p:ph idx="1"/>
          </p:nvPr>
        </p:nvSpPr>
        <p:spPr/>
        <p:txBody>
          <a:bodyPr/>
          <a:lstStyle/>
          <a:p>
            <a:pPr marL="0" indent="0">
              <a:buNone/>
            </a:pPr>
            <a:r>
              <a:rPr lang="hu-HU" noProof="0" dirty="0"/>
              <a:t>Milyen lépések lennének szükségesek a dezinformáció bevezetéséhez a modellben?</a:t>
            </a:r>
          </a:p>
          <a:p>
            <a:endParaRPr lang="hu-HU" noProof="0" dirty="0"/>
          </a:p>
          <a:p>
            <a:r>
              <a:rPr lang="hu-HU" noProof="0" dirty="0"/>
              <a:t>Torzított </a:t>
            </a:r>
            <a:r>
              <a:rPr lang="hu-HU" noProof="0" dirty="0" err="1"/>
              <a:t>risk</a:t>
            </a:r>
            <a:r>
              <a:rPr lang="hu-HU" noProof="0" dirty="0"/>
              <a:t>-értékek</a:t>
            </a:r>
          </a:p>
          <a:p>
            <a:endParaRPr lang="hu-HU" noProof="0" dirty="0"/>
          </a:p>
          <a:p>
            <a:r>
              <a:rPr lang="hu-HU" noProof="0" dirty="0"/>
              <a:t>Késleltetett adatok</a:t>
            </a:r>
          </a:p>
          <a:p>
            <a:endParaRPr lang="hu-HU" noProof="0" dirty="0"/>
          </a:p>
          <a:p>
            <a:r>
              <a:rPr lang="hu-HU" noProof="0" dirty="0"/>
              <a:t>Hibás stratégia-megfigyelés</a:t>
            </a:r>
          </a:p>
          <a:p>
            <a:pPr lvl="1"/>
            <a:r>
              <a:rPr lang="hu-HU" noProof="0" dirty="0"/>
              <a:t>Gyengébb adaptáció és tanulás</a:t>
            </a:r>
          </a:p>
        </p:txBody>
      </p:sp>
      <p:sp>
        <p:nvSpPr>
          <p:cNvPr id="4" name="Footer Placeholder 3">
            <a:extLst>
              <a:ext uri="{FF2B5EF4-FFF2-40B4-BE49-F238E27FC236}">
                <a16:creationId xmlns:a16="http://schemas.microsoft.com/office/drawing/2014/main" id="{1F83C426-CF11-DFF5-7EAE-5575A2D89E6B}"/>
              </a:ext>
            </a:extLst>
          </p:cNvPr>
          <p:cNvSpPr>
            <a:spLocks noGrp="1"/>
          </p:cNvSpPr>
          <p:nvPr>
            <p:ph type="ftr" sz="quarter" idx="11"/>
          </p:nvPr>
        </p:nvSpPr>
        <p:spPr/>
        <p:txBody>
          <a:bodyPr/>
          <a:lstStyle/>
          <a:p>
            <a:r>
              <a:rPr lang="en-US"/>
              <a:t>Colonel Blotto in Cybersecurity</a:t>
            </a:r>
            <a:endParaRPr lang="en-US" dirty="0"/>
          </a:p>
        </p:txBody>
      </p:sp>
      <p:sp>
        <p:nvSpPr>
          <p:cNvPr id="5" name="Slide Number Placeholder 4">
            <a:extLst>
              <a:ext uri="{FF2B5EF4-FFF2-40B4-BE49-F238E27FC236}">
                <a16:creationId xmlns:a16="http://schemas.microsoft.com/office/drawing/2014/main" id="{FD681E38-6C8A-3D24-B782-D1843E112E0A}"/>
              </a:ext>
            </a:extLst>
          </p:cNvPr>
          <p:cNvSpPr>
            <a:spLocks noGrp="1"/>
          </p:cNvSpPr>
          <p:nvPr>
            <p:ph type="sldNum" sz="quarter" idx="12"/>
          </p:nvPr>
        </p:nvSpPr>
        <p:spPr/>
        <p:txBody>
          <a:bodyPr/>
          <a:lstStyle/>
          <a:p>
            <a:fld id="{4F532308-F742-4E8E-A0E9-3E442CCFFF54}" type="slidenum">
              <a:rPr lang="hu-HU" noProof="0" smtClean="0"/>
              <a:pPr/>
              <a:t>17</a:t>
            </a:fld>
            <a:endParaRPr lang="hu-HU" noProof="0" dirty="0"/>
          </a:p>
        </p:txBody>
      </p:sp>
    </p:spTree>
    <p:extLst>
      <p:ext uri="{BB962C8B-B14F-4D97-AF65-F5344CB8AC3E}">
        <p14:creationId xmlns:p14="http://schemas.microsoft.com/office/powerpoint/2010/main" val="192484763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48F0DD-BB21-761D-07BF-760E876F82A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B8A9CD1-71D2-7409-DECE-D859A192CCA4}"/>
              </a:ext>
            </a:extLst>
          </p:cNvPr>
          <p:cNvSpPr>
            <a:spLocks noGrp="1"/>
          </p:cNvSpPr>
          <p:nvPr>
            <p:ph type="title"/>
          </p:nvPr>
        </p:nvSpPr>
        <p:spPr/>
        <p:txBody>
          <a:bodyPr/>
          <a:lstStyle/>
          <a:p>
            <a:r>
              <a:rPr lang="hu-HU" noProof="0" dirty="0"/>
              <a:t>Bírálói kérdések II.</a:t>
            </a:r>
          </a:p>
        </p:txBody>
      </p:sp>
      <p:sp>
        <p:nvSpPr>
          <p:cNvPr id="3" name="Content Placeholder 2">
            <a:extLst>
              <a:ext uri="{FF2B5EF4-FFF2-40B4-BE49-F238E27FC236}">
                <a16:creationId xmlns:a16="http://schemas.microsoft.com/office/drawing/2014/main" id="{0436D604-1E68-598B-C18A-65E10FB14BE8}"/>
              </a:ext>
            </a:extLst>
          </p:cNvPr>
          <p:cNvSpPr>
            <a:spLocks noGrp="1"/>
          </p:cNvSpPr>
          <p:nvPr>
            <p:ph idx="1"/>
          </p:nvPr>
        </p:nvSpPr>
        <p:spPr/>
        <p:txBody>
          <a:bodyPr/>
          <a:lstStyle/>
          <a:p>
            <a:pPr marL="0" indent="0">
              <a:buNone/>
            </a:pPr>
            <a:r>
              <a:rPr lang="hu-HU" noProof="0" dirty="0"/>
              <a:t>A jelenlegi modell minden gyártót külön csatatérként kezel. Ha egy </a:t>
            </a:r>
            <a:r>
              <a:rPr lang="hu-HU" noProof="0" dirty="0" err="1"/>
              <a:t>kiberbiztonságért</a:t>
            </a:r>
            <a:r>
              <a:rPr lang="hu-HU" noProof="0" dirty="0"/>
              <a:t> felelős vezető lennék, és pontos tudásom lenne arról, hogy milyen szoftverkomponensek milyen gyártótól származó könyvtárakat használnak, akkor hogyan lehetne ezt modellezni a </a:t>
            </a:r>
            <a:r>
              <a:rPr lang="hu-HU" noProof="0" dirty="0" err="1"/>
              <a:t>Colonel</a:t>
            </a:r>
            <a:r>
              <a:rPr lang="hu-HU" noProof="0" dirty="0"/>
              <a:t> </a:t>
            </a:r>
            <a:r>
              <a:rPr lang="hu-HU" noProof="0" dirty="0" err="1"/>
              <a:t>Blotto</a:t>
            </a:r>
            <a:r>
              <a:rPr lang="hu-HU" noProof="0" dirty="0"/>
              <a:t> keretében? Milyen alapvető elemek lennének ezen modellben?</a:t>
            </a:r>
          </a:p>
          <a:p>
            <a:endParaRPr lang="hu-HU" noProof="0" dirty="0"/>
          </a:p>
          <a:p>
            <a:r>
              <a:rPr lang="hu-HU" noProof="0" dirty="0"/>
              <a:t>Komponensfüggőségek</a:t>
            </a:r>
          </a:p>
          <a:p>
            <a:pPr lvl="1"/>
            <a:r>
              <a:rPr lang="hu-HU" noProof="0" dirty="0"/>
              <a:t>Gráf csomópont = komponens/gyártó</a:t>
            </a:r>
          </a:p>
          <a:p>
            <a:pPr lvl="1"/>
            <a:r>
              <a:rPr lang="hu-HU" noProof="0" dirty="0"/>
              <a:t>Élek = függőségek</a:t>
            </a:r>
          </a:p>
          <a:p>
            <a:pPr lvl="1"/>
            <a:r>
              <a:rPr lang="hu-HU" noProof="0" dirty="0"/>
              <a:t>Érték = lokális + terjedő kockázat</a:t>
            </a:r>
          </a:p>
          <a:p>
            <a:pPr lvl="1"/>
            <a:endParaRPr lang="hu-HU" noProof="0" dirty="0"/>
          </a:p>
          <a:p>
            <a:r>
              <a:rPr lang="hu-HU" noProof="0" dirty="0" err="1"/>
              <a:t>Blotto</a:t>
            </a:r>
            <a:r>
              <a:rPr lang="hu-HU" noProof="0" dirty="0"/>
              <a:t> a gráfon</a:t>
            </a:r>
          </a:p>
        </p:txBody>
      </p:sp>
      <p:sp>
        <p:nvSpPr>
          <p:cNvPr id="4" name="Footer Placeholder 3">
            <a:extLst>
              <a:ext uri="{FF2B5EF4-FFF2-40B4-BE49-F238E27FC236}">
                <a16:creationId xmlns:a16="http://schemas.microsoft.com/office/drawing/2014/main" id="{611CB310-E991-3DAC-640B-97F678707895}"/>
              </a:ext>
            </a:extLst>
          </p:cNvPr>
          <p:cNvSpPr>
            <a:spLocks noGrp="1"/>
          </p:cNvSpPr>
          <p:nvPr>
            <p:ph type="ftr" sz="quarter" idx="11"/>
          </p:nvPr>
        </p:nvSpPr>
        <p:spPr/>
        <p:txBody>
          <a:bodyPr/>
          <a:lstStyle/>
          <a:p>
            <a:r>
              <a:rPr lang="hu-HU" noProof="0" dirty="0" err="1"/>
              <a:t>Colonel</a:t>
            </a:r>
            <a:r>
              <a:rPr lang="hu-HU" noProof="0" dirty="0"/>
              <a:t> </a:t>
            </a:r>
            <a:r>
              <a:rPr lang="hu-HU" noProof="0" dirty="0" err="1"/>
              <a:t>Blotto</a:t>
            </a:r>
            <a:r>
              <a:rPr lang="hu-HU" noProof="0" dirty="0"/>
              <a:t> in </a:t>
            </a:r>
            <a:r>
              <a:rPr lang="hu-HU" noProof="0" dirty="0" err="1"/>
              <a:t>Cybersecurity</a:t>
            </a:r>
            <a:endParaRPr lang="hu-HU" noProof="0" dirty="0"/>
          </a:p>
        </p:txBody>
      </p:sp>
      <p:sp>
        <p:nvSpPr>
          <p:cNvPr id="5" name="Slide Number Placeholder 4">
            <a:extLst>
              <a:ext uri="{FF2B5EF4-FFF2-40B4-BE49-F238E27FC236}">
                <a16:creationId xmlns:a16="http://schemas.microsoft.com/office/drawing/2014/main" id="{A19737FA-2765-6ED5-0C18-8F37E5FF6A80}"/>
              </a:ext>
            </a:extLst>
          </p:cNvPr>
          <p:cNvSpPr>
            <a:spLocks noGrp="1"/>
          </p:cNvSpPr>
          <p:nvPr>
            <p:ph type="sldNum" sz="quarter" idx="12"/>
          </p:nvPr>
        </p:nvSpPr>
        <p:spPr/>
        <p:txBody>
          <a:bodyPr/>
          <a:lstStyle/>
          <a:p>
            <a:fld id="{4F532308-F742-4E8E-A0E9-3E442CCFFF54}" type="slidenum">
              <a:rPr lang="hu-HU" noProof="0" smtClean="0"/>
              <a:pPr/>
              <a:t>18</a:t>
            </a:fld>
            <a:endParaRPr lang="hu-HU" noProof="0" dirty="0"/>
          </a:p>
        </p:txBody>
      </p:sp>
    </p:spTree>
    <p:extLst>
      <p:ext uri="{BB962C8B-B14F-4D97-AF65-F5344CB8AC3E}">
        <p14:creationId xmlns:p14="http://schemas.microsoft.com/office/powerpoint/2010/main" val="364206463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4F93BA-9FA7-68AC-E746-23B629390A5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7DC5638-F0DF-5D80-5BF8-178CF5A0A45D}"/>
              </a:ext>
            </a:extLst>
          </p:cNvPr>
          <p:cNvSpPr>
            <a:spLocks noGrp="1"/>
          </p:cNvSpPr>
          <p:nvPr>
            <p:ph type="title"/>
          </p:nvPr>
        </p:nvSpPr>
        <p:spPr/>
        <p:txBody>
          <a:bodyPr/>
          <a:lstStyle/>
          <a:p>
            <a:r>
              <a:rPr lang="hu-HU" noProof="0" dirty="0"/>
              <a:t>Bírálói kérdések III.</a:t>
            </a:r>
          </a:p>
        </p:txBody>
      </p:sp>
      <p:sp>
        <p:nvSpPr>
          <p:cNvPr id="3" name="Content Placeholder 2">
            <a:extLst>
              <a:ext uri="{FF2B5EF4-FFF2-40B4-BE49-F238E27FC236}">
                <a16:creationId xmlns:a16="http://schemas.microsoft.com/office/drawing/2014/main" id="{1F5984A6-048F-EE9A-42D2-0419701893E6}"/>
              </a:ext>
            </a:extLst>
          </p:cNvPr>
          <p:cNvSpPr>
            <a:spLocks noGrp="1"/>
          </p:cNvSpPr>
          <p:nvPr>
            <p:ph idx="1"/>
          </p:nvPr>
        </p:nvSpPr>
        <p:spPr/>
        <p:txBody>
          <a:bodyPr/>
          <a:lstStyle/>
          <a:p>
            <a:pPr marL="0" indent="0">
              <a:buNone/>
            </a:pPr>
            <a:r>
              <a:rPr lang="hu-HU" noProof="0" dirty="0"/>
              <a:t>Mennyire skálázható a bemutatott megoldás (ideértve a Q-</a:t>
            </a:r>
            <a:r>
              <a:rPr lang="hu-HU" noProof="0" dirty="0" err="1"/>
              <a:t>learninget</a:t>
            </a:r>
            <a:r>
              <a:rPr lang="hu-HU" noProof="0" dirty="0"/>
              <a:t> is) nagy csataterek esetén (pl. több száz gyártó)?</a:t>
            </a:r>
          </a:p>
          <a:p>
            <a:endParaRPr lang="hu-HU" noProof="0" dirty="0"/>
          </a:p>
          <a:p>
            <a:r>
              <a:rPr lang="hu-HU" noProof="0" dirty="0" err="1"/>
              <a:t>Tabuláris</a:t>
            </a:r>
            <a:r>
              <a:rPr lang="hu-HU" noProof="0" dirty="0"/>
              <a:t> Q-</a:t>
            </a:r>
            <a:r>
              <a:rPr lang="hu-HU" noProof="0" dirty="0" err="1"/>
              <a:t>learning</a:t>
            </a:r>
            <a:r>
              <a:rPr lang="hu-HU" noProof="0" dirty="0"/>
              <a:t> nem </a:t>
            </a:r>
            <a:r>
              <a:rPr lang="hu-HU" noProof="0" dirty="0" err="1"/>
              <a:t>skálázódik</a:t>
            </a:r>
            <a:endParaRPr lang="hu-HU" noProof="0" dirty="0"/>
          </a:p>
          <a:p>
            <a:endParaRPr lang="hu-HU" noProof="0" dirty="0"/>
          </a:p>
          <a:p>
            <a:r>
              <a:rPr lang="hu-HU" noProof="0" dirty="0"/>
              <a:t>Deep RL, </a:t>
            </a:r>
            <a:r>
              <a:rPr lang="hu-HU" dirty="0" err="1"/>
              <a:t>klaszterezés</a:t>
            </a:r>
            <a:r>
              <a:rPr lang="hu-HU" noProof="0" dirty="0"/>
              <a:t>, gráf-alapú RL szükséges</a:t>
            </a:r>
          </a:p>
          <a:p>
            <a:endParaRPr lang="hu-HU" noProof="0" dirty="0"/>
          </a:p>
          <a:p>
            <a:r>
              <a:rPr lang="hu-HU" noProof="0" dirty="0"/>
              <a:t>A keret skálázható, az RL-t kell frissíteni</a:t>
            </a:r>
          </a:p>
        </p:txBody>
      </p:sp>
      <p:sp>
        <p:nvSpPr>
          <p:cNvPr id="4" name="Footer Placeholder 3">
            <a:extLst>
              <a:ext uri="{FF2B5EF4-FFF2-40B4-BE49-F238E27FC236}">
                <a16:creationId xmlns:a16="http://schemas.microsoft.com/office/drawing/2014/main" id="{8C486D66-94BC-839F-1B97-5013205A9690}"/>
              </a:ext>
            </a:extLst>
          </p:cNvPr>
          <p:cNvSpPr>
            <a:spLocks noGrp="1"/>
          </p:cNvSpPr>
          <p:nvPr>
            <p:ph type="ftr" sz="quarter" idx="11"/>
          </p:nvPr>
        </p:nvSpPr>
        <p:spPr/>
        <p:txBody>
          <a:bodyPr/>
          <a:lstStyle/>
          <a:p>
            <a:r>
              <a:rPr lang="hu-HU" noProof="0" dirty="0" err="1"/>
              <a:t>Colonel</a:t>
            </a:r>
            <a:r>
              <a:rPr lang="hu-HU" noProof="0" dirty="0"/>
              <a:t> </a:t>
            </a:r>
            <a:r>
              <a:rPr lang="hu-HU" noProof="0" dirty="0" err="1"/>
              <a:t>Blotto</a:t>
            </a:r>
            <a:r>
              <a:rPr lang="hu-HU" noProof="0" dirty="0"/>
              <a:t> in </a:t>
            </a:r>
            <a:r>
              <a:rPr lang="hu-HU" noProof="0" dirty="0" err="1"/>
              <a:t>Cybersecurity</a:t>
            </a:r>
            <a:endParaRPr lang="hu-HU" noProof="0" dirty="0"/>
          </a:p>
        </p:txBody>
      </p:sp>
      <p:sp>
        <p:nvSpPr>
          <p:cNvPr id="5" name="Slide Number Placeholder 4">
            <a:extLst>
              <a:ext uri="{FF2B5EF4-FFF2-40B4-BE49-F238E27FC236}">
                <a16:creationId xmlns:a16="http://schemas.microsoft.com/office/drawing/2014/main" id="{269DBD69-0C88-1C67-7A80-4DCF0DC9F8A4}"/>
              </a:ext>
            </a:extLst>
          </p:cNvPr>
          <p:cNvSpPr>
            <a:spLocks noGrp="1"/>
          </p:cNvSpPr>
          <p:nvPr>
            <p:ph type="sldNum" sz="quarter" idx="12"/>
          </p:nvPr>
        </p:nvSpPr>
        <p:spPr/>
        <p:txBody>
          <a:bodyPr/>
          <a:lstStyle/>
          <a:p>
            <a:fld id="{4F532308-F742-4E8E-A0E9-3E442CCFFF54}" type="slidenum">
              <a:rPr lang="hu-HU" noProof="0" smtClean="0"/>
              <a:pPr/>
              <a:t>19</a:t>
            </a:fld>
            <a:endParaRPr lang="hu-HU" noProof="0" dirty="0"/>
          </a:p>
        </p:txBody>
      </p:sp>
    </p:spTree>
    <p:extLst>
      <p:ext uri="{BB962C8B-B14F-4D97-AF65-F5344CB8AC3E}">
        <p14:creationId xmlns:p14="http://schemas.microsoft.com/office/powerpoint/2010/main" val="407967599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399AEDB2-1661-6316-4158-77E11DC9A06F}"/>
              </a:ext>
            </a:extLst>
          </p:cNvPr>
          <p:cNvSpPr>
            <a:spLocks noGrp="1"/>
          </p:cNvSpPr>
          <p:nvPr>
            <p:ph type="title"/>
          </p:nvPr>
        </p:nvSpPr>
        <p:spPr/>
        <p:txBody>
          <a:bodyPr/>
          <a:lstStyle/>
          <a:p>
            <a:r>
              <a:rPr lang="en-US" dirty="0"/>
              <a:t>Colonel Blotto in Cybersecurity</a:t>
            </a:r>
            <a:endParaRPr lang="hu-HU" dirty="0"/>
          </a:p>
        </p:txBody>
      </p:sp>
      <p:sp>
        <p:nvSpPr>
          <p:cNvPr id="4" name="Élőláb helye 3">
            <a:extLst>
              <a:ext uri="{FF2B5EF4-FFF2-40B4-BE49-F238E27FC236}">
                <a16:creationId xmlns:a16="http://schemas.microsoft.com/office/drawing/2014/main" id="{A6B9C48B-DE5E-5687-9898-68D9E3920273}"/>
              </a:ext>
            </a:extLst>
          </p:cNvPr>
          <p:cNvSpPr>
            <a:spLocks noGrp="1"/>
          </p:cNvSpPr>
          <p:nvPr>
            <p:ph type="ftr" sz="quarter" idx="11"/>
          </p:nvPr>
        </p:nvSpPr>
        <p:spPr/>
        <p:txBody>
          <a:bodyPr/>
          <a:lstStyle/>
          <a:p>
            <a:r>
              <a:rPr lang="hu-HU" dirty="0" err="1"/>
              <a:t>Colonel</a:t>
            </a:r>
            <a:r>
              <a:rPr lang="hu-HU" dirty="0"/>
              <a:t> </a:t>
            </a:r>
            <a:r>
              <a:rPr lang="hu-HU" dirty="0" err="1"/>
              <a:t>Blotto</a:t>
            </a:r>
            <a:r>
              <a:rPr lang="hu-HU" dirty="0"/>
              <a:t> in </a:t>
            </a:r>
            <a:r>
              <a:rPr lang="hu-HU" dirty="0" err="1"/>
              <a:t>Cybersecurity</a:t>
            </a:r>
            <a:endParaRPr lang="hu-HU" dirty="0"/>
          </a:p>
        </p:txBody>
      </p:sp>
      <p:sp>
        <p:nvSpPr>
          <p:cNvPr id="5" name="Dia számának helye 4">
            <a:extLst>
              <a:ext uri="{FF2B5EF4-FFF2-40B4-BE49-F238E27FC236}">
                <a16:creationId xmlns:a16="http://schemas.microsoft.com/office/drawing/2014/main" id="{844E02C7-E4EE-69B6-3D0A-E04CF9D5DB95}"/>
              </a:ext>
            </a:extLst>
          </p:cNvPr>
          <p:cNvSpPr>
            <a:spLocks noGrp="1"/>
          </p:cNvSpPr>
          <p:nvPr>
            <p:ph type="sldNum" sz="quarter" idx="12"/>
          </p:nvPr>
        </p:nvSpPr>
        <p:spPr/>
        <p:txBody>
          <a:bodyPr/>
          <a:lstStyle/>
          <a:p>
            <a:fld id="{4F532308-F742-4E8E-A0E9-3E442CCFFF54}" type="slidenum">
              <a:rPr lang="hu-HU" smtClean="0"/>
              <a:pPr/>
              <a:t>20</a:t>
            </a:fld>
            <a:endParaRPr lang="hu-HU" dirty="0"/>
          </a:p>
        </p:txBody>
      </p:sp>
      <p:pic>
        <p:nvPicPr>
          <p:cNvPr id="6" name="Picture 3" descr="Top 8 Cyber Threat Maps To Track Cyber Attacks">
            <a:extLst>
              <a:ext uri="{FF2B5EF4-FFF2-40B4-BE49-F238E27FC236}">
                <a16:creationId xmlns:a16="http://schemas.microsoft.com/office/drawing/2014/main" id="{947719BF-158E-6C5E-B257-6AD5F291E830}"/>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0" y="1904163"/>
            <a:ext cx="2964300" cy="1482150"/>
          </a:xfrm>
          <a:prstGeom prst="rect">
            <a:avLst/>
          </a:prstGeom>
          <a:noFill/>
          <a:extLst>
            <a:ext uri="{909E8E84-426E-40DD-AFC4-6F175D3DCCD1}">
              <a14:hiddenFill xmlns:a14="http://schemas.microsoft.com/office/drawing/2010/main">
                <a:solidFill>
                  <a:srgbClr val="FFFFFF"/>
                </a:solidFill>
              </a14:hiddenFill>
            </a:ext>
          </a:extLst>
        </p:spPr>
      </p:pic>
      <p:grpSp>
        <p:nvGrpSpPr>
          <p:cNvPr id="8" name="Csoportba foglalás 7">
            <a:extLst>
              <a:ext uri="{FF2B5EF4-FFF2-40B4-BE49-F238E27FC236}">
                <a16:creationId xmlns:a16="http://schemas.microsoft.com/office/drawing/2014/main" id="{6F623CE8-6EB7-3A2B-9FA0-FA24CB03CBFE}"/>
              </a:ext>
            </a:extLst>
          </p:cNvPr>
          <p:cNvGrpSpPr>
            <a:grpSpLocks noChangeAspect="1"/>
          </p:cNvGrpSpPr>
          <p:nvPr/>
        </p:nvGrpSpPr>
        <p:grpSpPr>
          <a:xfrm>
            <a:off x="3123974" y="1703420"/>
            <a:ext cx="6020757" cy="1945974"/>
            <a:chOff x="0" y="3187337"/>
            <a:chExt cx="9144000" cy="2955440"/>
          </a:xfrm>
        </p:grpSpPr>
        <p:pic>
          <p:nvPicPr>
            <p:cNvPr id="9" name="Picture 2" descr="Dong Quan Vu' s Personal Website">
              <a:extLst>
                <a:ext uri="{FF2B5EF4-FFF2-40B4-BE49-F238E27FC236}">
                  <a16:creationId xmlns:a16="http://schemas.microsoft.com/office/drawing/2014/main" id="{B8C4DC66-BF71-3B3F-A8F0-23074DC29541}"/>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13064" b="7341"/>
            <a:stretch>
              <a:fillRect/>
            </a:stretch>
          </p:blipFill>
          <p:spPr bwMode="auto">
            <a:xfrm>
              <a:off x="0" y="3187337"/>
              <a:ext cx="9144000" cy="2860766"/>
            </a:xfrm>
            <a:prstGeom prst="rect">
              <a:avLst/>
            </a:prstGeom>
            <a:extLst>
              <a:ext uri="{909E8E84-426E-40DD-AFC4-6F175D3DCCD1}">
                <a14:hiddenFill xmlns:a14="http://schemas.microsoft.com/office/drawing/2010/main">
                  <a:solidFill>
                    <a:srgbClr val="FFFFFF"/>
                  </a:solidFill>
                </a14:hiddenFill>
              </a:ext>
            </a:extLst>
          </p:spPr>
        </p:pic>
        <p:grpSp>
          <p:nvGrpSpPr>
            <p:cNvPr id="10" name="Csoportba foglalás 9">
              <a:extLst>
                <a:ext uri="{FF2B5EF4-FFF2-40B4-BE49-F238E27FC236}">
                  <a16:creationId xmlns:a16="http://schemas.microsoft.com/office/drawing/2014/main" id="{48C04B39-99B1-F706-C308-434C6D1D10B3}"/>
                </a:ext>
              </a:extLst>
            </p:cNvPr>
            <p:cNvGrpSpPr/>
            <p:nvPr/>
          </p:nvGrpSpPr>
          <p:grpSpPr>
            <a:xfrm>
              <a:off x="0" y="5418499"/>
              <a:ext cx="9144000" cy="724278"/>
              <a:chOff x="0" y="4916031"/>
              <a:chExt cx="9144000" cy="724278"/>
            </a:xfrm>
          </p:grpSpPr>
          <p:sp>
            <p:nvSpPr>
              <p:cNvPr id="11" name="Téglalap 10">
                <a:extLst>
                  <a:ext uri="{FF2B5EF4-FFF2-40B4-BE49-F238E27FC236}">
                    <a16:creationId xmlns:a16="http://schemas.microsoft.com/office/drawing/2014/main" id="{DC7BA0D6-F167-1590-FDA6-5EA8512A2F41}"/>
                  </a:ext>
                </a:extLst>
              </p:cNvPr>
              <p:cNvSpPr/>
              <p:nvPr/>
            </p:nvSpPr>
            <p:spPr>
              <a:xfrm>
                <a:off x="0" y="4916032"/>
                <a:ext cx="1348966" cy="72427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2" name="Téglalap 11">
                <a:extLst>
                  <a:ext uri="{FF2B5EF4-FFF2-40B4-BE49-F238E27FC236}">
                    <a16:creationId xmlns:a16="http://schemas.microsoft.com/office/drawing/2014/main" id="{38928A9B-FDDC-6F1F-8A73-21C249591753}"/>
                  </a:ext>
                </a:extLst>
              </p:cNvPr>
              <p:cNvSpPr/>
              <p:nvPr/>
            </p:nvSpPr>
            <p:spPr>
              <a:xfrm>
                <a:off x="7795034" y="4916031"/>
                <a:ext cx="1348966" cy="72427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pic>
        <p:nvPicPr>
          <p:cNvPr id="14" name="Picture 7" descr="Key Business Performance Metrics Icon Stock Vector - Illustration of  design, strategy: 352796351">
            <a:extLst>
              <a:ext uri="{FF2B5EF4-FFF2-40B4-BE49-F238E27FC236}">
                <a16:creationId xmlns:a16="http://schemas.microsoft.com/office/drawing/2014/main" id="{DDAF4CB9-D3B1-6B52-F3D1-92BB587CE5EF}"/>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681963" y="3994081"/>
            <a:ext cx="1772232" cy="1772232"/>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6" descr="Neural network icon vector image can be used for data science | Premium  Vector">
            <a:extLst>
              <a:ext uri="{FF2B5EF4-FFF2-40B4-BE49-F238E27FC236}">
                <a16:creationId xmlns:a16="http://schemas.microsoft.com/office/drawing/2014/main" id="{5E78375E-E52C-4F72-E3E5-0933D96E0029}"/>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103591" y="4073558"/>
            <a:ext cx="1613279" cy="1613279"/>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8" descr="Honeypot gradient vector icon for dark theme. Trap for attackers. Deceptive  method of cybersecurity. Luring hackers. Thin line color symbol. Modern  style pictogram. Vector isolated outline drawing 6842964 Vector Art at  Vecteezy">
            <a:extLst>
              <a:ext uri="{FF2B5EF4-FFF2-40B4-BE49-F238E27FC236}">
                <a16:creationId xmlns:a16="http://schemas.microsoft.com/office/drawing/2014/main" id="{8FBB4C07-AC03-7C64-CB50-DED703C00D9F}"/>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989376" y="4038759"/>
            <a:ext cx="1754239" cy="1754239"/>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2" descr="Machine learning Generic color lineal-color icon | Freepik">
            <a:extLst>
              <a:ext uri="{FF2B5EF4-FFF2-40B4-BE49-F238E27FC236}">
                <a16:creationId xmlns:a16="http://schemas.microsoft.com/office/drawing/2014/main" id="{58795151-5303-C827-6F38-EFBBBDFF4AE4}"/>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27130" y="4038759"/>
            <a:ext cx="1531816" cy="153181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1044855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3164</TotalTime>
  <Words>3016</Words>
  <Application>Microsoft Office PowerPoint</Application>
  <PresentationFormat>Diavetítés a képernyőre (4:3 oldalarány)</PresentationFormat>
  <Paragraphs>281</Paragraphs>
  <Slides>20</Slides>
  <Notes>20</Notes>
  <HiddenSlides>0</HiddenSlides>
  <MMClips>0</MMClips>
  <ScaleCrop>false</ScaleCrop>
  <HeadingPairs>
    <vt:vector size="6" baseType="variant">
      <vt:variant>
        <vt:lpstr>Használt betűtípusok</vt:lpstr>
      </vt:variant>
      <vt:variant>
        <vt:i4>4</vt:i4>
      </vt:variant>
      <vt:variant>
        <vt:lpstr>Téma</vt:lpstr>
      </vt:variant>
      <vt:variant>
        <vt:i4>1</vt:i4>
      </vt:variant>
      <vt:variant>
        <vt:lpstr>Diacímek</vt:lpstr>
      </vt:variant>
      <vt:variant>
        <vt:i4>20</vt:i4>
      </vt:variant>
    </vt:vector>
  </HeadingPairs>
  <TitlesOfParts>
    <vt:vector size="25" baseType="lpstr">
      <vt:lpstr>Arial</vt:lpstr>
      <vt:lpstr>Calibri</vt:lpstr>
      <vt:lpstr>Consolas</vt:lpstr>
      <vt:lpstr>Wingdings</vt:lpstr>
      <vt:lpstr>Office Theme</vt:lpstr>
      <vt:lpstr> Colonel Blotto in Cybersecurity Real-World Data, Reinforcement Learning and  Information Asymmetry</vt:lpstr>
      <vt:lpstr>Motivation</vt:lpstr>
      <vt:lpstr>The strategic nature of cybersecurity</vt:lpstr>
      <vt:lpstr>Colonel Blotto model</vt:lpstr>
      <vt:lpstr>CVE, CVSS, EPSS</vt:lpstr>
      <vt:lpstr>CVE, CVSS, EPSS</vt:lpstr>
      <vt:lpstr>Learning agents</vt:lpstr>
      <vt:lpstr>Information scenarios</vt:lpstr>
      <vt:lpstr>Resource allocation strategies</vt:lpstr>
      <vt:lpstr>Model configuration</vt:lpstr>
      <vt:lpstr>Key measures</vt:lpstr>
      <vt:lpstr>Main results I.</vt:lpstr>
      <vt:lpstr>Main results II.</vt:lpstr>
      <vt:lpstr>Main results III.</vt:lpstr>
      <vt:lpstr>Conclusions</vt:lpstr>
      <vt:lpstr>Future work</vt:lpstr>
      <vt:lpstr>Bírálói kérdések I.</vt:lpstr>
      <vt:lpstr>Bírálói kérdések II.</vt:lpstr>
      <vt:lpstr>Bírálói kérdések III.</vt:lpstr>
      <vt:lpstr>Colonel Blotto in Cybersecurity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buttyan</dc:creator>
  <cp:lastModifiedBy>Nagy Zalán</cp:lastModifiedBy>
  <cp:revision>174</cp:revision>
  <dcterms:created xsi:type="dcterms:W3CDTF">2014-12-01T17:03:38Z</dcterms:created>
  <dcterms:modified xsi:type="dcterms:W3CDTF">2025-11-17T20:46:51Z</dcterms:modified>
</cp:coreProperties>
</file>