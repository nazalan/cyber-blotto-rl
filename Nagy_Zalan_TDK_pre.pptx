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256" r:id="rId2"/>
    <p:sldId id="264" r:id="rId3"/>
    <p:sldId id="265" r:id="rId4"/>
    <p:sldId id="266" r:id="rId5"/>
    <p:sldId id="267" r:id="rId6"/>
    <p:sldId id="281" r:id="rId7"/>
    <p:sldId id="270" r:id="rId8"/>
    <p:sldId id="271" r:id="rId9"/>
    <p:sldId id="272" r:id="rId10"/>
    <p:sldId id="285" r:id="rId11"/>
    <p:sldId id="284" r:id="rId12"/>
    <p:sldId id="274" r:id="rId13"/>
    <p:sldId id="282" r:id="rId14"/>
    <p:sldId id="283" r:id="rId15"/>
    <p:sldId id="276" r:id="rId16"/>
    <p:sldId id="278" r:id="rId17"/>
    <p:sldId id="277" r:id="rId18"/>
    <p:sldId id="280" r:id="rId19"/>
    <p:sldId id="279" r:id="rId20"/>
    <p:sldId id="286" r:id="rId21"/>
  </p:sldIdLst>
  <p:sldSz cx="9144000" cy="6858000" type="screen4x3"/>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A4D"/>
    <a:srgbClr val="777777"/>
    <a:srgbClr val="00CC66"/>
    <a:srgbClr val="3399FF"/>
    <a:srgbClr val="6666FF"/>
    <a:srgbClr val="3366FF"/>
    <a:srgbClr val="3333FF"/>
    <a:srgbClr val="1502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Közepesen sötét stílus 2 – 1. jelölőszín">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1598" autoAdjust="0"/>
  </p:normalViewPr>
  <p:slideViewPr>
    <p:cSldViewPr snapToGrid="0">
      <p:cViewPr varScale="1">
        <p:scale>
          <a:sx n="90" d="100"/>
          <a:sy n="90" d="100"/>
        </p:scale>
        <p:origin x="2394" y="90"/>
      </p:cViewPr>
      <p:guideLst>
        <p:guide orient="horz" pos="2160"/>
        <p:guide pos="2880"/>
      </p:guideLst>
    </p:cSldViewPr>
  </p:slideViewPr>
  <p:notesTextViewPr>
    <p:cViewPr>
      <p:scale>
        <a:sx n="150" d="100"/>
        <a:sy n="150" d="100"/>
      </p:scale>
      <p:origin x="0" y="0"/>
    </p:cViewPr>
  </p:notesTextViewPr>
  <p:notesViewPr>
    <p:cSldViewPr snapToGrid="0">
      <p:cViewPr varScale="1">
        <p:scale>
          <a:sx n="56" d="100"/>
          <a:sy n="56" d="100"/>
        </p:scale>
        <p:origin x="-2850"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B4E56A7-0A01-44F2-86E6-E8ECE419E28C}" type="datetimeFigureOut">
              <a:rPr lang="hu-HU" smtClean="0"/>
              <a:t>2025. 11. 17.</a:t>
            </a:fld>
            <a:endParaRPr lang="hu-H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4CC55FA-378E-401F-A827-0317F10283DB}" type="slidenum">
              <a:rPr lang="hu-HU" smtClean="0"/>
              <a:t>‹#›</a:t>
            </a:fld>
            <a:endParaRPr lang="hu-HU"/>
          </a:p>
        </p:txBody>
      </p:sp>
    </p:spTree>
    <p:extLst>
      <p:ext uri="{BB962C8B-B14F-4D97-AF65-F5344CB8AC3E}">
        <p14:creationId xmlns:p14="http://schemas.microsoft.com/office/powerpoint/2010/main" val="326717665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06CE47C-6804-445B-A5D2-FDAA84DC08D1}" type="datetimeFigureOut">
              <a:rPr lang="hu-HU" smtClean="0"/>
              <a:t>2025. 11. 17.</a:t>
            </a:fld>
            <a:endParaRPr lang="hu-HU"/>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16DE1EE-13E1-4098-A3ED-7B2B81B507D1}" type="slidenum">
              <a:rPr lang="hu-HU" smtClean="0"/>
              <a:t>‹#›</a:t>
            </a:fld>
            <a:endParaRPr lang="hu-HU"/>
          </a:p>
        </p:txBody>
      </p:sp>
    </p:spTree>
    <p:extLst>
      <p:ext uri="{BB962C8B-B14F-4D97-AF65-F5344CB8AC3E}">
        <p14:creationId xmlns:p14="http://schemas.microsoft.com/office/powerpoint/2010/main" val="263575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err="1"/>
              <a:t>Üdvözlök</a:t>
            </a:r>
            <a:r>
              <a:rPr lang="hu-HU" dirty="0"/>
              <a:t> mindenkit, Nagy Zalán vagyok, és szeretném bemutatni a TDK-dolgozatomat „</a:t>
            </a:r>
            <a:r>
              <a:rPr lang="hu-HU" dirty="0" err="1"/>
              <a:t>Colonel</a:t>
            </a:r>
            <a:r>
              <a:rPr lang="hu-HU" dirty="0"/>
              <a:t> </a:t>
            </a:r>
            <a:r>
              <a:rPr lang="hu-HU" dirty="0" err="1"/>
              <a:t>Blotto</a:t>
            </a:r>
            <a:r>
              <a:rPr lang="hu-HU" dirty="0"/>
              <a:t> a </a:t>
            </a:r>
            <a:r>
              <a:rPr lang="hu-HU" dirty="0" err="1"/>
              <a:t>kiberbiztonságban</a:t>
            </a:r>
            <a:r>
              <a:rPr lang="hu-HU" dirty="0"/>
              <a:t>: Valós adatok, megerősítéses tanulás és információs aszimmetria” címmel.</a:t>
            </a:r>
          </a:p>
          <a:p>
            <a:r>
              <a:rPr lang="hu-HU" dirty="0"/>
              <a:t>A kutatásom célja, hogy megértsük, hogyan viselkednek támadók és védők egy olyan környezetben, ahol az információ nem teljes és mindkét fél gépi tanulással próbálja optimalizálni az erőforrásainak elosztását.</a:t>
            </a:r>
          </a:p>
          <a:p>
            <a:r>
              <a:rPr lang="hu-HU" dirty="0"/>
              <a:t>A dolgozatban játékelméleti megközelítést alkalmaztam és valós, napi szinten frissülő sérülékenységi adatokat használtam, így a modell nemcsak elméleti, hanem gyakorlati szempontból is releváns.</a:t>
            </a:r>
          </a:p>
        </p:txBody>
      </p:sp>
      <p:sp>
        <p:nvSpPr>
          <p:cNvPr id="4" name="Dia számának helye 3"/>
          <p:cNvSpPr>
            <a:spLocks noGrp="1"/>
          </p:cNvSpPr>
          <p:nvPr>
            <p:ph type="sldNum" sz="quarter" idx="5"/>
          </p:nvPr>
        </p:nvSpPr>
        <p:spPr/>
        <p:txBody>
          <a:bodyPr/>
          <a:lstStyle/>
          <a:p>
            <a:fld id="{016DE1EE-13E1-4098-A3ED-7B2B81B507D1}" type="slidenum">
              <a:rPr lang="hu-HU" smtClean="0"/>
              <a:t>1</a:t>
            </a:fld>
            <a:endParaRPr lang="hu-HU"/>
          </a:p>
        </p:txBody>
      </p:sp>
    </p:spTree>
    <p:extLst>
      <p:ext uri="{BB962C8B-B14F-4D97-AF65-F5344CB8AC3E}">
        <p14:creationId xmlns:p14="http://schemas.microsoft.com/office/powerpoint/2010/main" val="11942500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latin typeface="+mn-lt"/>
                <a:ea typeface="+mn-ea"/>
                <a:cs typeface="+mn-cs"/>
              </a:rPr>
              <a:t>A kiindulópont az, hogy a mai digitális világban naponta több ezer új sérülékenység kerül nyilvánosságra.</a:t>
            </a:r>
          </a:p>
          <a:p>
            <a:r>
              <a:rPr lang="hu-HU" sz="1200" kern="1200" dirty="0">
                <a:solidFill>
                  <a:schemeClr val="tx1"/>
                </a:solidFill>
                <a:latin typeface="+mn-lt"/>
                <a:ea typeface="+mn-ea"/>
                <a:cs typeface="+mn-cs"/>
              </a:rPr>
              <a:t>Egyetlen szervezet sem tudja ezeket mindet azonnal kijavítani. Mindig dönteni kell, hogy melyik sebezhetőséggel foglalkozzanak először.</a:t>
            </a:r>
          </a:p>
          <a:p>
            <a:r>
              <a:rPr lang="hu-HU" sz="1200" kern="1200" dirty="0">
                <a:solidFill>
                  <a:schemeClr val="tx1"/>
                </a:solidFill>
                <a:latin typeface="+mn-lt"/>
                <a:ea typeface="+mn-ea"/>
                <a:cs typeface="+mn-cs"/>
              </a:rPr>
              <a:t>Ugyanakkor a támadóknak is korlátozott az idejük és a kapacitásuk, ezért ők is választanak, hogy mely célpontokat érdemes megtámadni.</a:t>
            </a:r>
          </a:p>
          <a:p>
            <a:r>
              <a:rPr lang="hu-HU" sz="1200" kern="1200" dirty="0">
                <a:solidFill>
                  <a:schemeClr val="tx1"/>
                </a:solidFill>
                <a:latin typeface="+mn-lt"/>
                <a:ea typeface="+mn-ea"/>
                <a:cs typeface="+mn-cs"/>
              </a:rPr>
              <a:t>Ez egy folyamatos stratégiai versenyhelyzet a támadók és a védők között, amely nagyon jól modellezhető játékelméleti keretben.</a:t>
            </a:r>
          </a:p>
        </p:txBody>
      </p:sp>
      <p:sp>
        <p:nvSpPr>
          <p:cNvPr id="4" name="Slide Number Placeholder 3"/>
          <p:cNvSpPr>
            <a:spLocks noGrp="1"/>
          </p:cNvSpPr>
          <p:nvPr>
            <p:ph type="sldNum" sz="quarter" idx="10"/>
          </p:nvPr>
        </p:nvSpPr>
        <p:spPr/>
        <p:txBody>
          <a:bodyPr/>
          <a:lstStyle/>
          <a:p>
            <a:fld id="{016DE1EE-13E1-4098-A3ED-7B2B81B507D1}" type="slidenum">
              <a:rPr lang="hu-HU" smtClean="0"/>
              <a:t>2</a:t>
            </a:fld>
            <a:endParaRPr lang="hu-HU"/>
          </a:p>
        </p:txBody>
      </p:sp>
    </p:spTree>
    <p:extLst>
      <p:ext uri="{BB962C8B-B14F-4D97-AF65-F5344CB8AC3E}">
        <p14:creationId xmlns:p14="http://schemas.microsoft.com/office/powerpoint/2010/main" val="25244739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kiberbiztonság</a:t>
            </a:r>
            <a:r>
              <a:rPr lang="hu-HU" sz="1200" kern="1200" dirty="0">
                <a:solidFill>
                  <a:schemeClr val="tx1"/>
                </a:solidFill>
                <a:latin typeface="+mn-lt"/>
                <a:ea typeface="+mn-ea"/>
                <a:cs typeface="+mn-cs"/>
              </a:rPr>
              <a:t> ma már nem csupán technikai kérdés, hanem stratégiai döntéshozatal is.</a:t>
            </a:r>
          </a:p>
          <a:p>
            <a:r>
              <a:rPr lang="hu-HU" sz="1200" kern="1200" dirty="0">
                <a:solidFill>
                  <a:schemeClr val="tx1"/>
                </a:solidFill>
                <a:latin typeface="+mn-lt"/>
                <a:ea typeface="+mn-ea"/>
                <a:cs typeface="+mn-cs"/>
              </a:rPr>
              <a:t>A digitális infrastruktúra a mindennapi élet alapja, gondoljunk a pénzügyi rendszerekre, az ipari vezérlésekre vagy a kommunikációra.</a:t>
            </a:r>
          </a:p>
          <a:p>
            <a:r>
              <a:rPr lang="hu-HU" sz="1200" kern="1200" dirty="0">
                <a:solidFill>
                  <a:schemeClr val="tx1"/>
                </a:solidFill>
                <a:latin typeface="+mn-lt"/>
                <a:ea typeface="+mn-ea"/>
                <a:cs typeface="+mn-cs"/>
              </a:rPr>
              <a:t>Egy-egy támadás ezekben valós gazdasági károkat okoz, akár több milliárd dolláros veszteséget is. Például a híres </a:t>
            </a:r>
            <a:r>
              <a:rPr lang="hu-HU" dirty="0" err="1"/>
              <a:t>SolarWinds</a:t>
            </a:r>
            <a:r>
              <a:rPr lang="hu-HU" dirty="0"/>
              <a:t> Corporation-botrány esetében önmagában a vállalat az első három </a:t>
            </a:r>
            <a:r>
              <a:rPr lang="hu-HU" sz="1200" kern="1200" dirty="0">
                <a:solidFill>
                  <a:schemeClr val="tx1"/>
                </a:solidFill>
                <a:latin typeface="+mn-lt"/>
                <a:ea typeface="+mn-ea"/>
                <a:cs typeface="+mn-cs"/>
              </a:rPr>
              <a:t>hónapban 18 millió USD-t költött csak a</a:t>
            </a:r>
            <a:r>
              <a:rPr lang="hu-HU" dirty="0"/>
              <a:t> kivizsgálásra és helyreállításra.</a:t>
            </a:r>
            <a:endParaRPr lang="hu-HU" sz="1200" kern="1200" dirty="0">
              <a:solidFill>
                <a:schemeClr val="tx1"/>
              </a:solidFill>
              <a:latin typeface="+mn-lt"/>
              <a:ea typeface="+mn-ea"/>
              <a:cs typeface="+mn-cs"/>
            </a:endParaRPr>
          </a:p>
          <a:p>
            <a:r>
              <a:rPr lang="hu-HU" sz="1200" kern="1200" dirty="0">
                <a:solidFill>
                  <a:schemeClr val="tx1"/>
                </a:solidFill>
                <a:latin typeface="+mn-lt"/>
                <a:ea typeface="+mn-ea"/>
                <a:cs typeface="+mn-cs"/>
              </a:rPr>
              <a:t>A védelem így stratégiai problémává vált, korlátozott erőforrások mellett kell dönteni, mely rendszereket védjük és melyeket hagyjuk kockázatosabban működni.</a:t>
            </a:r>
          </a:p>
          <a:p>
            <a:r>
              <a:rPr lang="hu-HU" dirty="0"/>
              <a:t>Ezt a problémát vizsgálom a dolgozatomban és a </a:t>
            </a:r>
            <a:r>
              <a:rPr lang="hu-HU" dirty="0" err="1"/>
              <a:t>Colonel</a:t>
            </a:r>
            <a:r>
              <a:rPr lang="hu-HU" dirty="0"/>
              <a:t> </a:t>
            </a:r>
            <a:r>
              <a:rPr lang="hu-HU" dirty="0" err="1"/>
              <a:t>Blotto</a:t>
            </a:r>
            <a:r>
              <a:rPr lang="hu-HU" dirty="0"/>
              <a:t> játék jól mutatja meg, hogyan lehet az erőforrásokat okosan elosztani több célpont között.</a:t>
            </a:r>
            <a:endParaRPr lang="hu-HU" sz="1200" b="1"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3</a:t>
            </a:fld>
            <a:endParaRPr lang="hu-HU"/>
          </a:p>
        </p:txBody>
      </p:sp>
    </p:spTree>
    <p:extLst>
      <p:ext uri="{BB962C8B-B14F-4D97-AF65-F5344CB8AC3E}">
        <p14:creationId xmlns:p14="http://schemas.microsoft.com/office/powerpoint/2010/main" val="1604653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Colonel</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Blotto</a:t>
            </a:r>
            <a:r>
              <a:rPr lang="hu-HU" sz="1200" kern="1200" dirty="0">
                <a:solidFill>
                  <a:schemeClr val="tx1"/>
                </a:solidFill>
                <a:latin typeface="+mn-lt"/>
                <a:ea typeface="+mn-ea"/>
                <a:cs typeface="+mn-cs"/>
              </a:rPr>
              <a:t> játék egy klasszikus játékelméleti modell, amit még a 20. század elején dolgoztak ki.</a:t>
            </a:r>
          </a:p>
          <a:p>
            <a:r>
              <a:rPr lang="hu-HU" sz="1200" kern="1200" dirty="0">
                <a:solidFill>
                  <a:schemeClr val="tx1"/>
                </a:solidFill>
                <a:latin typeface="+mn-lt"/>
                <a:ea typeface="+mn-ea"/>
                <a:cs typeface="+mn-cs"/>
              </a:rPr>
              <a:t>Két hadvezér több csapatot kap, és ezeket több csatamező között kell elosztania.</a:t>
            </a:r>
          </a:p>
          <a:p>
            <a:r>
              <a:rPr lang="hu-HU" sz="1200" kern="1200" dirty="0">
                <a:solidFill>
                  <a:schemeClr val="tx1"/>
                </a:solidFill>
                <a:latin typeface="+mn-lt"/>
                <a:ea typeface="+mn-ea"/>
                <a:cs typeface="+mn-cs"/>
              </a:rPr>
              <a:t>Minden csatát az nyer, aki arra a mezőre több erőforrást oszt.</a:t>
            </a:r>
          </a:p>
          <a:p>
            <a:r>
              <a:rPr lang="hu-HU" sz="1200" kern="1200" dirty="0">
                <a:solidFill>
                  <a:schemeClr val="tx1"/>
                </a:solidFill>
                <a:latin typeface="+mn-lt"/>
                <a:ea typeface="+mn-ea"/>
                <a:cs typeface="+mn-cs"/>
              </a:rPr>
              <a:t>Ez a modell kiválóan leírja a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helyzetet is, ahol a „csatamezők” az egyes gyártók vagy rendszerek, az „erőforrás” pedig lehet pénz, emberi kapacitás vagy figyelem.</a:t>
            </a:r>
          </a:p>
          <a:p>
            <a:r>
              <a:rPr lang="hu-HU" sz="1200" kern="1200" dirty="0">
                <a:solidFill>
                  <a:schemeClr val="tx1"/>
                </a:solidFill>
                <a:latin typeface="+mn-lt"/>
                <a:ea typeface="+mn-ea"/>
                <a:cs typeface="+mn-cs"/>
              </a:rPr>
              <a:t>A lényeg tehát az, hogy nem az nyer, akinek abszolút több erőforrása van, hanem az, aki okosabban osztja el.</a:t>
            </a:r>
          </a:p>
          <a:p>
            <a:r>
              <a:rPr lang="hu-HU" sz="1200" kern="1200" dirty="0">
                <a:solidFill>
                  <a:schemeClr val="tx1"/>
                </a:solidFill>
                <a:latin typeface="+mn-lt"/>
                <a:ea typeface="+mn-ea"/>
                <a:cs typeface="+mn-cs"/>
              </a:rPr>
              <a:t>A kutatásomban ezt a klasszikus elvet alkalmaztam, csak itt a csatamezők valós, napi </a:t>
            </a:r>
            <a:r>
              <a:rPr lang="hu-HU" sz="1200" kern="1200" dirty="0" err="1">
                <a:solidFill>
                  <a:schemeClr val="tx1"/>
                </a:solidFill>
                <a:latin typeface="+mn-lt"/>
                <a:ea typeface="+mn-ea"/>
                <a:cs typeface="+mn-cs"/>
              </a:rPr>
              <a:t>frissítésű</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kiberkockázati</a:t>
            </a:r>
            <a:r>
              <a:rPr lang="hu-HU" sz="1200" kern="1200" dirty="0">
                <a:solidFill>
                  <a:schemeClr val="tx1"/>
                </a:solidFill>
                <a:latin typeface="+mn-lt"/>
                <a:ea typeface="+mn-ea"/>
                <a:cs typeface="+mn-cs"/>
              </a:rPr>
              <a:t> értékeken alapulnak.</a:t>
            </a:r>
          </a:p>
        </p:txBody>
      </p:sp>
      <p:sp>
        <p:nvSpPr>
          <p:cNvPr id="4" name="Dia számának helye 3"/>
          <p:cNvSpPr>
            <a:spLocks noGrp="1"/>
          </p:cNvSpPr>
          <p:nvPr>
            <p:ph type="sldNum" sz="quarter" idx="5"/>
          </p:nvPr>
        </p:nvSpPr>
        <p:spPr/>
        <p:txBody>
          <a:bodyPr/>
          <a:lstStyle/>
          <a:p>
            <a:fld id="{016DE1EE-13E1-4098-A3ED-7B2B81B507D1}" type="slidenum">
              <a:rPr lang="hu-HU" smtClean="0"/>
              <a:t>4</a:t>
            </a:fld>
            <a:endParaRPr lang="hu-HU"/>
          </a:p>
        </p:txBody>
      </p:sp>
    </p:spTree>
    <p:extLst>
      <p:ext uri="{BB962C8B-B14F-4D97-AF65-F5344CB8AC3E}">
        <p14:creationId xmlns:p14="http://schemas.microsoft.com/office/powerpoint/2010/main" val="3578473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Ahhoz, hogy a modell valós adatokra épüljön, három nemzetközi szabványrendszert használtam, amelyek a sérülékenységek leírását és kockázati jellemzését adják meg.</a:t>
            </a:r>
            <a:br>
              <a:rPr lang="hu-HU" dirty="0"/>
            </a:br>
            <a:r>
              <a:rPr lang="hu-HU" dirty="0"/>
              <a:t>Az első a </a:t>
            </a:r>
            <a:r>
              <a:rPr lang="hu-HU" b="1" dirty="0"/>
              <a:t>CVE</a:t>
            </a:r>
            <a:r>
              <a:rPr lang="hu-HU" dirty="0"/>
              <a:t> keretrendszer, amely minden sérülékenységhez egyedi azonosítót ad, és megadja, hogy mely termékekhez és gyártókhoz tartozik. Erre azért volt szükség, hogy a sérülékenységeket gyártók szerint tudjam csoportosítani, és meg lehessen mondani, egy adott napon mely gyártónál milyen CVE-k jelentek meg. Fontos, hogy a CVE maga még nem ad súlyosságot vagy kockázatot, csak az alap azonosítást biztosítja.</a:t>
            </a:r>
            <a:br>
              <a:rPr lang="hu-HU" dirty="0"/>
            </a:br>
            <a:r>
              <a:rPr lang="hu-HU" dirty="0"/>
              <a:t>A második a </a:t>
            </a:r>
            <a:r>
              <a:rPr lang="hu-HU" sz="1200" b="1" kern="1200" dirty="0">
                <a:solidFill>
                  <a:schemeClr val="tx1"/>
                </a:solidFill>
                <a:latin typeface="+mn-lt"/>
                <a:ea typeface="+mn-ea"/>
                <a:cs typeface="+mn-cs"/>
              </a:rPr>
              <a:t>CVSS</a:t>
            </a:r>
            <a:r>
              <a:rPr lang="hu-HU" dirty="0"/>
              <a:t>. Ez egy 0-tól 10-ig terjedő súlyossági pontszám, ami azt mutatja meg, mennyire kritikus egy adott sérülékenység.</a:t>
            </a:r>
            <a:br>
              <a:rPr lang="hu-HU" dirty="0"/>
            </a:br>
            <a:r>
              <a:rPr lang="hu-HU" dirty="0"/>
              <a:t>A harmadik az </a:t>
            </a:r>
            <a:r>
              <a:rPr lang="hu-HU" sz="1200" b="1" kern="1200" dirty="0">
                <a:solidFill>
                  <a:schemeClr val="tx1"/>
                </a:solidFill>
                <a:latin typeface="+mn-lt"/>
                <a:ea typeface="+mn-ea"/>
                <a:cs typeface="+mn-cs"/>
              </a:rPr>
              <a:t>EPSS</a:t>
            </a:r>
            <a:r>
              <a:rPr lang="hu-HU" dirty="0"/>
              <a:t>. Ez adja meg, mekkora a valószínűsége annak, hogy a következő 30 napban az adott hiba ténylegesen ki is lesz használva.</a:t>
            </a:r>
          </a:p>
          <a:p>
            <a:r>
              <a:rPr lang="hu-HU" dirty="0"/>
              <a:t>A dolgozatomban a kockázatot a következő képen számolom:</a:t>
            </a:r>
            <a:br>
              <a:rPr lang="hu-HU" dirty="0"/>
            </a:br>
            <a:r>
              <a:rPr lang="hu-HU" sz="1200" kern="1200" dirty="0">
                <a:solidFill>
                  <a:schemeClr val="tx1"/>
                </a:solidFill>
                <a:latin typeface="+mn-lt"/>
                <a:ea typeface="+mn-ea"/>
                <a:cs typeface="+mn-cs"/>
              </a:rPr>
              <a:t>Kockázat = EPSS (valószínűség) x CVSS (hatás/súlyosság).</a:t>
            </a:r>
            <a:br>
              <a:rPr lang="hu-HU" dirty="0"/>
            </a:br>
            <a:r>
              <a:rPr lang="hu-HU" dirty="0"/>
              <a:t>Ezzel minden gyártóhoz minden nap rendelhető egy számérték, ami tükrözi a napi </a:t>
            </a:r>
            <a:r>
              <a:rPr lang="hu-HU" dirty="0" err="1"/>
              <a:t>kiberkockázati</a:t>
            </a:r>
            <a:r>
              <a:rPr lang="hu-HU" dirty="0"/>
              <a:t> helyzetet.</a:t>
            </a:r>
          </a:p>
        </p:txBody>
      </p:sp>
      <p:sp>
        <p:nvSpPr>
          <p:cNvPr id="4" name="Dia számának helye 3"/>
          <p:cNvSpPr>
            <a:spLocks noGrp="1"/>
          </p:cNvSpPr>
          <p:nvPr>
            <p:ph type="sldNum" sz="quarter" idx="5"/>
          </p:nvPr>
        </p:nvSpPr>
        <p:spPr/>
        <p:txBody>
          <a:bodyPr/>
          <a:lstStyle/>
          <a:p>
            <a:fld id="{016DE1EE-13E1-4098-A3ED-7B2B81B507D1}" type="slidenum">
              <a:rPr lang="hu-HU" smtClean="0"/>
              <a:t>5</a:t>
            </a:fld>
            <a:endParaRPr lang="hu-HU"/>
          </a:p>
        </p:txBody>
      </p:sp>
    </p:spTree>
    <p:extLst>
      <p:ext uri="{BB962C8B-B14F-4D97-AF65-F5344CB8AC3E}">
        <p14:creationId xmlns:p14="http://schemas.microsoft.com/office/powerpoint/2010/main" val="3282639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Ezen a dián egy CVE adatforrás látható, amelyre az egész modellem épül.</a:t>
            </a:r>
          </a:p>
          <a:p>
            <a:r>
              <a:rPr lang="hu-HU" sz="1200" kern="1200" dirty="0">
                <a:solidFill>
                  <a:schemeClr val="tx1"/>
                </a:solidFill>
                <a:latin typeface="+mn-lt"/>
                <a:ea typeface="+mn-ea"/>
                <a:cs typeface="+mn-cs"/>
              </a:rPr>
              <a:t>Ez kép egy konkrét sérülékenységet mutat, a Windows </a:t>
            </a:r>
            <a:r>
              <a:rPr lang="hu-HU" sz="1200" kern="1200" dirty="0" err="1">
                <a:solidFill>
                  <a:schemeClr val="tx1"/>
                </a:solidFill>
                <a:latin typeface="+mn-lt"/>
                <a:ea typeface="+mn-ea"/>
                <a:cs typeface="+mn-cs"/>
              </a:rPr>
              <a:t>CryptoAPI</a:t>
            </a:r>
            <a:r>
              <a:rPr lang="hu-HU" sz="1200" kern="1200" dirty="0">
                <a:solidFill>
                  <a:schemeClr val="tx1"/>
                </a:solidFill>
                <a:latin typeface="+mn-lt"/>
                <a:ea typeface="+mn-ea"/>
                <a:cs typeface="+mn-cs"/>
              </a:rPr>
              <a:t> hibáját, amelynek a CVSS pontszáma 7,5. Ez azt jelzi, hogy technikailag súlyos hiba.</a:t>
            </a:r>
          </a:p>
          <a:p>
            <a:r>
              <a:rPr lang="hu-HU" sz="1200" kern="1200" dirty="0">
                <a:solidFill>
                  <a:schemeClr val="tx1"/>
                </a:solidFill>
                <a:latin typeface="+mn-lt"/>
                <a:ea typeface="+mn-ea"/>
                <a:cs typeface="+mn-cs"/>
              </a:rPr>
              <a:t>KATT</a:t>
            </a:r>
          </a:p>
          <a:p>
            <a:r>
              <a:rPr lang="hu-HU" sz="1200" kern="1200" dirty="0">
                <a:solidFill>
                  <a:schemeClr val="tx1"/>
                </a:solidFill>
                <a:latin typeface="+mn-lt"/>
                <a:ea typeface="+mn-ea"/>
                <a:cs typeface="+mn-cs"/>
              </a:rPr>
              <a:t>Ezek a képen pedig egy EPSS táblázat látható, amely megmutatja, mekkora a valószínűsége, hogy egy ilyen hiba ténylegesen ki is lesz használva a gyakorlatban.</a:t>
            </a:r>
          </a:p>
          <a:p>
            <a:r>
              <a:rPr lang="hu-HU" sz="1200" kern="1200" dirty="0">
                <a:solidFill>
                  <a:schemeClr val="tx1"/>
                </a:solidFill>
                <a:latin typeface="+mn-lt"/>
                <a:ea typeface="+mn-ea"/>
                <a:cs typeface="+mn-cs"/>
              </a:rPr>
              <a:t>Például a táblázatban az utolsó előtti sorban az EPSS értéke 0,94, ami azt jelenti, hogy 94 %-os eséllyel fordul elő valódi támadás a </a:t>
            </a:r>
            <a:r>
              <a:rPr lang="hu-HU" sz="1200" kern="1200" dirty="0" err="1">
                <a:solidFill>
                  <a:schemeClr val="tx1"/>
                </a:solidFill>
                <a:latin typeface="+mn-lt"/>
                <a:ea typeface="+mn-ea"/>
                <a:cs typeface="+mn-cs"/>
              </a:rPr>
              <a:t>kövezketkező</a:t>
            </a:r>
            <a:r>
              <a:rPr lang="hu-HU" sz="1200" kern="1200" dirty="0">
                <a:solidFill>
                  <a:schemeClr val="tx1"/>
                </a:solidFill>
                <a:latin typeface="+mn-lt"/>
                <a:ea typeface="+mn-ea"/>
                <a:cs typeface="+mn-cs"/>
              </a:rPr>
              <a:t> 30 napban, tehát ez egy nagyon magas kockázatú sérülékenység.</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6</a:t>
            </a:fld>
            <a:endParaRPr lang="hu-HU"/>
          </a:p>
        </p:txBody>
      </p:sp>
    </p:spTree>
    <p:extLst>
      <p:ext uri="{BB962C8B-B14F-4D97-AF65-F5344CB8AC3E}">
        <p14:creationId xmlns:p14="http://schemas.microsoft.com/office/powerpoint/2010/main" val="2496439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Mivel a támadó és a védő folyamatosan reagálnak egymás döntéseire, a helyzet természetéből adódóan egy kétoldalú tanulási folyamat alakul ki.</a:t>
            </a:r>
            <a:br>
              <a:rPr lang="hu-HU" dirty="0"/>
            </a:br>
            <a:r>
              <a:rPr lang="hu-HU" dirty="0"/>
              <a:t>Ezt a kölcsönhatást két megerősítéses tanulást alkalmazó ügynökkel modelleztem: egy támadóval és egy védővel.</a:t>
            </a:r>
            <a:br>
              <a:rPr lang="hu-HU" dirty="0"/>
            </a:br>
            <a:r>
              <a:rPr lang="hu-HU" dirty="0"/>
              <a:t>Mindketten Q-</a:t>
            </a:r>
            <a:r>
              <a:rPr lang="hu-HU" dirty="0" err="1"/>
              <a:t>learninget</a:t>
            </a:r>
            <a:r>
              <a:rPr lang="hu-HU" dirty="0"/>
              <a:t> használnak, vagyis korábbi tapasztalataik alapján tanulják meg, mely stratégiák hoznak számukra nagyobb jutalmat.</a:t>
            </a:r>
            <a:br>
              <a:rPr lang="hu-HU" dirty="0"/>
            </a:br>
            <a:r>
              <a:rPr lang="hu-HU" dirty="0"/>
              <a:t>A támadó célja a nyereség maximalizálása, a védőé pedig a veszteség minimalizálása, így a két ügynök folyamatosan alkalmazkodik egymáshoz.</a:t>
            </a:r>
            <a:br>
              <a:rPr lang="hu-HU" dirty="0"/>
            </a:br>
            <a:r>
              <a:rPr lang="hu-HU" dirty="0"/>
              <a:t>Ennek eredménye egy dinamikus egyensúly, ahol egyik fél sem tud tartós fölényt kialakítani.</a:t>
            </a:r>
          </a:p>
        </p:txBody>
      </p:sp>
      <p:sp>
        <p:nvSpPr>
          <p:cNvPr id="4" name="Dia számának helye 3"/>
          <p:cNvSpPr>
            <a:spLocks noGrp="1"/>
          </p:cNvSpPr>
          <p:nvPr>
            <p:ph type="sldNum" sz="quarter" idx="5"/>
          </p:nvPr>
        </p:nvSpPr>
        <p:spPr/>
        <p:txBody>
          <a:bodyPr/>
          <a:lstStyle/>
          <a:p>
            <a:fld id="{016DE1EE-13E1-4098-A3ED-7B2B81B507D1}" type="slidenum">
              <a:rPr lang="hu-HU" smtClean="0"/>
              <a:t>7</a:t>
            </a:fld>
            <a:endParaRPr lang="hu-HU"/>
          </a:p>
        </p:txBody>
      </p:sp>
    </p:spTree>
    <p:extLst>
      <p:ext uri="{BB962C8B-B14F-4D97-AF65-F5344CB8AC3E}">
        <p14:creationId xmlns:p14="http://schemas.microsoft.com/office/powerpoint/2010/main" val="19300821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egyik legérdekesebb kérdés, amit a kutatásban vizsgáltam, az az információs aszimmetria.</a:t>
            </a:r>
          </a:p>
          <a:p>
            <a:r>
              <a:rPr lang="hu-HU" sz="1200" kern="1200" dirty="0">
                <a:solidFill>
                  <a:schemeClr val="tx1"/>
                </a:solidFill>
                <a:latin typeface="+mn-lt"/>
                <a:ea typeface="+mn-ea"/>
                <a:cs typeface="+mn-cs"/>
              </a:rPr>
              <a:t>Ez azt jelenti, hogy a támadó és a védő nem látja ugyanazt a képet a környezetről.</a:t>
            </a:r>
          </a:p>
          <a:p>
            <a:r>
              <a:rPr lang="hu-HU" sz="1200" kern="1200" dirty="0">
                <a:solidFill>
                  <a:schemeClr val="tx1"/>
                </a:solidFill>
                <a:latin typeface="+mn-lt"/>
                <a:ea typeface="+mn-ea"/>
                <a:cs typeface="+mn-cs"/>
              </a:rPr>
              <a:t>Négy szcenáriót különítettem el:</a:t>
            </a:r>
          </a:p>
          <a:p>
            <a:r>
              <a:rPr lang="hu-HU" sz="1200" kern="1200" dirty="0">
                <a:solidFill>
                  <a:schemeClr val="tx1"/>
                </a:solidFill>
                <a:latin typeface="+mn-lt"/>
                <a:ea typeface="+mn-ea"/>
                <a:cs typeface="+mn-cs"/>
              </a:rPr>
              <a:t>R0: mindkét fél azonos mennyiségű információval rendelkezik, ez az alaphelyzet</a:t>
            </a:r>
          </a:p>
          <a:p>
            <a:r>
              <a:rPr lang="hu-HU" sz="1200" kern="1200" dirty="0">
                <a:solidFill>
                  <a:schemeClr val="tx1"/>
                </a:solidFill>
                <a:latin typeface="+mn-lt"/>
                <a:ea typeface="+mn-ea"/>
                <a:cs typeface="+mn-cs"/>
              </a:rPr>
              <a:t>R1: a védőnek van hírszerzési előnye, naprakész EPSS-adatokat lát, és követni tudja a támadó múltbeli lépéseit</a:t>
            </a:r>
          </a:p>
          <a:p>
            <a:r>
              <a:rPr lang="hu-HU" sz="1200" kern="1200" dirty="0">
                <a:solidFill>
                  <a:schemeClr val="tx1"/>
                </a:solidFill>
                <a:latin typeface="+mn-lt"/>
                <a:ea typeface="+mn-ea"/>
                <a:cs typeface="+mn-cs"/>
              </a:rPr>
              <a:t>R2: itt a támadó előnyben van, több belső információval rendelkezik a sérülékenységekről</a:t>
            </a:r>
          </a:p>
          <a:p>
            <a:r>
              <a:rPr lang="hu-HU" sz="1200" kern="1200" dirty="0">
                <a:solidFill>
                  <a:schemeClr val="tx1"/>
                </a:solidFill>
                <a:latin typeface="+mn-lt"/>
                <a:ea typeface="+mn-ea"/>
                <a:cs typeface="+mn-cs"/>
              </a:rPr>
              <a:t>R3: mindkét fél részletesen látja a kockázati adatokat, ez a legátláthatóbb helyzet.</a:t>
            </a:r>
          </a:p>
          <a:p>
            <a:r>
              <a:rPr lang="hu-HU" sz="1200" kern="1200" dirty="0">
                <a:solidFill>
                  <a:schemeClr val="tx1"/>
                </a:solidFill>
                <a:latin typeface="+mn-lt"/>
                <a:ea typeface="+mn-ea"/>
                <a:cs typeface="+mn-cs"/>
              </a:rPr>
              <a:t>Ezek a konfigurációk megmutatják, hogyan befolyásolja az információ minősége és mennyisége az elért eredményeket.</a:t>
            </a:r>
          </a:p>
        </p:txBody>
      </p:sp>
      <p:sp>
        <p:nvSpPr>
          <p:cNvPr id="4" name="Dia számának helye 3"/>
          <p:cNvSpPr>
            <a:spLocks noGrp="1"/>
          </p:cNvSpPr>
          <p:nvPr>
            <p:ph type="sldNum" sz="quarter" idx="5"/>
          </p:nvPr>
        </p:nvSpPr>
        <p:spPr/>
        <p:txBody>
          <a:bodyPr/>
          <a:lstStyle/>
          <a:p>
            <a:fld id="{016DE1EE-13E1-4098-A3ED-7B2B81B507D1}" type="slidenum">
              <a:rPr lang="hu-HU" smtClean="0"/>
              <a:t>8</a:t>
            </a:fld>
            <a:endParaRPr lang="hu-HU"/>
          </a:p>
        </p:txBody>
      </p:sp>
    </p:spTree>
    <p:extLst>
      <p:ext uri="{BB962C8B-B14F-4D97-AF65-F5344CB8AC3E}">
        <p14:creationId xmlns:p14="http://schemas.microsoft.com/office/powerpoint/2010/main" val="25866220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tanuló ügynökök nem véletlenszerűen osztják el az erőforrásaikat, hanem előre definiált stratégiai minták közül választanak, és a tanulás lényege az, hogy megtanulják, melyik minta milyen helyzetben teljesít jól. </a:t>
            </a:r>
          </a:p>
          <a:p>
            <a:r>
              <a:rPr lang="hu-HU" dirty="0"/>
              <a:t>Az egyenletes elosztás egy semleges kiindulópont, ahol minden csatamező ugyanannyi erőforrást kap. </a:t>
            </a:r>
          </a:p>
          <a:p>
            <a:r>
              <a:rPr lang="hu-HU" dirty="0"/>
              <a:t>Az érték-arányos stratégia már a kockázati szintekhez igazodik, azaz a mezők értékének arányában történik az osztás, vagyis az ügynök több figyelmet fordít azokra a területekre, amelyek nagyobb veszélyt vagy nagyobb potenciális hasznot jelentenek. </a:t>
            </a:r>
          </a:p>
          <a:p>
            <a:r>
              <a:rPr lang="hu-HU" dirty="0"/>
              <a:t>A top-3 stratégia ennél is </a:t>
            </a:r>
            <a:r>
              <a:rPr lang="hu-HU" dirty="0" err="1"/>
              <a:t>fókuszáltabb</a:t>
            </a:r>
            <a:r>
              <a:rPr lang="hu-HU" dirty="0"/>
              <a:t>, itt a három legértékesebb mező kapja az erőforrások döntő részét, ami különösen akkor előnyös, ha a mezők értékei erősen eltérnek egymástól. </a:t>
            </a:r>
          </a:p>
          <a:p>
            <a:pPr marL="0" algn="l" defTabSz="914400" rtl="0" eaLnBrk="1" latinLnBrk="0" hangingPunct="1"/>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(Top-1) stratégia ennek a véglete: az ügynök minden erőforrást a legértékesebb mezőre koncentrál, ami nagy kockázatú, de bizonyos helyzetekben rendkívül hatékony lehet.</a:t>
            </a:r>
          </a:p>
          <a:p>
            <a:r>
              <a:rPr lang="hu-HU" dirty="0"/>
              <a:t>Emellett szerepel egy véletlen stratégia is, amely kontrollált bizonytalanságot visz az ügynök viselkedésébe, mert ez segít elkerülni, hogy túl korán „beragadjon” egy rossz mintába.</a:t>
            </a:r>
          </a:p>
          <a:p>
            <a:r>
              <a:rPr lang="hu-HU" dirty="0"/>
              <a:t>A védő esetében egy különösen fontos minta a </a:t>
            </a:r>
            <a:r>
              <a:rPr lang="hu-HU" sz="1200" dirty="0"/>
              <a:t>mintázat-reaktív</a:t>
            </a:r>
            <a:r>
              <a:rPr lang="hu-HU" dirty="0"/>
              <a:t> stratégia, amely figyelembe veszi a támadó korábbi döntéseit, és megpróbálja előre jelezni, hol várható a következő támadás. Ez a gyakorlatban úgy működik, hogy a védő egy rövid, exponenciálisan csökkenő </a:t>
            </a:r>
            <a:r>
              <a:rPr lang="hu-HU" dirty="0" err="1"/>
              <a:t>súlyozású</a:t>
            </a:r>
            <a:r>
              <a:rPr lang="hu-HU" dirty="0"/>
              <a:t> „emléket” vezet arról, mely csatamezőket támadták a közelmúltban.</a:t>
            </a:r>
          </a:p>
          <a:p>
            <a:r>
              <a:rPr lang="hu-HU" sz="1200" kern="1200" dirty="0">
                <a:solidFill>
                  <a:schemeClr val="tx1"/>
                </a:solidFill>
                <a:latin typeface="+mn-lt"/>
                <a:ea typeface="+mn-ea"/>
                <a:cs typeface="+mn-cs"/>
              </a:rPr>
              <a:t>Ezek a </a:t>
            </a:r>
            <a:r>
              <a:rPr lang="hu-HU" sz="1200" kern="1200" dirty="0" err="1">
                <a:solidFill>
                  <a:schemeClr val="tx1"/>
                </a:solidFill>
                <a:latin typeface="+mn-lt"/>
                <a:ea typeface="+mn-ea"/>
                <a:cs typeface="+mn-cs"/>
              </a:rPr>
              <a:t>stratágiai</a:t>
            </a:r>
            <a:r>
              <a:rPr lang="hu-HU" sz="1200" kern="1200" dirty="0">
                <a:solidFill>
                  <a:schemeClr val="tx1"/>
                </a:solidFill>
                <a:latin typeface="+mn-lt"/>
                <a:ea typeface="+mn-ea"/>
                <a:cs typeface="+mn-cs"/>
              </a:rPr>
              <a:t> minták teszik lehetővé, hogy a döntések mögött legyen logika, de közben a rendszer folyamatosan tudjon alkalmazkodni.</a:t>
            </a:r>
          </a:p>
          <a:p>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9</a:t>
            </a:fld>
            <a:endParaRPr lang="hu-HU"/>
          </a:p>
        </p:txBody>
      </p:sp>
    </p:spTree>
    <p:extLst>
      <p:ext uri="{BB962C8B-B14F-4D97-AF65-F5344CB8AC3E}">
        <p14:creationId xmlns:p14="http://schemas.microsoft.com/office/powerpoint/2010/main" val="2138819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algn="l" defTabSz="914400" rtl="0" eaLnBrk="1" latinLnBrk="0" hangingPunct="1"/>
            <a:r>
              <a:rPr lang="hu-HU" sz="1200" kern="1200" dirty="0">
                <a:solidFill>
                  <a:schemeClr val="tx1"/>
                </a:solidFill>
                <a:latin typeface="+mn-lt"/>
                <a:ea typeface="+mn-ea"/>
                <a:cs typeface="+mn-cs"/>
              </a:rPr>
              <a:t>A szimulációs környezetet igyekeztem úgy kialakítani, hogy valósághű legyen, de közben modellezhető is maradjon.</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játék 10 csatamezőn zajlik, ezek az adott nap leginkább érintett szoftvergyártói a valós CVE-statisztikák alapján.</a:t>
            </a:r>
          </a:p>
          <a:p>
            <a:pPr marL="0" algn="l" defTabSz="914400" rtl="0" eaLnBrk="1" latinLnBrk="0" hangingPunct="1"/>
            <a:r>
              <a:rPr lang="hu-HU" sz="1200" kern="1200" dirty="0">
                <a:solidFill>
                  <a:schemeClr val="tx1"/>
                </a:solidFill>
                <a:latin typeface="+mn-lt"/>
                <a:ea typeface="+mn-ea"/>
                <a:cs typeface="+mn-cs"/>
              </a:rPr>
              <a:t>A támadó 20 egységnyi erőforrást kap, a védő pedig 40-et. Ez a különbség a gyakorlatban is megállja a helyét, hiszen a védekezés általában sokkal erőforrás-igényesebb. Nem extrém helyzetet modellezek – például nem egy titkosszolgálatot egy kis cég ellen –, hanem egy tipikus vállalati környezetet.</a:t>
            </a:r>
          </a:p>
          <a:p>
            <a:pPr marL="0" algn="l" defTabSz="914400" rtl="0" eaLnBrk="1" latinLnBrk="0" hangingPunct="1"/>
            <a:r>
              <a:rPr lang="hu-HU" sz="1200" kern="1200" dirty="0">
                <a:solidFill>
                  <a:schemeClr val="tx1"/>
                </a:solidFill>
                <a:latin typeface="+mn-lt"/>
                <a:ea typeface="+mn-ea"/>
                <a:cs typeface="+mn-cs"/>
              </a:rPr>
              <a:t>Minden nap 500 tanulási epizód fut le, és ezt tízszer megismétlem, hogy az eredmények </a:t>
            </a:r>
            <a:r>
              <a:rPr lang="hu-HU" sz="1200" kern="1200" dirty="0" err="1">
                <a:solidFill>
                  <a:schemeClr val="tx1"/>
                </a:solidFill>
                <a:latin typeface="+mn-lt"/>
                <a:ea typeface="+mn-ea"/>
                <a:cs typeface="+mn-cs"/>
              </a:rPr>
              <a:t>stabilak</a:t>
            </a:r>
            <a:r>
              <a:rPr lang="hu-HU" sz="1200" kern="1200" dirty="0">
                <a:solidFill>
                  <a:schemeClr val="tx1"/>
                </a:solidFill>
                <a:latin typeface="+mn-lt"/>
                <a:ea typeface="+mn-ea"/>
                <a:cs typeface="+mn-cs"/>
              </a:rPr>
              <a:t> legyenek.</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Három időszakot vizsgálok: januárt, májust és augusztust. Ezeket azért választottam, mert a CVE-</a:t>
            </a:r>
            <a:r>
              <a:rPr lang="hu-HU" sz="1200" kern="1200" dirty="0" err="1">
                <a:solidFill>
                  <a:schemeClr val="tx1"/>
                </a:solidFill>
                <a:latin typeface="+mn-lt"/>
                <a:ea typeface="+mn-ea"/>
                <a:cs typeface="+mn-cs"/>
              </a:rPr>
              <a:t>knek</a:t>
            </a:r>
            <a:r>
              <a:rPr lang="hu-HU" sz="1200" kern="1200" dirty="0">
                <a:solidFill>
                  <a:schemeClr val="tx1"/>
                </a:solidFill>
                <a:latin typeface="+mn-lt"/>
                <a:ea typeface="+mn-ea"/>
                <a:cs typeface="+mn-cs"/>
              </a:rPr>
              <a:t> van egy szezonális mintázata: bizonyos hónapokban több új sérülékenység jelenik meg, máskor jóval kevesebb. Ez jól mutatja, hogyan változik a kockázati környezet az év során.</a:t>
            </a:r>
          </a:p>
          <a:p>
            <a:pPr marL="0" algn="l" defTabSz="914400" rtl="0" eaLnBrk="1" latinLnBrk="0" hangingPunct="1"/>
            <a:r>
              <a:rPr lang="hu-HU" sz="1200" kern="1200" dirty="0">
                <a:solidFill>
                  <a:schemeClr val="tx1"/>
                </a:solidFill>
                <a:latin typeface="+mn-lt"/>
                <a:ea typeface="+mn-ea"/>
                <a:cs typeface="+mn-cs"/>
              </a:rPr>
              <a:t>Összességében ezek a beállítások biztosítják, hogy a modell egyszerre legyen valósághű, ismételhető és összehasonlítható a különböző hónapok között.</a:t>
            </a:r>
          </a:p>
          <a:p>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10</a:t>
            </a:fld>
            <a:endParaRPr lang="hu-HU"/>
          </a:p>
        </p:txBody>
      </p:sp>
    </p:spTree>
    <p:extLst>
      <p:ext uri="{BB962C8B-B14F-4D97-AF65-F5344CB8AC3E}">
        <p14:creationId xmlns:p14="http://schemas.microsoft.com/office/powerpoint/2010/main" val="5636090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eredmények értékeléséhez több mérőszámot is használtam.</a:t>
            </a:r>
          </a:p>
          <a:p>
            <a:r>
              <a:rPr lang="hu-HU" sz="1200" kern="1200" dirty="0">
                <a:solidFill>
                  <a:schemeClr val="tx1"/>
                </a:solidFill>
                <a:latin typeface="+mn-lt"/>
                <a:ea typeface="+mn-ea"/>
                <a:cs typeface="+mn-cs"/>
              </a:rPr>
              <a:t>A legfontosabb kettő a RA és RD, vagyis a támadó és a védő átlagos jutalma.</a:t>
            </a:r>
          </a:p>
          <a:p>
            <a:r>
              <a:rPr lang="hu-HU" sz="1200" kern="1200" dirty="0">
                <a:solidFill>
                  <a:schemeClr val="tx1"/>
                </a:solidFill>
                <a:latin typeface="+mn-lt"/>
                <a:ea typeface="+mn-ea"/>
                <a:cs typeface="+mn-cs"/>
              </a:rPr>
              <a:t>Ezekből képeztem a </a:t>
            </a:r>
            <a:r>
              <a:rPr lang="el-GR" sz="1200" kern="1200" dirty="0">
                <a:solidFill>
                  <a:schemeClr val="tx1"/>
                </a:solidFill>
                <a:latin typeface="+mn-lt"/>
                <a:ea typeface="+mn-ea"/>
                <a:cs typeface="+mn-cs"/>
              </a:rPr>
              <a:t>ρ </a:t>
            </a:r>
            <a:r>
              <a:rPr lang="hu-HU" sz="1200" kern="1200" dirty="0">
                <a:solidFill>
                  <a:schemeClr val="tx1"/>
                </a:solidFill>
                <a:latin typeface="+mn-lt"/>
                <a:ea typeface="+mn-ea"/>
                <a:cs typeface="+mn-cs"/>
              </a:rPr>
              <a:t>arányt, ezt úgy kell értelmezni, hogy ha </a:t>
            </a:r>
            <a:r>
              <a:rPr lang="el-GR" sz="1200" kern="1200" dirty="0">
                <a:solidFill>
                  <a:schemeClr val="tx1"/>
                </a:solidFill>
                <a:latin typeface="+mn-lt"/>
                <a:ea typeface="+mn-ea"/>
                <a:cs typeface="+mn-cs"/>
              </a:rPr>
              <a:t>ρ </a:t>
            </a:r>
            <a:r>
              <a:rPr lang="hu-HU" sz="1200" kern="1200" dirty="0">
                <a:solidFill>
                  <a:schemeClr val="tx1"/>
                </a:solidFill>
                <a:latin typeface="+mn-lt"/>
                <a:ea typeface="+mn-ea"/>
                <a:cs typeface="+mn-cs"/>
              </a:rPr>
              <a:t>kisebb mint 1, akkor a védő átlagosan hatékonyabb volt; ha nagyobb mint 1, akkor a támadó dominált.</a:t>
            </a:r>
          </a:p>
          <a:p>
            <a:r>
              <a:rPr lang="hu-HU" sz="1200" kern="1200" dirty="0">
                <a:solidFill>
                  <a:schemeClr val="tx1"/>
                </a:solidFill>
                <a:latin typeface="+mn-lt"/>
                <a:ea typeface="+mn-ea"/>
                <a:cs typeface="+mn-cs"/>
              </a:rPr>
              <a:t>A következő kulcsmutató az entrópia (H), ami a stratégiai változatosságot jelzi.</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Magas entrópia esetén az ügynök sokféle stratégiát próbál ki, tehát folyamatosan tanul és alkalmazkodik.</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Alacsony entrópia pedig azt mutatja, hogy a viselkedés stabilizálódott, vagyis a tanulás konvergált egy megszokott mintához.</a:t>
            </a:r>
          </a:p>
          <a:p>
            <a:r>
              <a:rPr lang="hu-HU" sz="1200" kern="1200" dirty="0">
                <a:solidFill>
                  <a:schemeClr val="tx1"/>
                </a:solidFill>
                <a:latin typeface="+mn-lt"/>
                <a:ea typeface="+mn-ea"/>
                <a:cs typeface="+mn-cs"/>
              </a:rPr>
              <a:t>Ezen kívül más mérőszámokat is vizsgáltam:</a:t>
            </a:r>
          </a:p>
          <a:p>
            <a:r>
              <a:rPr lang="hu-HU" sz="1200" kern="1200" dirty="0">
                <a:solidFill>
                  <a:schemeClr val="tx1"/>
                </a:solidFill>
                <a:latin typeface="+mn-lt"/>
                <a:ea typeface="+mn-ea"/>
                <a:cs typeface="+mn-cs"/>
              </a:rPr>
              <a:t>a top-3 lefedettséget, ami azt jelzi, hogy a tanulás során az ügynök mennyire fókuszál a három legértékesebb csatamezőre</a:t>
            </a:r>
          </a:p>
          <a:p>
            <a:r>
              <a:rPr lang="hu-HU" sz="1200" kern="1200" dirty="0">
                <a:solidFill>
                  <a:schemeClr val="tx1"/>
                </a:solidFill>
                <a:latin typeface="+mn-lt"/>
                <a:ea typeface="+mn-ea"/>
                <a:cs typeface="+mn-cs"/>
              </a:rPr>
              <a:t>Ezek átfogó képet adnak arról, mennyire stabil, változatos és eredményes a két ügynök stratégiája a különböző információs környezetekben.</a:t>
            </a:r>
          </a:p>
        </p:txBody>
      </p:sp>
      <p:sp>
        <p:nvSpPr>
          <p:cNvPr id="4" name="Dia számának helye 3"/>
          <p:cNvSpPr>
            <a:spLocks noGrp="1"/>
          </p:cNvSpPr>
          <p:nvPr>
            <p:ph type="sldNum" sz="quarter" idx="5"/>
          </p:nvPr>
        </p:nvSpPr>
        <p:spPr/>
        <p:txBody>
          <a:bodyPr/>
          <a:lstStyle/>
          <a:p>
            <a:fld id="{016DE1EE-13E1-4098-A3ED-7B2B81B507D1}" type="slidenum">
              <a:rPr lang="hu-HU" smtClean="0"/>
              <a:t>11</a:t>
            </a:fld>
            <a:endParaRPr lang="hu-HU"/>
          </a:p>
        </p:txBody>
      </p:sp>
    </p:spTree>
    <p:extLst>
      <p:ext uri="{BB962C8B-B14F-4D97-AF65-F5344CB8AC3E}">
        <p14:creationId xmlns:p14="http://schemas.microsoft.com/office/powerpoint/2010/main" val="15862217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első fő eredmény az volt, hogy a védő minden szcenárióban összességében jobb eredményt ért el, mint a támadó.</a:t>
            </a:r>
            <a:br>
              <a:rPr lang="hu-HU" dirty="0"/>
            </a:br>
            <a:r>
              <a:rPr lang="hu-HU" dirty="0"/>
              <a:t>Ez azt mutatja, hogy a tanulás és az információ gyors felhasználása jelentős védelmi előnyt ad.</a:t>
            </a:r>
          </a:p>
          <a:p>
            <a:r>
              <a:rPr lang="hu-HU" dirty="0"/>
              <a:t>A védői hírszerzést tartalmazó R1 és R3 szcenáriókban volt a legstabilabb és leghatékonyabb a védelem.</a:t>
            </a:r>
            <a:br>
              <a:rPr lang="hu-HU" dirty="0"/>
            </a:br>
            <a:r>
              <a:rPr lang="hu-HU" dirty="0"/>
              <a:t>A támadói információelőnyt modellező R2-ben valóban megfigyelhető volt egy rövid távú javulás, de ez instabilnak bizonyult, és a tanulás előrehaladtával visszaesett.</a:t>
            </a:r>
          </a:p>
          <a:p>
            <a:r>
              <a:rPr lang="hu-HU" dirty="0"/>
              <a:t>Összességében ez arra utal, hogy az információ önmagában nem elég: akkor hoz tartós előnyt, ha az ügynök képes folyamatosan alkalmazkodni a változó környezethez.</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12</a:t>
            </a:fld>
            <a:endParaRPr lang="hu-HU"/>
          </a:p>
        </p:txBody>
      </p:sp>
    </p:spTree>
    <p:extLst>
      <p:ext uri="{BB962C8B-B14F-4D97-AF65-F5344CB8AC3E}">
        <p14:creationId xmlns:p14="http://schemas.microsoft.com/office/powerpoint/2010/main" val="24970495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második fontos megfigyelés az volt, hogy a tanulási folyamat nem állt be egy fix pontra, vagyis nincs olyan stratégia, amely végleg optimális lenne.</a:t>
            </a:r>
          </a:p>
          <a:p>
            <a:r>
              <a:rPr lang="hu-HU" sz="1200" kern="1200" dirty="0">
                <a:solidFill>
                  <a:schemeClr val="tx1"/>
                </a:solidFill>
                <a:latin typeface="+mn-lt"/>
                <a:ea typeface="+mn-ea"/>
                <a:cs typeface="+mn-cs"/>
              </a:rPr>
              <a:t>Az entrópia-értékek közepes tartományban maradtak, ami azt jelenti, hogy az ügynökök folyamatosan váltogatták a stratégiáikat.</a:t>
            </a:r>
          </a:p>
          <a:p>
            <a:r>
              <a:rPr lang="hu-HU" sz="1200" kern="1200" dirty="0">
                <a:solidFill>
                  <a:schemeClr val="tx1"/>
                </a:solidFill>
                <a:latin typeface="+mn-lt"/>
                <a:ea typeface="+mn-ea"/>
                <a:cs typeface="+mn-cs"/>
              </a:rPr>
              <a:t>Ez a viselkedés egy dinamikus egyensúlyt eredményezett, egyik fél sem tudott tartósan fölénybe kerülni, de mindkettő folyamatosan reagált a másik változásaira.</a:t>
            </a:r>
          </a:p>
          <a:p>
            <a:r>
              <a:rPr lang="hu-HU" sz="1200" kern="1200" dirty="0">
                <a:solidFill>
                  <a:schemeClr val="tx1"/>
                </a:solidFill>
                <a:latin typeface="+mn-lt"/>
                <a:ea typeface="+mn-ea"/>
                <a:cs typeface="+mn-cs"/>
              </a:rPr>
              <a:t>Ez nagyon hasonlít a valós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helyzetekre, ahol nincs végleges győzelem vagy stabil egyensúly, csak alkalmazkodás.</a:t>
            </a:r>
          </a:p>
          <a:p>
            <a:r>
              <a:rPr lang="hu-HU" sz="1200" kern="1200" dirty="0">
                <a:solidFill>
                  <a:schemeClr val="tx1"/>
                </a:solidFill>
                <a:latin typeface="+mn-lt"/>
                <a:ea typeface="+mn-ea"/>
                <a:cs typeface="+mn-cs"/>
              </a:rPr>
              <a:t>A modell tehát jól mutatja, hogy a védelemnek </a:t>
            </a:r>
            <a:r>
              <a:rPr lang="hu-HU" dirty="0"/>
              <a:t>is adaptívnak kell maradnia, nem elég egyszer beállítani egy stratégiát.</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13</a:t>
            </a:fld>
            <a:endParaRPr lang="hu-HU"/>
          </a:p>
        </p:txBody>
      </p:sp>
    </p:spTree>
    <p:extLst>
      <p:ext uri="{BB962C8B-B14F-4D97-AF65-F5344CB8AC3E}">
        <p14:creationId xmlns:p14="http://schemas.microsoft.com/office/powerpoint/2010/main" val="25173905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ábra azt mutatja, hogy a tanulás végére mely stratégiák váltak a leggyakoribbá.</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támadó elsősorban két mintát használ: vagy a három legértékesebb mezőre koncentrál, vagy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módon mindent egyetlen célpontra tesz fel. Ez jól tükrözi a valós támadói logikát: kevés, de nagy értékű célpontot érdemes üldözni.</a:t>
            </a:r>
          </a:p>
          <a:p>
            <a:r>
              <a:rPr lang="hu-HU" sz="1200" kern="1200" dirty="0">
                <a:solidFill>
                  <a:schemeClr val="tx1"/>
                </a:solidFill>
                <a:latin typeface="+mn-lt"/>
                <a:ea typeface="+mn-ea"/>
                <a:cs typeface="+mn-cs"/>
              </a:rPr>
              <a:t>A védő ezzel szemben kiegyensúlyozottabb.</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Leggyakrabban a prediktív stratégiát alkalmazza, amely a korábbi támadásokból próbál következtetni a következő célpontra,</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emellett gyakran használja az érték-arányos elosztást, amely a mezők kockázatához igazítja az erőforrásokat.</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védekezés ritka, és csak akkor jelenik meg, amikor egy mező kiemelkedően nagy kockázatot jelent.</a:t>
            </a:r>
          </a:p>
          <a:p>
            <a:r>
              <a:rPr lang="hu-HU" sz="1200" kern="1200" dirty="0">
                <a:solidFill>
                  <a:schemeClr val="tx1"/>
                </a:solidFill>
                <a:latin typeface="+mn-lt"/>
                <a:ea typeface="+mn-ea"/>
                <a:cs typeface="+mn-cs"/>
              </a:rPr>
              <a:t>Összességében a támadó a koncentrált, gyors nyereséget célzó minták felé mozdul, míg a védő a stabilabb, </a:t>
            </a:r>
            <a:r>
              <a:rPr lang="hu-HU" sz="1200" kern="1200" dirty="0" err="1">
                <a:solidFill>
                  <a:schemeClr val="tx1"/>
                </a:solidFill>
                <a:latin typeface="+mn-lt"/>
                <a:ea typeface="+mn-ea"/>
                <a:cs typeface="+mn-cs"/>
              </a:rPr>
              <a:t>adatvezérelt</a:t>
            </a:r>
            <a:r>
              <a:rPr lang="hu-HU" sz="1200" kern="1200" dirty="0">
                <a:solidFill>
                  <a:schemeClr val="tx1"/>
                </a:solidFill>
                <a:latin typeface="+mn-lt"/>
                <a:ea typeface="+mn-ea"/>
                <a:cs typeface="+mn-cs"/>
              </a:rPr>
              <a:t> és előrelátó elosztásokat részesíti előnyben.</a:t>
            </a:r>
          </a:p>
        </p:txBody>
      </p:sp>
      <p:sp>
        <p:nvSpPr>
          <p:cNvPr id="4" name="Dia számának helye 3"/>
          <p:cNvSpPr>
            <a:spLocks noGrp="1"/>
          </p:cNvSpPr>
          <p:nvPr>
            <p:ph type="sldNum" sz="quarter" idx="5"/>
          </p:nvPr>
        </p:nvSpPr>
        <p:spPr/>
        <p:txBody>
          <a:bodyPr/>
          <a:lstStyle/>
          <a:p>
            <a:fld id="{016DE1EE-13E1-4098-A3ED-7B2B81B507D1}" type="slidenum">
              <a:rPr lang="hu-HU" smtClean="0"/>
              <a:t>14</a:t>
            </a:fld>
            <a:endParaRPr lang="hu-HU"/>
          </a:p>
        </p:txBody>
      </p:sp>
    </p:spTree>
    <p:extLst>
      <p:ext uri="{BB962C8B-B14F-4D97-AF65-F5344CB8AC3E}">
        <p14:creationId xmlns:p14="http://schemas.microsoft.com/office/powerpoint/2010/main" val="3783642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kísérletek azt mutatják, hogy az információ önmagában nem ad valódi előnyt, csak akkor, ha a stratégia és a tanulási folyamat ténylegesen képes kiaknázni.</a:t>
            </a:r>
            <a:br>
              <a:rPr lang="hu-HU" dirty="0"/>
            </a:br>
            <a:r>
              <a:rPr lang="hu-HU" dirty="0"/>
              <a:t>A védői hírszerzés tartós és stabil előnyt adott, míg a támadói információ csak átmenetileg működött, mert a védő adaptív tanulása idővel kiegyenlítette.</a:t>
            </a:r>
            <a:br>
              <a:rPr lang="hu-HU" dirty="0"/>
            </a:br>
            <a:r>
              <a:rPr lang="hu-HU" dirty="0"/>
              <a:t>A rendszer nem tart semmilyen statikus egyensúly felé, hanem folyamatos alkalmazkodás jellemzi mindkét oldalt. Ez jól tükrözi a valós környezetet is: a védelem akkor hatékony, ha naprakész és reagál az új kockázatokra, nem pedig fix szabályokra épül.</a:t>
            </a:r>
            <a:br>
              <a:rPr lang="hu-HU" dirty="0"/>
            </a:br>
            <a:r>
              <a:rPr lang="hu-HU" dirty="0"/>
              <a:t>A lényeg tehát az, hogy a gyors információfelhasználás és a folyamatos újratanulás adja a védelem valódi erejét.</a:t>
            </a:r>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15</a:t>
            </a:fld>
            <a:endParaRPr lang="hu-HU"/>
          </a:p>
        </p:txBody>
      </p:sp>
    </p:spTree>
    <p:extLst>
      <p:ext uri="{BB962C8B-B14F-4D97-AF65-F5344CB8AC3E}">
        <p14:creationId xmlns:p14="http://schemas.microsoft.com/office/powerpoint/2010/main" val="26456222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további kutatások több irányba is kiterjeszthetők.</a:t>
            </a:r>
            <a:br>
              <a:rPr lang="hu-HU" dirty="0"/>
            </a:br>
            <a:r>
              <a:rPr lang="hu-HU" dirty="0"/>
              <a:t>Egyrészt érdemes lenne mély megerősítéses tanulást alkalmazni, hogy a modell összetettebb döntési mintákat is fel tudjon ismerni.</a:t>
            </a:r>
            <a:br>
              <a:rPr lang="hu-HU" dirty="0"/>
            </a:br>
            <a:r>
              <a:rPr lang="hu-HU" dirty="0"/>
              <a:t>A jelenlegi modellben a csatamezők függetlenek, de a valóságban sokszor közös komponenseken keresztül </a:t>
            </a:r>
            <a:r>
              <a:rPr lang="hu-HU" dirty="0" err="1"/>
              <a:t>összefüggnek</a:t>
            </a:r>
            <a:r>
              <a:rPr lang="hu-HU" dirty="0"/>
              <a:t> — ezt gráfalapú kockázati kapcsolatokkal lehetne kezelni.</a:t>
            </a:r>
            <a:br>
              <a:rPr lang="hu-HU" dirty="0"/>
            </a:br>
            <a:r>
              <a:rPr lang="hu-HU" dirty="0"/>
              <a:t>Emellett a kétfázisú támadások modellezése is érdekes: külön felderítés és külön kihasználás.</a:t>
            </a:r>
            <a:br>
              <a:rPr lang="hu-HU" dirty="0"/>
            </a:br>
            <a:r>
              <a:rPr lang="hu-HU" dirty="0"/>
              <a:t>A valós idejű adatfrissítést érdemes diverzifikált adatforrásokkal megvalósítani, nem csak CVSS–EPSS adatokkal.</a:t>
            </a:r>
            <a:br>
              <a:rPr lang="hu-HU" dirty="0"/>
            </a:br>
            <a:r>
              <a:rPr lang="hu-HU" dirty="0"/>
              <a:t>Végül a jelenlegi erőforrás-arányok csak egy tipikus esetet fednek le, a jövőben nagyobb </a:t>
            </a:r>
            <a:r>
              <a:rPr lang="hu-HU" dirty="0" err="1"/>
              <a:t>asszimetria</a:t>
            </a:r>
            <a:r>
              <a:rPr lang="hu-HU" dirty="0"/>
              <a:t> is vizsgálható lenne támadó és védő között.</a:t>
            </a:r>
          </a:p>
        </p:txBody>
      </p:sp>
      <p:sp>
        <p:nvSpPr>
          <p:cNvPr id="4" name="Dia számának helye 3"/>
          <p:cNvSpPr>
            <a:spLocks noGrp="1"/>
          </p:cNvSpPr>
          <p:nvPr>
            <p:ph type="sldNum" sz="quarter" idx="5"/>
          </p:nvPr>
        </p:nvSpPr>
        <p:spPr/>
        <p:txBody>
          <a:bodyPr/>
          <a:lstStyle/>
          <a:p>
            <a:fld id="{016DE1EE-13E1-4098-A3ED-7B2B81B507D1}" type="slidenum">
              <a:rPr lang="hu-HU" smtClean="0"/>
              <a:t>16</a:t>
            </a:fld>
            <a:endParaRPr lang="hu-HU"/>
          </a:p>
        </p:txBody>
      </p:sp>
    </p:spTree>
    <p:extLst>
      <p:ext uri="{BB962C8B-B14F-4D97-AF65-F5344CB8AC3E}">
        <p14:creationId xmlns:p14="http://schemas.microsoft.com/office/powerpoint/2010/main" val="3620224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 dezinformációt úgy lehetne beépíteni a modellbe, hogy az ügynökök nem a valós kockázati értékeket látják, hanem torzított, zajos vagy késleltetett adatot.</a:t>
            </a:r>
            <a:br>
              <a:rPr lang="hu-HU" dirty="0"/>
            </a:br>
            <a:r>
              <a:rPr lang="hu-HU" dirty="0"/>
              <a:t>Ez azt jelenti, hogy például hibás EPSS-értékeket kapnak, vagy olyan információt, ami már nem aktuális.</a:t>
            </a:r>
            <a:br>
              <a:rPr lang="hu-HU" dirty="0"/>
            </a:br>
            <a:r>
              <a:rPr lang="hu-HU" dirty="0"/>
              <a:t>A másik lehetőség, hogy szándékosan rossz ellenfél-stratégia megfigyelést adunk nekik.</a:t>
            </a:r>
            <a:br>
              <a:rPr lang="hu-HU" dirty="0"/>
            </a:br>
            <a:r>
              <a:rPr lang="hu-HU" dirty="0"/>
              <a:t>Ezek mind azt eredményeznék, hogy romlik a tanulás minősége, és sokkal lassabban, kevésbé hatékonyan alkalmazkodnak.</a:t>
            </a:r>
          </a:p>
        </p:txBody>
      </p:sp>
      <p:sp>
        <p:nvSpPr>
          <p:cNvPr id="4" name="Dia számának helye 3"/>
          <p:cNvSpPr>
            <a:spLocks noGrp="1"/>
          </p:cNvSpPr>
          <p:nvPr>
            <p:ph type="sldNum" sz="quarter" idx="5"/>
          </p:nvPr>
        </p:nvSpPr>
        <p:spPr/>
        <p:txBody>
          <a:bodyPr/>
          <a:lstStyle/>
          <a:p>
            <a:fld id="{016DE1EE-13E1-4098-A3ED-7B2B81B507D1}" type="slidenum">
              <a:rPr lang="hu-HU" smtClean="0"/>
              <a:t>17</a:t>
            </a:fld>
            <a:endParaRPr lang="hu-HU"/>
          </a:p>
        </p:txBody>
      </p:sp>
    </p:spTree>
    <p:extLst>
      <p:ext uri="{BB962C8B-B14F-4D97-AF65-F5344CB8AC3E}">
        <p14:creationId xmlns:p14="http://schemas.microsoft.com/office/powerpoint/2010/main" val="9719347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Ha pontosan tudjuk, hogy melyik szoftver milyen gyártói könyvtárakat használ, akkor a gyártók már nem elszigetelt csatamezők lennének, hanem egy függőségi gráf csomópontjai.</a:t>
            </a:r>
            <a:br>
              <a:rPr lang="hu-HU" dirty="0"/>
            </a:br>
            <a:r>
              <a:rPr lang="hu-HU" dirty="0"/>
              <a:t>Így a </a:t>
            </a:r>
            <a:r>
              <a:rPr lang="hu-HU" dirty="0" err="1"/>
              <a:t>Blotto</a:t>
            </a:r>
            <a:r>
              <a:rPr lang="hu-HU" dirty="0"/>
              <a:t>-modellt ki lehetne terjeszteni egy gráfra, ahol a csatamező értéke nemcsak a saját sérülékenységi értékeitől függ, hanem a függő komponensek kockázatától is.</a:t>
            </a:r>
            <a:br>
              <a:rPr lang="hu-HU" dirty="0"/>
            </a:br>
            <a:r>
              <a:rPr lang="hu-HU" dirty="0"/>
              <a:t>A támadó és a védő ebben az esetben a gráf csomópontjaira osztja el az erőforrásokat.</a:t>
            </a:r>
            <a:br>
              <a:rPr lang="hu-HU" dirty="0"/>
            </a:br>
            <a:r>
              <a:rPr lang="hu-HU" dirty="0"/>
              <a:t>Ez sokkal valóságosabb képet adna a modern, összefüggő szoftver-ökoszisztémákról.</a:t>
            </a:r>
          </a:p>
        </p:txBody>
      </p:sp>
      <p:sp>
        <p:nvSpPr>
          <p:cNvPr id="4" name="Dia számának helye 3"/>
          <p:cNvSpPr>
            <a:spLocks noGrp="1"/>
          </p:cNvSpPr>
          <p:nvPr>
            <p:ph type="sldNum" sz="quarter" idx="5"/>
          </p:nvPr>
        </p:nvSpPr>
        <p:spPr/>
        <p:txBody>
          <a:bodyPr/>
          <a:lstStyle/>
          <a:p>
            <a:fld id="{016DE1EE-13E1-4098-A3ED-7B2B81B507D1}" type="slidenum">
              <a:rPr lang="hu-HU" smtClean="0"/>
              <a:t>18</a:t>
            </a:fld>
            <a:endParaRPr lang="hu-HU"/>
          </a:p>
        </p:txBody>
      </p:sp>
    </p:spTree>
    <p:extLst>
      <p:ext uri="{BB962C8B-B14F-4D97-AF65-F5344CB8AC3E}">
        <p14:creationId xmlns:p14="http://schemas.microsoft.com/office/powerpoint/2010/main" val="22425115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bemutatott modell könnyen skálázható, viszont a Q-</a:t>
            </a:r>
            <a:r>
              <a:rPr lang="hu-HU" dirty="0" err="1"/>
              <a:t>learning</a:t>
            </a:r>
            <a:r>
              <a:rPr lang="hu-HU" dirty="0"/>
              <a:t> maga nem.</a:t>
            </a:r>
            <a:br>
              <a:rPr lang="hu-HU" dirty="0"/>
            </a:br>
            <a:r>
              <a:rPr lang="hu-HU" dirty="0" err="1"/>
              <a:t>Tabuláris</a:t>
            </a:r>
            <a:r>
              <a:rPr lang="hu-HU" dirty="0"/>
              <a:t> formában több száz csatatérnél a stratégia- és állapottér túl nagyra nő.</a:t>
            </a:r>
            <a:br>
              <a:rPr lang="hu-HU" dirty="0"/>
            </a:br>
            <a:r>
              <a:rPr lang="hu-HU" dirty="0"/>
              <a:t>Ilyenkor Deep RL-t kell használni, illetve lehet csoportosítani a gyártókat kockázati kategóriákba.</a:t>
            </a:r>
            <a:br>
              <a:rPr lang="hu-HU" dirty="0"/>
            </a:br>
            <a:r>
              <a:rPr lang="hu-HU" dirty="0"/>
              <a:t>Nagy méretű rendszereknél pedig a gráf-alapú RL a legjobb megközelítés.</a:t>
            </a:r>
            <a:br>
              <a:rPr lang="hu-HU" dirty="0"/>
            </a:br>
            <a:r>
              <a:rPr lang="hu-HU" dirty="0"/>
              <a:t>A lényeg az, hogy a keretrendszer skálázható, csak a tanuló algoritmust kell fejleszteni.</a:t>
            </a:r>
          </a:p>
        </p:txBody>
      </p:sp>
      <p:sp>
        <p:nvSpPr>
          <p:cNvPr id="4" name="Dia számának helye 3"/>
          <p:cNvSpPr>
            <a:spLocks noGrp="1"/>
          </p:cNvSpPr>
          <p:nvPr>
            <p:ph type="sldNum" sz="quarter" idx="5"/>
          </p:nvPr>
        </p:nvSpPr>
        <p:spPr/>
        <p:txBody>
          <a:bodyPr/>
          <a:lstStyle/>
          <a:p>
            <a:fld id="{016DE1EE-13E1-4098-A3ED-7B2B81B507D1}" type="slidenum">
              <a:rPr lang="hu-HU" smtClean="0"/>
              <a:t>19</a:t>
            </a:fld>
            <a:endParaRPr lang="hu-HU"/>
          </a:p>
        </p:txBody>
      </p:sp>
    </p:spTree>
    <p:extLst>
      <p:ext uri="{BB962C8B-B14F-4D97-AF65-F5344CB8AC3E}">
        <p14:creationId xmlns:p14="http://schemas.microsoft.com/office/powerpoint/2010/main" val="3660759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Köszönöm szépen a figyelmet!</a:t>
            </a:r>
          </a:p>
        </p:txBody>
      </p:sp>
      <p:sp>
        <p:nvSpPr>
          <p:cNvPr id="4" name="Dia számának helye 3"/>
          <p:cNvSpPr>
            <a:spLocks noGrp="1"/>
          </p:cNvSpPr>
          <p:nvPr>
            <p:ph type="sldNum" sz="quarter" idx="5"/>
          </p:nvPr>
        </p:nvSpPr>
        <p:spPr/>
        <p:txBody>
          <a:bodyPr/>
          <a:lstStyle/>
          <a:p>
            <a:fld id="{016DE1EE-13E1-4098-A3ED-7B2B81B507D1}" type="slidenum">
              <a:rPr lang="hu-HU" smtClean="0"/>
              <a:t>20</a:t>
            </a:fld>
            <a:endParaRPr lang="hu-HU"/>
          </a:p>
        </p:txBody>
      </p:sp>
    </p:spTree>
    <p:extLst>
      <p:ext uri="{BB962C8B-B14F-4D97-AF65-F5344CB8AC3E}">
        <p14:creationId xmlns:p14="http://schemas.microsoft.com/office/powerpoint/2010/main" val="35643483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859524"/>
            <a:ext cx="7772400" cy="1123950"/>
          </a:xfrm>
        </p:spPr>
        <p:txBody>
          <a:bodyPr/>
          <a:lstStyle>
            <a:lvl1pPr>
              <a:defRPr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Subtitle 2"/>
          <p:cNvSpPr>
            <a:spLocks noGrp="1"/>
          </p:cNvSpPr>
          <p:nvPr>
            <p:ph type="subTitle" idx="1"/>
          </p:nvPr>
        </p:nvSpPr>
        <p:spPr>
          <a:xfrm>
            <a:off x="1371600" y="4268150"/>
            <a:ext cx="6400800" cy="1588573"/>
          </a:xfrm>
        </p:spPr>
        <p:txBody>
          <a:bodyPr>
            <a:norm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endParaRPr lang="hu-HU" dirty="0"/>
          </a:p>
        </p:txBody>
      </p:sp>
    </p:spTree>
    <p:extLst>
      <p:ext uri="{BB962C8B-B14F-4D97-AF65-F5344CB8AC3E}">
        <p14:creationId xmlns:p14="http://schemas.microsoft.com/office/powerpoint/2010/main" val="1588652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Content Placeholder 2"/>
          <p:cNvSpPr>
            <a:spLocks noGrp="1"/>
          </p:cNvSpPr>
          <p:nvPr>
            <p:ph idx="1"/>
          </p:nvPr>
        </p:nvSpPr>
        <p:spPr>
          <a:xfrm>
            <a:off x="251520" y="1052736"/>
            <a:ext cx="8435280" cy="5259164"/>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5" name="Footer Placeholder 4"/>
          <p:cNvSpPr>
            <a:spLocks noGrp="1"/>
          </p:cNvSpPr>
          <p:nvPr>
            <p:ph type="ftr" sz="quarter" idx="11"/>
          </p:nvPr>
        </p:nvSpPr>
        <p:spPr>
          <a:xfrm>
            <a:off x="4454261" y="6501248"/>
            <a:ext cx="4186954" cy="293117"/>
          </a:xfrm>
        </p:spPr>
        <p:txBody>
          <a:bodyPr/>
          <a:lstStyle>
            <a:lvl1pPr algn="r">
              <a:defRPr sz="1200" b="1">
                <a:solidFill>
                  <a:schemeClr val="tx1"/>
                </a:solidFill>
              </a:defRPr>
            </a:lvl1pPr>
          </a:lstStyle>
          <a:p>
            <a:r>
              <a:rPr lang="hu-HU"/>
              <a:t>Title of the presentation</a:t>
            </a:r>
            <a:endParaRPr lang="hu-HU" dirty="0"/>
          </a:p>
        </p:txBody>
      </p:sp>
      <p:sp>
        <p:nvSpPr>
          <p:cNvPr id="6" name="Slide Number Placeholder 5"/>
          <p:cNvSpPr>
            <a:spLocks noGrp="1"/>
          </p:cNvSpPr>
          <p:nvPr>
            <p:ph type="sldNum" sz="quarter" idx="12"/>
          </p:nvPr>
        </p:nvSpPr>
        <p:spPr>
          <a:xfrm>
            <a:off x="8715349" y="6501248"/>
            <a:ext cx="428652" cy="293117"/>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4" name="TextBox 13"/>
          <p:cNvSpPr txBox="1"/>
          <p:nvPr userDrawn="1"/>
        </p:nvSpPr>
        <p:spPr>
          <a:xfrm>
            <a:off x="8544247" y="6505467"/>
            <a:ext cx="258404" cy="276999"/>
          </a:xfrm>
          <a:prstGeom prst="rect">
            <a:avLst/>
          </a:prstGeom>
          <a:noFill/>
        </p:spPr>
        <p:txBody>
          <a:bodyPr wrap="none" rtlCol="0">
            <a:spAutoFit/>
          </a:bodyPr>
          <a:lstStyle/>
          <a:p>
            <a:r>
              <a:rPr lang="hu-HU" sz="1200" b="1" dirty="0">
                <a:solidFill>
                  <a:schemeClr val="tx1"/>
                </a:solidFill>
              </a:rPr>
              <a:t>|</a:t>
            </a:r>
          </a:p>
        </p:txBody>
      </p:sp>
      <p:cxnSp>
        <p:nvCxnSpPr>
          <p:cNvPr id="9" name="Straight Connector 8"/>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785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4" name="Rectangle 3"/>
          <p:cNvSpPr/>
          <p:nvPr userDrawn="1"/>
        </p:nvSpPr>
        <p:spPr>
          <a:xfrm>
            <a:off x="0" y="4432300"/>
            <a:ext cx="9144000" cy="45719"/>
          </a:xfrm>
          <a:prstGeom prst="rect">
            <a:avLst/>
          </a:prstGeom>
          <a:solidFill>
            <a:schemeClr val="accent6">
              <a:lumMod val="7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u-HU" b="0" dirty="0">
              <a:latin typeface="+mj-lt"/>
            </a:endParaRPr>
          </a:p>
        </p:txBody>
      </p:sp>
      <p:sp>
        <p:nvSpPr>
          <p:cNvPr id="2" name="Title 1"/>
          <p:cNvSpPr>
            <a:spLocks noGrp="1"/>
          </p:cNvSpPr>
          <p:nvPr>
            <p:ph type="title"/>
          </p:nvPr>
        </p:nvSpPr>
        <p:spPr>
          <a:xfrm>
            <a:off x="722313" y="5003800"/>
            <a:ext cx="7772400" cy="765175"/>
          </a:xfrm>
        </p:spPr>
        <p:txBody>
          <a:bodyPr anchor="t"/>
          <a:lstStyle>
            <a:lvl1pPr algn="ctr">
              <a:defRPr sz="4000" b="1" cap="all">
                <a:solidFill>
                  <a:schemeClr val="tx1"/>
                </a:solidFill>
                <a:effectLst>
                  <a:outerShdw blurRad="38100" dist="38100" dir="2700000" algn="tl">
                    <a:srgbClr val="000000">
                      <a:alpha val="43137"/>
                    </a:srgbClr>
                  </a:outerShdw>
                </a:effectLst>
              </a:defRPr>
            </a:lvl1pPr>
          </a:lstStyle>
          <a:p>
            <a:r>
              <a:rPr lang="en-US" dirty="0"/>
              <a:t>Click to edit Master </a:t>
            </a:r>
            <a:r>
              <a:rPr lang="en-US"/>
              <a:t>title style</a:t>
            </a:r>
            <a:endParaRPr lang="hu-HU" dirty="0"/>
          </a:p>
        </p:txBody>
      </p:sp>
      <p:sp>
        <p:nvSpPr>
          <p:cNvPr id="3" name="Text Placeholder 2"/>
          <p:cNvSpPr>
            <a:spLocks noGrp="1"/>
          </p:cNvSpPr>
          <p:nvPr>
            <p:ph type="body" idx="1"/>
          </p:nvPr>
        </p:nvSpPr>
        <p:spPr>
          <a:xfrm>
            <a:off x="722313" y="2906713"/>
            <a:ext cx="7772400" cy="1500187"/>
          </a:xfrm>
        </p:spPr>
        <p:txBody>
          <a:bodyPr anchor="b"/>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2268415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57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4" name="Content Placeholder 3"/>
          <p:cNvSpPr>
            <a:spLocks noGrp="1"/>
          </p:cNvSpPr>
          <p:nvPr>
            <p:ph sz="half" idx="2"/>
          </p:nvPr>
        </p:nvSpPr>
        <p:spPr>
          <a:xfrm>
            <a:off x="4648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9"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14" name="Footer Placeholder 4"/>
          <p:cNvSpPr>
            <a:spLocks noGrp="1"/>
          </p:cNvSpPr>
          <p:nvPr>
            <p:ph type="ftr" sz="quarter" idx="11"/>
          </p:nvPr>
        </p:nvSpPr>
        <p:spPr>
          <a:xfrm>
            <a:off x="4451954" y="6498648"/>
            <a:ext cx="4212712" cy="281218"/>
          </a:xfrm>
        </p:spPr>
        <p:txBody>
          <a:bodyPr/>
          <a:lstStyle>
            <a:lvl1pPr algn="r">
              <a:defRPr sz="1200" b="1">
                <a:solidFill>
                  <a:schemeClr val="tx1"/>
                </a:solidFill>
              </a:defRPr>
            </a:lvl1pPr>
          </a:lstStyle>
          <a:p>
            <a:r>
              <a:rPr lang="hu-HU"/>
              <a:t>Title of the presentation</a:t>
            </a:r>
            <a:endParaRPr lang="hu-HU" dirty="0"/>
          </a:p>
        </p:txBody>
      </p:sp>
      <p:sp>
        <p:nvSpPr>
          <p:cNvPr id="15" name="Slide Number Placeholder 5"/>
          <p:cNvSpPr>
            <a:spLocks noGrp="1"/>
          </p:cNvSpPr>
          <p:nvPr>
            <p:ph type="sldNum" sz="quarter" idx="12"/>
          </p:nvPr>
        </p:nvSpPr>
        <p:spPr>
          <a:xfrm>
            <a:off x="8700162" y="6498648"/>
            <a:ext cx="375601" cy="281218"/>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6" name="TextBox 15"/>
          <p:cNvSpPr txBox="1"/>
          <p:nvPr userDrawn="1"/>
        </p:nvSpPr>
        <p:spPr>
          <a:xfrm>
            <a:off x="8559358" y="6507805"/>
            <a:ext cx="258404" cy="276999"/>
          </a:xfrm>
          <a:prstGeom prst="rect">
            <a:avLst/>
          </a:prstGeom>
          <a:noFill/>
        </p:spPr>
        <p:txBody>
          <a:bodyPr wrap="none" rtlCol="0">
            <a:spAutoFit/>
          </a:bodyPr>
          <a:lstStyle/>
          <a:p>
            <a:r>
              <a:rPr lang="hu-HU" sz="1200" b="1" dirty="0">
                <a:solidFill>
                  <a:schemeClr val="tx1"/>
                </a:solidFill>
              </a:rPr>
              <a:t>|</a:t>
            </a:r>
          </a:p>
        </p:txBody>
      </p:sp>
      <p:cxnSp>
        <p:nvCxnSpPr>
          <p:cNvPr id="11" name="Straight Connector 10"/>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65897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hu-HU"/>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p:cNvSpPr>
            <a:spLocks noGrp="1"/>
          </p:cNvSpPr>
          <p:nvPr>
            <p:ph type="dt" sz="half" idx="10"/>
          </p:nvPr>
        </p:nvSpPr>
        <p:spPr/>
        <p:txBody>
          <a:bodyPr/>
          <a:lstStyle/>
          <a:p>
            <a:endParaRPr lang="hu-HU"/>
          </a:p>
        </p:txBody>
      </p:sp>
      <p:sp>
        <p:nvSpPr>
          <p:cNvPr id="8" name="Footer Placeholder 7"/>
          <p:cNvSpPr>
            <a:spLocks noGrp="1"/>
          </p:cNvSpPr>
          <p:nvPr>
            <p:ph type="ftr" sz="quarter" idx="11"/>
          </p:nvPr>
        </p:nvSpPr>
        <p:spPr/>
        <p:txBody>
          <a:bodyPr/>
          <a:lstStyle/>
          <a:p>
            <a:r>
              <a:rPr lang="hu-HU"/>
              <a:t>Title of the presentation</a:t>
            </a:r>
          </a:p>
        </p:txBody>
      </p:sp>
      <p:sp>
        <p:nvSpPr>
          <p:cNvPr id="9" name="Slide Number Placeholder 8"/>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872312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Date Placeholder 2"/>
          <p:cNvSpPr>
            <a:spLocks noGrp="1"/>
          </p:cNvSpPr>
          <p:nvPr>
            <p:ph type="dt" sz="half" idx="10"/>
          </p:nvPr>
        </p:nvSpPr>
        <p:spPr/>
        <p:txBody>
          <a:bodyPr/>
          <a:lstStyle/>
          <a:p>
            <a:endParaRPr lang="hu-HU"/>
          </a:p>
        </p:txBody>
      </p:sp>
      <p:sp>
        <p:nvSpPr>
          <p:cNvPr id="4" name="Footer Placeholder 3"/>
          <p:cNvSpPr>
            <a:spLocks noGrp="1"/>
          </p:cNvSpPr>
          <p:nvPr>
            <p:ph type="ftr" sz="quarter" idx="11"/>
          </p:nvPr>
        </p:nvSpPr>
        <p:spPr/>
        <p:txBody>
          <a:bodyPr/>
          <a:lstStyle/>
          <a:p>
            <a:r>
              <a:rPr lang="hu-HU"/>
              <a:t>Title of the presentation</a:t>
            </a:r>
          </a:p>
        </p:txBody>
      </p:sp>
      <p:sp>
        <p:nvSpPr>
          <p:cNvPr id="5" name="Slide Number Placeholder 4"/>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099437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hu-HU"/>
          </a:p>
        </p:txBody>
      </p:sp>
      <p:sp>
        <p:nvSpPr>
          <p:cNvPr id="3" name="Footer Placeholder 2"/>
          <p:cNvSpPr>
            <a:spLocks noGrp="1"/>
          </p:cNvSpPr>
          <p:nvPr>
            <p:ph type="ftr" sz="quarter" idx="11"/>
          </p:nvPr>
        </p:nvSpPr>
        <p:spPr/>
        <p:txBody>
          <a:bodyPr/>
          <a:lstStyle/>
          <a:p>
            <a:r>
              <a:rPr lang="hu-HU"/>
              <a:t>Title of the presentation</a:t>
            </a:r>
          </a:p>
        </p:txBody>
      </p:sp>
      <p:sp>
        <p:nvSpPr>
          <p:cNvPr id="4" name="Slide Number Placeholder 3"/>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578469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hu-HU"/>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139848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hu-HU"/>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4285504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738498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hu-HU"/>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3739994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hu-H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u-HU"/>
              <a:t>Title of the presentation</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F532308-F742-4E8E-A0E9-3E442CCFFF54}" type="slidenum">
              <a:rPr lang="hu-HU" smtClean="0"/>
              <a:t>‹#›</a:t>
            </a:fld>
            <a:endParaRPr lang="hu-HU"/>
          </a:p>
        </p:txBody>
      </p:sp>
    </p:spTree>
    <p:extLst>
      <p:ext uri="{BB962C8B-B14F-4D97-AF65-F5344CB8AC3E}">
        <p14:creationId xmlns:p14="http://schemas.microsoft.com/office/powerpoint/2010/main" val="3214609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21.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3197527"/>
            <a:ext cx="7772400" cy="1123950"/>
          </a:xfrm>
        </p:spPr>
        <p:txBody>
          <a:bodyPr>
            <a:normAutofit fontScale="90000"/>
          </a:bodyPr>
          <a:lstStyle/>
          <a:p>
            <a:r>
              <a:rPr lang="en-US" noProof="0" dirty="0"/>
              <a:t> Colonel Blotto in Cybersecurity</a:t>
            </a:r>
            <a:br>
              <a:rPr lang="en-US" noProof="0" dirty="0"/>
            </a:br>
            <a:r>
              <a:rPr lang="en-US" sz="2700" noProof="0" dirty="0"/>
              <a:t>Real-World Data, Reinforcement Learning and </a:t>
            </a:r>
            <a:br>
              <a:rPr lang="en-US" sz="2700" noProof="0" dirty="0"/>
            </a:br>
            <a:r>
              <a:rPr lang="en-US" sz="2700" noProof="0" dirty="0"/>
              <a:t>Information Asymmetry</a:t>
            </a:r>
            <a:endParaRPr lang="en-US" noProof="0" dirty="0"/>
          </a:p>
        </p:txBody>
      </p:sp>
      <p:sp>
        <p:nvSpPr>
          <p:cNvPr id="3" name="Subtitle 2"/>
          <p:cNvSpPr>
            <a:spLocks noGrp="1"/>
          </p:cNvSpPr>
          <p:nvPr>
            <p:ph type="subTitle" idx="1"/>
          </p:nvPr>
        </p:nvSpPr>
        <p:spPr>
          <a:xfrm>
            <a:off x="1371596" y="5247164"/>
            <a:ext cx="6400800" cy="1588573"/>
          </a:xfrm>
        </p:spPr>
        <p:txBody>
          <a:bodyPr>
            <a:normAutofit/>
          </a:bodyPr>
          <a:lstStyle/>
          <a:p>
            <a:r>
              <a:rPr lang="en-US" noProof="0" dirty="0"/>
              <a:t>Zalán Nagy</a:t>
            </a:r>
          </a:p>
          <a:p>
            <a:r>
              <a:rPr lang="en-US" sz="1800" noProof="0" dirty="0"/>
              <a:t>Advisor: Dr. Gergely </a:t>
            </a:r>
            <a:r>
              <a:rPr lang="en-US" sz="1800" noProof="0" dirty="0" err="1"/>
              <a:t>Biczók</a:t>
            </a:r>
            <a:br>
              <a:rPr lang="en-US" sz="1800" noProof="0" dirty="0"/>
            </a:br>
            <a:endParaRPr lang="en-US" sz="1800" noProof="0" dirty="0"/>
          </a:p>
        </p:txBody>
      </p:sp>
      <p:grpSp>
        <p:nvGrpSpPr>
          <p:cNvPr id="4" name="Group 3"/>
          <p:cNvGrpSpPr/>
          <p:nvPr/>
        </p:nvGrpSpPr>
        <p:grpSpPr>
          <a:xfrm>
            <a:off x="3182875" y="1469531"/>
            <a:ext cx="2778243" cy="1066993"/>
            <a:chOff x="3182875" y="1574039"/>
            <a:chExt cx="2778243" cy="1066993"/>
          </a:xfrm>
        </p:grpSpPr>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2875" y="1574039"/>
              <a:ext cx="2778243" cy="802309"/>
            </a:xfrm>
            <a:prstGeom prst="rect">
              <a:avLst/>
            </a:prstGeom>
          </p:spPr>
        </p:pic>
        <p:cxnSp>
          <p:nvCxnSpPr>
            <p:cNvPr id="7" name="Straight Connector 6"/>
            <p:cNvCxnSpPr/>
            <p:nvPr/>
          </p:nvCxnSpPr>
          <p:spPr>
            <a:xfrm>
              <a:off x="3224440" y="2314296"/>
              <a:ext cx="2695117"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237336" y="2333255"/>
              <a:ext cx="2669320" cy="307777"/>
            </a:xfrm>
            <a:prstGeom prst="rect">
              <a:avLst/>
            </a:prstGeom>
            <a:noFill/>
          </p:spPr>
          <p:txBody>
            <a:bodyPr wrap="none" rtlCol="0">
              <a:spAutoFit/>
            </a:bodyPr>
            <a:lstStyle/>
            <a:p>
              <a:r>
                <a:rPr lang="en-US" sz="1400" b="1" noProof="0" dirty="0">
                  <a:latin typeface="Consolas" panose="020B0609020204030204" pitchFamily="49" charset="0"/>
                </a:rPr>
                <a:t>w </a:t>
              </a:r>
              <a:r>
                <a:rPr lang="en-US" sz="1400" b="1" noProof="0" dirty="0" err="1">
                  <a:latin typeface="Consolas" panose="020B0609020204030204" pitchFamily="49" charset="0"/>
                </a:rPr>
                <a:t>w</a:t>
              </a:r>
              <a:r>
                <a:rPr lang="en-US" sz="1400" b="1" noProof="0" dirty="0">
                  <a:latin typeface="Consolas" panose="020B0609020204030204" pitchFamily="49" charset="0"/>
                </a:rPr>
                <a:t> </a:t>
              </a:r>
              <a:r>
                <a:rPr lang="en-US" sz="1400" b="1" noProof="0" dirty="0" err="1">
                  <a:latin typeface="Consolas" panose="020B0609020204030204" pitchFamily="49" charset="0"/>
                </a:rPr>
                <a:t>w</a:t>
              </a:r>
              <a:r>
                <a:rPr lang="en-US" sz="1400" b="1" noProof="0" dirty="0">
                  <a:latin typeface="Consolas" panose="020B0609020204030204" pitchFamily="49" charset="0"/>
                </a:rPr>
                <a:t> . c r y s y s . h u</a:t>
              </a:r>
            </a:p>
          </p:txBody>
        </p:sp>
      </p:grpSp>
    </p:spTree>
    <p:extLst>
      <p:ext uri="{BB962C8B-B14F-4D97-AF65-F5344CB8AC3E}">
        <p14:creationId xmlns:p14="http://schemas.microsoft.com/office/powerpoint/2010/main" val="41879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Motivation</a:t>
            </a:r>
          </a:p>
        </p:txBody>
      </p:sp>
      <p:sp>
        <p:nvSpPr>
          <p:cNvPr id="3" name="Content Placeholder 2"/>
          <p:cNvSpPr>
            <a:spLocks noGrp="1"/>
          </p:cNvSpPr>
          <p:nvPr>
            <p:ph idx="1"/>
          </p:nvPr>
        </p:nvSpPr>
        <p:spPr/>
        <p:txBody>
          <a:bodyPr/>
          <a:lstStyle/>
          <a:p>
            <a:r>
              <a:rPr lang="en-US" noProof="0" dirty="0"/>
              <a:t>Thousands of new vulnerabilities every day</a:t>
            </a:r>
          </a:p>
          <a:p>
            <a:endParaRPr lang="en-US" noProof="0" dirty="0"/>
          </a:p>
          <a:p>
            <a:r>
              <a:rPr lang="en-US" noProof="0" dirty="0"/>
              <a:t>Limited defensive and offensive resources</a:t>
            </a:r>
          </a:p>
          <a:p>
            <a:endParaRPr lang="en-US" noProof="0" dirty="0"/>
          </a:p>
          <a:p>
            <a:r>
              <a:rPr lang="en-US" noProof="0" dirty="0"/>
              <a:t>Competition between attackers and defenders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40" name="Slide Number Placeholder 39"/>
          <p:cNvSpPr>
            <a:spLocks noGrp="1"/>
          </p:cNvSpPr>
          <p:nvPr>
            <p:ph type="sldNum" sz="quarter" idx="12"/>
          </p:nvPr>
        </p:nvSpPr>
        <p:spPr/>
        <p:txBody>
          <a:bodyPr/>
          <a:lstStyle/>
          <a:p>
            <a:fld id="{4F532308-F742-4E8E-A0E9-3E442CCFFF54}" type="slidenum">
              <a:rPr lang="en-US" noProof="0" smtClean="0"/>
              <a:pPr/>
              <a:t>2</a:t>
            </a:fld>
            <a:endParaRPr lang="en-US" noProof="0" dirty="0"/>
          </a:p>
        </p:txBody>
      </p:sp>
      <p:pic>
        <p:nvPicPr>
          <p:cNvPr id="8194" name="Picture 2" descr="Cyber Defense: Over 41,733 Royalty-Free Licensable Stock Illustrations &amp;  Drawings | Shutterstock">
            <a:extLst>
              <a:ext uri="{FF2B5EF4-FFF2-40B4-BE49-F238E27FC236}">
                <a16:creationId xmlns:a16="http://schemas.microsoft.com/office/drawing/2014/main" id="{7092E837-37D0-C775-AD99-35047CB9D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1750" y="3429000"/>
            <a:ext cx="4000500" cy="266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6121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The strategic nature of cybersecurity</a:t>
            </a:r>
          </a:p>
        </p:txBody>
      </p:sp>
      <p:sp>
        <p:nvSpPr>
          <p:cNvPr id="3" name="Content Placeholder 2"/>
          <p:cNvSpPr>
            <a:spLocks noGrp="1"/>
          </p:cNvSpPr>
          <p:nvPr>
            <p:ph idx="1"/>
          </p:nvPr>
        </p:nvSpPr>
        <p:spPr/>
        <p:txBody>
          <a:bodyPr/>
          <a:lstStyle/>
          <a:p>
            <a:r>
              <a:rPr lang="en-US" noProof="0" dirty="0"/>
              <a:t>Digital infrastructure as a critical system</a:t>
            </a:r>
          </a:p>
          <a:p>
            <a:endParaRPr lang="en-US" noProof="0" dirty="0"/>
          </a:p>
          <a:p>
            <a:r>
              <a:rPr lang="en-US" noProof="0" dirty="0"/>
              <a:t>Real economic damage caused by attacks</a:t>
            </a:r>
          </a:p>
          <a:p>
            <a:endParaRPr lang="en-US" noProof="0" dirty="0"/>
          </a:p>
          <a:p>
            <a:r>
              <a:rPr lang="en-US" noProof="0" dirty="0"/>
              <a:t>Strategic decision-making and risk</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3</a:t>
            </a:fld>
            <a:endParaRPr lang="en-US" noProof="0" dirty="0"/>
          </a:p>
        </p:txBody>
      </p:sp>
      <p:pic>
        <p:nvPicPr>
          <p:cNvPr id="1027" name="Picture 3" descr="Top 8 Cyber Threat Maps To Track Cyber Attacks">
            <a:extLst>
              <a:ext uri="{FF2B5EF4-FFF2-40B4-BE49-F238E27FC236}">
                <a16:creationId xmlns:a16="http://schemas.microsoft.com/office/drawing/2014/main" id="{A9014F70-1AEB-CDA2-04BB-247415D754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722" y="3821518"/>
            <a:ext cx="4188278" cy="209413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olarWinds: Hacked firm issues urgent security fix">
            <a:extLst>
              <a:ext uri="{FF2B5EF4-FFF2-40B4-BE49-F238E27FC236}">
                <a16:creationId xmlns:a16="http://schemas.microsoft.com/office/drawing/2014/main" id="{04D54A23-13B6-85AC-0B48-5D923B050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63886" y="3821518"/>
            <a:ext cx="3722914" cy="2094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2538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hu-HU" noProof="0" dirty="0" err="1"/>
              <a:t>Colonel</a:t>
            </a:r>
            <a:r>
              <a:rPr lang="hu-HU" noProof="0" dirty="0"/>
              <a:t> </a:t>
            </a:r>
            <a:r>
              <a:rPr lang="hu-HU" noProof="0" dirty="0" err="1"/>
              <a:t>Blotto</a:t>
            </a:r>
            <a:r>
              <a:rPr lang="hu-HU" noProof="0" dirty="0"/>
              <a:t> </a:t>
            </a:r>
            <a:r>
              <a:rPr lang="hu-HU" noProof="0" dirty="0" err="1"/>
              <a:t>model</a:t>
            </a:r>
            <a:endParaRPr lang="en-US" noProof="0" dirty="0"/>
          </a:p>
        </p:txBody>
      </p:sp>
      <p:sp>
        <p:nvSpPr>
          <p:cNvPr id="3" name="Content Placeholder 2"/>
          <p:cNvSpPr>
            <a:spLocks noGrp="1"/>
          </p:cNvSpPr>
          <p:nvPr>
            <p:ph idx="1"/>
          </p:nvPr>
        </p:nvSpPr>
        <p:spPr/>
        <p:txBody>
          <a:bodyPr/>
          <a:lstStyle/>
          <a:p>
            <a:r>
              <a:rPr lang="en-US" noProof="0" dirty="0"/>
              <a:t>Two commanders → multiple battlefields → limited resources</a:t>
            </a:r>
          </a:p>
          <a:p>
            <a:endParaRPr lang="hu-HU" dirty="0"/>
          </a:p>
          <a:p>
            <a:r>
              <a:rPr lang="en-US" dirty="0"/>
              <a:t>The winner is the one who allocates more resources to a given battlefield</a:t>
            </a:r>
            <a:endParaRPr lang="hu-HU" noProof="0" dirty="0"/>
          </a:p>
          <a:p>
            <a:endParaRPr lang="en-US" noProof="0" dirty="0"/>
          </a:p>
          <a:p>
            <a:endParaRPr lang="en-US" noProof="0" dirty="0"/>
          </a:p>
          <a:p>
            <a:endParaRPr lang="en-US" noProof="0" dirty="0"/>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4</a:t>
            </a:fld>
            <a:endParaRPr lang="en-US" noProof="0" dirty="0"/>
          </a:p>
        </p:txBody>
      </p:sp>
      <p:grpSp>
        <p:nvGrpSpPr>
          <p:cNvPr id="10" name="Csoportba foglalás 9">
            <a:extLst>
              <a:ext uri="{FF2B5EF4-FFF2-40B4-BE49-F238E27FC236}">
                <a16:creationId xmlns:a16="http://schemas.microsoft.com/office/drawing/2014/main" id="{59DB276B-81D0-23F0-33BE-A12F9F019757}"/>
              </a:ext>
            </a:extLst>
          </p:cNvPr>
          <p:cNvGrpSpPr/>
          <p:nvPr/>
        </p:nvGrpSpPr>
        <p:grpSpPr>
          <a:xfrm>
            <a:off x="0" y="3095897"/>
            <a:ext cx="9144000" cy="2955440"/>
            <a:chOff x="0" y="3187337"/>
            <a:chExt cx="9144000" cy="2955440"/>
          </a:xfrm>
        </p:grpSpPr>
        <p:pic>
          <p:nvPicPr>
            <p:cNvPr id="9218" name="Picture 2" descr="Dong Quan Vu' s Personal Website">
              <a:extLst>
                <a:ext uri="{FF2B5EF4-FFF2-40B4-BE49-F238E27FC236}">
                  <a16:creationId xmlns:a16="http://schemas.microsoft.com/office/drawing/2014/main" id="{8CC3B6BA-8A9A-1992-7F3E-9301106D0F4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9F7506C4-803E-5FF1-9448-3A4F11093E78}"/>
                </a:ext>
              </a:extLst>
            </p:cNvPr>
            <p:cNvGrpSpPr/>
            <p:nvPr/>
          </p:nvGrpSpPr>
          <p:grpSpPr>
            <a:xfrm>
              <a:off x="0" y="5418499"/>
              <a:ext cx="9144000" cy="724278"/>
              <a:chOff x="0" y="4916031"/>
              <a:chExt cx="9144000" cy="724278"/>
            </a:xfrm>
          </p:grpSpPr>
          <p:sp>
            <p:nvSpPr>
              <p:cNvPr id="6" name="Téglalap 5">
                <a:extLst>
                  <a:ext uri="{FF2B5EF4-FFF2-40B4-BE49-F238E27FC236}">
                    <a16:creationId xmlns:a16="http://schemas.microsoft.com/office/drawing/2014/main" id="{7F2A1A0B-82D3-FBD0-CA36-123209D26770}"/>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Téglalap 6">
                <a:extLst>
                  <a:ext uri="{FF2B5EF4-FFF2-40B4-BE49-F238E27FC236}">
                    <a16:creationId xmlns:a16="http://schemas.microsoft.com/office/drawing/2014/main" id="{C1C3A395-B15A-BD29-DFC5-43569493A338}"/>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1558195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CVE, CVSS, EPSS</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5</a:t>
            </a:fld>
            <a:endParaRPr lang="en-US" noProof="0" dirty="0"/>
          </a:p>
        </p:txBody>
      </p:sp>
      <p:graphicFrame>
        <p:nvGraphicFramePr>
          <p:cNvPr id="7" name="Táblázat 6">
            <a:extLst>
              <a:ext uri="{FF2B5EF4-FFF2-40B4-BE49-F238E27FC236}">
                <a16:creationId xmlns:a16="http://schemas.microsoft.com/office/drawing/2014/main" id="{6DC32DBA-E023-9F48-5442-7DC89B705CA0}"/>
              </a:ext>
            </a:extLst>
          </p:cNvPr>
          <p:cNvGraphicFramePr>
            <a:graphicFrameLocks noGrp="1"/>
          </p:cNvGraphicFramePr>
          <p:nvPr>
            <p:extLst>
              <p:ext uri="{D42A27DB-BD31-4B8C-83A1-F6EECF244321}">
                <p14:modId xmlns:p14="http://schemas.microsoft.com/office/powerpoint/2010/main" val="317921738"/>
              </p:ext>
            </p:extLst>
          </p:nvPr>
        </p:nvGraphicFramePr>
        <p:xfrm>
          <a:off x="547279" y="1490454"/>
          <a:ext cx="7813964" cy="3600000"/>
        </p:xfrm>
        <a:graphic>
          <a:graphicData uri="http://schemas.openxmlformats.org/drawingml/2006/table">
            <a:tbl>
              <a:tblPr>
                <a:tableStyleId>{5C22544A-7EE6-4342-B048-85BDC9FD1C3A}</a:tableStyleId>
              </a:tblPr>
              <a:tblGrid>
                <a:gridCol w="1579950">
                  <a:extLst>
                    <a:ext uri="{9D8B030D-6E8A-4147-A177-3AD203B41FA5}">
                      <a16:colId xmlns:a16="http://schemas.microsoft.com/office/drawing/2014/main" val="71512505"/>
                    </a:ext>
                  </a:extLst>
                </a:gridCol>
                <a:gridCol w="3412903">
                  <a:extLst>
                    <a:ext uri="{9D8B030D-6E8A-4147-A177-3AD203B41FA5}">
                      <a16:colId xmlns:a16="http://schemas.microsoft.com/office/drawing/2014/main" val="2285647785"/>
                    </a:ext>
                  </a:extLst>
                </a:gridCol>
                <a:gridCol w="2821111">
                  <a:extLst>
                    <a:ext uri="{9D8B030D-6E8A-4147-A177-3AD203B41FA5}">
                      <a16:colId xmlns:a16="http://schemas.microsoft.com/office/drawing/2014/main" val="1798518058"/>
                    </a:ext>
                  </a:extLst>
                </a:gridCol>
              </a:tblGrid>
              <a:tr h="900000">
                <a:tc>
                  <a:txBody>
                    <a:bodyPr/>
                    <a:lstStyle/>
                    <a:p>
                      <a:pPr>
                        <a:buNone/>
                      </a:pPr>
                      <a:r>
                        <a:rPr lang="en-US" sz="2000" i="1" noProof="0" dirty="0"/>
                        <a:t>Abbreviation</a:t>
                      </a:r>
                    </a:p>
                  </a:txBody>
                  <a:tcPr marL="65019" marR="65019" marT="32509" marB="32509" anchor="ctr"/>
                </a:tc>
                <a:tc>
                  <a:txBody>
                    <a:bodyPr/>
                    <a:lstStyle/>
                    <a:p>
                      <a:pPr>
                        <a:buNone/>
                      </a:pPr>
                      <a:r>
                        <a:rPr lang="en-US" sz="2000" i="1" noProof="0" dirty="0"/>
                        <a:t>Meaning</a:t>
                      </a:r>
                    </a:p>
                  </a:txBody>
                  <a:tcPr marL="65019" marR="65019" marT="32509" marB="32509" anchor="ctr"/>
                </a:tc>
                <a:tc>
                  <a:txBody>
                    <a:bodyPr/>
                    <a:lstStyle/>
                    <a:p>
                      <a:pPr>
                        <a:buNone/>
                      </a:pPr>
                      <a:r>
                        <a:rPr lang="en-US" sz="2000" i="1" noProof="0" dirty="0"/>
                        <a:t>What does it measure?</a:t>
                      </a:r>
                    </a:p>
                  </a:txBody>
                  <a:tcPr marL="65019" marR="65019" marT="32509" marB="32509" anchor="ctr"/>
                </a:tc>
                <a:extLst>
                  <a:ext uri="{0D108BD9-81ED-4DB2-BD59-A6C34878D82A}">
                    <a16:rowId xmlns:a16="http://schemas.microsoft.com/office/drawing/2014/main" val="3242483805"/>
                  </a:ext>
                </a:extLst>
              </a:tr>
              <a:tr h="900000">
                <a:tc>
                  <a:txBody>
                    <a:bodyPr/>
                    <a:lstStyle/>
                    <a:p>
                      <a:pPr>
                        <a:buNone/>
                      </a:pPr>
                      <a:r>
                        <a:rPr lang="en-US" sz="2000" noProof="0" dirty="0"/>
                        <a:t>CVE</a:t>
                      </a:r>
                    </a:p>
                  </a:txBody>
                  <a:tcPr marL="65019" marR="65019" marT="32509" marB="32509" anchor="ctr"/>
                </a:tc>
                <a:tc>
                  <a:txBody>
                    <a:bodyPr/>
                    <a:lstStyle/>
                    <a:p>
                      <a:pPr>
                        <a:buNone/>
                      </a:pPr>
                      <a:r>
                        <a:rPr lang="en-US" sz="2000" noProof="0" dirty="0"/>
                        <a:t>Common Vulnerabilities and Exposures</a:t>
                      </a:r>
                    </a:p>
                  </a:txBody>
                  <a:tcPr marL="65019" marR="65019" marT="32509" marB="32509" anchor="ctr"/>
                </a:tc>
                <a:tc>
                  <a:txBody>
                    <a:bodyPr/>
                    <a:lstStyle/>
                    <a:p>
                      <a:pPr>
                        <a:buNone/>
                      </a:pPr>
                      <a:r>
                        <a:rPr lang="en-US" sz="2000" noProof="0" dirty="0"/>
                        <a:t>Identifier only</a:t>
                      </a:r>
                    </a:p>
                  </a:txBody>
                  <a:tcPr marL="65019" marR="65019" marT="32509" marB="32509" anchor="ctr"/>
                </a:tc>
                <a:extLst>
                  <a:ext uri="{0D108BD9-81ED-4DB2-BD59-A6C34878D82A}">
                    <a16:rowId xmlns:a16="http://schemas.microsoft.com/office/drawing/2014/main" val="4023009933"/>
                  </a:ext>
                </a:extLst>
              </a:tr>
              <a:tr h="900000">
                <a:tc>
                  <a:txBody>
                    <a:bodyPr/>
                    <a:lstStyle/>
                    <a:p>
                      <a:pPr>
                        <a:buNone/>
                      </a:pPr>
                      <a:r>
                        <a:rPr lang="en-US" sz="2000" noProof="0" dirty="0"/>
                        <a:t>CVSS</a:t>
                      </a:r>
                    </a:p>
                  </a:txBody>
                  <a:tcPr marL="65019" marR="65019" marT="32509" marB="32509" anchor="ctr"/>
                </a:tc>
                <a:tc>
                  <a:txBody>
                    <a:bodyPr/>
                    <a:lstStyle/>
                    <a:p>
                      <a:pPr>
                        <a:buNone/>
                      </a:pPr>
                      <a:r>
                        <a:rPr lang="en-US" sz="2000" noProof="0" dirty="0"/>
                        <a:t>Common Vulnerability Scoring System</a:t>
                      </a:r>
                    </a:p>
                  </a:txBody>
                  <a:tcPr marL="65019" marR="65019" marT="32509" marB="32509" anchor="ctr"/>
                </a:tc>
                <a:tc>
                  <a:txBody>
                    <a:bodyPr/>
                    <a:lstStyle/>
                    <a:p>
                      <a:pPr>
                        <a:buNone/>
                      </a:pPr>
                      <a:r>
                        <a:rPr lang="en-US" sz="2000" noProof="0" dirty="0"/>
                        <a:t>Impact (0–10)</a:t>
                      </a:r>
                    </a:p>
                  </a:txBody>
                  <a:tcPr marL="65019" marR="65019" marT="32509" marB="32509" anchor="ctr"/>
                </a:tc>
                <a:extLst>
                  <a:ext uri="{0D108BD9-81ED-4DB2-BD59-A6C34878D82A}">
                    <a16:rowId xmlns:a16="http://schemas.microsoft.com/office/drawing/2014/main" val="227456140"/>
                  </a:ext>
                </a:extLst>
              </a:tr>
              <a:tr h="900000">
                <a:tc>
                  <a:txBody>
                    <a:bodyPr/>
                    <a:lstStyle/>
                    <a:p>
                      <a:pPr>
                        <a:buNone/>
                      </a:pPr>
                      <a:r>
                        <a:rPr lang="en-US" sz="2000" noProof="0" dirty="0"/>
                        <a:t>EPSS</a:t>
                      </a:r>
                    </a:p>
                  </a:txBody>
                  <a:tcPr marL="65019" marR="65019" marT="32509" marB="32509" anchor="ctr"/>
                </a:tc>
                <a:tc>
                  <a:txBody>
                    <a:bodyPr/>
                    <a:lstStyle/>
                    <a:p>
                      <a:pPr>
                        <a:buNone/>
                      </a:pPr>
                      <a:r>
                        <a:rPr lang="en-US" sz="2000" noProof="0" dirty="0"/>
                        <a:t>Exploit Prediction Scoring System</a:t>
                      </a:r>
                    </a:p>
                  </a:txBody>
                  <a:tcPr marL="65019" marR="65019" marT="32509" marB="32509" anchor="ctr"/>
                </a:tc>
                <a:tc>
                  <a:txBody>
                    <a:bodyPr/>
                    <a:lstStyle/>
                    <a:p>
                      <a:pPr>
                        <a:buNone/>
                      </a:pPr>
                      <a:r>
                        <a:rPr lang="en-US" sz="2000" noProof="0" dirty="0"/>
                        <a:t>Likelihood of exploitation (0–1)</a:t>
                      </a:r>
                    </a:p>
                  </a:txBody>
                  <a:tcPr marL="65019" marR="65019" marT="32509" marB="32509" anchor="ctr"/>
                </a:tc>
                <a:extLst>
                  <a:ext uri="{0D108BD9-81ED-4DB2-BD59-A6C34878D82A}">
                    <a16:rowId xmlns:a16="http://schemas.microsoft.com/office/drawing/2014/main" val="857517687"/>
                  </a:ext>
                </a:extLst>
              </a:tr>
            </a:tbl>
          </a:graphicData>
        </a:graphic>
      </p:graphicFrame>
      <p:sp>
        <p:nvSpPr>
          <p:cNvPr id="9" name="Content Placeholder 2">
            <a:extLst>
              <a:ext uri="{FF2B5EF4-FFF2-40B4-BE49-F238E27FC236}">
                <a16:creationId xmlns:a16="http://schemas.microsoft.com/office/drawing/2014/main" id="{507A23DF-9ABA-A505-057C-11C3B36E9CDE}"/>
              </a:ext>
            </a:extLst>
          </p:cNvPr>
          <p:cNvSpPr>
            <a:spLocks noGrp="1"/>
          </p:cNvSpPr>
          <p:nvPr>
            <p:ph idx="1"/>
          </p:nvPr>
        </p:nvSpPr>
        <p:spPr>
          <a:xfrm>
            <a:off x="251520" y="5514108"/>
            <a:ext cx="8435280" cy="797791"/>
          </a:xfrm>
        </p:spPr>
        <p:txBody>
          <a:bodyPr>
            <a:normAutofit/>
          </a:bodyPr>
          <a:lstStyle/>
          <a:p>
            <a:r>
              <a:rPr lang="en-US" noProof="0" dirty="0"/>
              <a:t>Risk = exploitability probability (EPSS) × impact (CVSS)</a:t>
            </a:r>
          </a:p>
        </p:txBody>
      </p:sp>
    </p:spTree>
    <p:extLst>
      <p:ext uri="{BB962C8B-B14F-4D97-AF65-F5344CB8AC3E}">
        <p14:creationId xmlns:p14="http://schemas.microsoft.com/office/powerpoint/2010/main" val="19175838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F7612-5BBA-A4A2-D7CC-A4372627D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362C2-0011-02FC-86E5-6F8C3E9496C9}"/>
              </a:ext>
            </a:extLst>
          </p:cNvPr>
          <p:cNvSpPr>
            <a:spLocks noGrp="1"/>
          </p:cNvSpPr>
          <p:nvPr>
            <p:ph type="title"/>
          </p:nvPr>
        </p:nvSpPr>
        <p:spPr/>
        <p:txBody>
          <a:bodyPr/>
          <a:lstStyle/>
          <a:p>
            <a:r>
              <a:rPr lang="en-US" noProof="0" dirty="0"/>
              <a:t>CVE, CVSS, EPSS</a:t>
            </a:r>
          </a:p>
        </p:txBody>
      </p:sp>
      <p:sp>
        <p:nvSpPr>
          <p:cNvPr id="4" name="Footer Placeholder 3">
            <a:extLst>
              <a:ext uri="{FF2B5EF4-FFF2-40B4-BE49-F238E27FC236}">
                <a16:creationId xmlns:a16="http://schemas.microsoft.com/office/drawing/2014/main" id="{D52AEA32-CF4C-1B1C-F667-E9289C698E65}"/>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5912B97-C443-3FD2-6566-108D17D13CFF}"/>
              </a:ext>
            </a:extLst>
          </p:cNvPr>
          <p:cNvSpPr>
            <a:spLocks noGrp="1"/>
          </p:cNvSpPr>
          <p:nvPr>
            <p:ph type="sldNum" sz="quarter" idx="12"/>
          </p:nvPr>
        </p:nvSpPr>
        <p:spPr/>
        <p:txBody>
          <a:bodyPr/>
          <a:lstStyle/>
          <a:p>
            <a:fld id="{4F532308-F742-4E8E-A0E9-3E442CCFFF54}" type="slidenum">
              <a:rPr lang="en-US" noProof="0" smtClean="0"/>
              <a:pPr/>
              <a:t>6</a:t>
            </a:fld>
            <a:endParaRPr lang="en-US" noProof="0" dirty="0"/>
          </a:p>
        </p:txBody>
      </p:sp>
      <p:pic>
        <p:nvPicPr>
          <p:cNvPr id="2056" name="Picture 8" descr="Who to Trust? National Vulnerability Database CVSS Accuracy Issues -  VulnCheck | Blog | VulnCheck">
            <a:extLst>
              <a:ext uri="{FF2B5EF4-FFF2-40B4-BE49-F238E27FC236}">
                <a16:creationId xmlns:a16="http://schemas.microsoft.com/office/drawing/2014/main" id="{F2A7BB31-C23F-00FF-9C69-8ACA034629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809" y="1751700"/>
            <a:ext cx="7640382" cy="3748561"/>
          </a:xfrm>
          <a:prstGeom prst="rect">
            <a:avLst/>
          </a:prstGeom>
          <a:noFill/>
          <a:extLst>
            <a:ext uri="{909E8E84-426E-40DD-AFC4-6F175D3DCCD1}">
              <a14:hiddenFill xmlns:a14="http://schemas.microsoft.com/office/drawing/2010/main">
                <a:solidFill>
                  <a:srgbClr val="FFFFFF"/>
                </a:solidFill>
              </a14:hiddenFill>
            </a:ext>
          </a:extLst>
        </p:spPr>
      </p:pic>
      <p:pic>
        <p:nvPicPr>
          <p:cNvPr id="3" name="Kép 2" descr="A képen szöveg, képernyőkép, Betűtípus, szám látható&#10;&#10;Előfordulhat, hogy az AI által létrehozott tartalom helytelen.">
            <a:extLst>
              <a:ext uri="{FF2B5EF4-FFF2-40B4-BE49-F238E27FC236}">
                <a16:creationId xmlns:a16="http://schemas.microsoft.com/office/drawing/2014/main" id="{9F0D8C1D-7878-D2DB-7E4D-613C7944DCDB}"/>
              </a:ext>
            </a:extLst>
          </p:cNvPr>
          <p:cNvPicPr>
            <a:picLocks noChangeAspect="1"/>
          </p:cNvPicPr>
          <p:nvPr/>
        </p:nvPicPr>
        <p:blipFill>
          <a:blip r:embed="rId4">
            <a:extLst>
              <a:ext uri="{28A0092B-C50C-407E-A947-70E740481C1C}">
                <a14:useLocalDpi xmlns:a14="http://schemas.microsoft.com/office/drawing/2010/main" val="0"/>
              </a:ext>
            </a:extLst>
          </a:blip>
          <a:srcRect l="3129" t="7944" r="2822"/>
          <a:stretch>
            <a:fillRect/>
          </a:stretch>
        </p:blipFill>
        <p:spPr>
          <a:xfrm>
            <a:off x="1559631" y="2168618"/>
            <a:ext cx="6024737" cy="2520763"/>
          </a:xfrm>
          <a:prstGeom prst="rect">
            <a:avLst/>
          </a:prstGeom>
        </p:spPr>
      </p:pic>
    </p:spTree>
    <p:extLst>
      <p:ext uri="{BB962C8B-B14F-4D97-AF65-F5344CB8AC3E}">
        <p14:creationId xmlns:p14="http://schemas.microsoft.com/office/powerpoint/2010/main" val="312825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20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Learning agents</a:t>
            </a:r>
          </a:p>
        </p:txBody>
      </p:sp>
      <p:sp>
        <p:nvSpPr>
          <p:cNvPr id="3" name="Content Placeholder 2"/>
          <p:cNvSpPr>
            <a:spLocks noGrp="1"/>
          </p:cNvSpPr>
          <p:nvPr>
            <p:ph idx="1"/>
          </p:nvPr>
        </p:nvSpPr>
        <p:spPr/>
        <p:txBody>
          <a:bodyPr/>
          <a:lstStyle/>
          <a:p>
            <a:r>
              <a:rPr lang="en-US" noProof="0" dirty="0"/>
              <a:t>Reinforcement Learning (Q-learning)</a:t>
            </a:r>
          </a:p>
          <a:p>
            <a:endParaRPr lang="en-US" noProof="0" dirty="0"/>
          </a:p>
          <a:p>
            <a:r>
              <a:rPr lang="en-US" noProof="0" dirty="0"/>
              <a:t>Attacker → maximize gain</a:t>
            </a:r>
          </a:p>
          <a:p>
            <a:endParaRPr lang="en-US" noProof="0" dirty="0"/>
          </a:p>
          <a:p>
            <a:r>
              <a:rPr lang="en-US" noProof="0" dirty="0"/>
              <a:t>Defender → minimize loss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7</a:t>
            </a:fld>
            <a:endParaRPr lang="en-US" noProof="0" dirty="0"/>
          </a:p>
        </p:txBody>
      </p:sp>
      <p:pic>
        <p:nvPicPr>
          <p:cNvPr id="12290" name="Picture 2" descr="The Ultimate Beginner's Guide to Reinforcement Learning | by Siddharth  Sharma | TDS Archive | Medium">
            <a:extLst>
              <a:ext uri="{FF2B5EF4-FFF2-40B4-BE49-F238E27FC236}">
                <a16:creationId xmlns:a16="http://schemas.microsoft.com/office/drawing/2014/main" id="{6FA647C2-A635-1C5C-BB0A-72B2B6D8A7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8250" y="3429000"/>
            <a:ext cx="6667500" cy="2571750"/>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Machine learning Generic color lineal-color icon | Freepik">
            <a:extLst>
              <a:ext uri="{FF2B5EF4-FFF2-40B4-BE49-F238E27FC236}">
                <a16:creationId xmlns:a16="http://schemas.microsoft.com/office/drawing/2014/main" id="{477AF466-8B04-3527-815F-95ADB7BF16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856" y="1610413"/>
            <a:ext cx="1260911" cy="12609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1DB2-AD0D-D1F9-2536-0BFC8806B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92158-EC93-1765-A4EF-B9650A2B51CA}"/>
              </a:ext>
            </a:extLst>
          </p:cNvPr>
          <p:cNvSpPr>
            <a:spLocks noGrp="1"/>
          </p:cNvSpPr>
          <p:nvPr>
            <p:ph type="title"/>
          </p:nvPr>
        </p:nvSpPr>
        <p:spPr/>
        <p:txBody>
          <a:bodyPr>
            <a:normAutofit/>
          </a:bodyPr>
          <a:lstStyle/>
          <a:p>
            <a:r>
              <a:rPr lang="en-US" noProof="0" dirty="0"/>
              <a:t>I</a:t>
            </a:r>
            <a:r>
              <a:rPr lang="hu-HU" noProof="0" dirty="0" err="1"/>
              <a:t>nformation</a:t>
            </a:r>
            <a:r>
              <a:rPr lang="hu-HU" noProof="0" dirty="0"/>
              <a:t> </a:t>
            </a:r>
            <a:r>
              <a:rPr lang="hu-HU" noProof="0" dirty="0" err="1"/>
              <a:t>scenarios</a:t>
            </a:r>
            <a:endParaRPr lang="en-US" noProof="0" dirty="0"/>
          </a:p>
        </p:txBody>
      </p:sp>
      <p:sp>
        <p:nvSpPr>
          <p:cNvPr id="4" name="Footer Placeholder 3">
            <a:extLst>
              <a:ext uri="{FF2B5EF4-FFF2-40B4-BE49-F238E27FC236}">
                <a16:creationId xmlns:a16="http://schemas.microsoft.com/office/drawing/2014/main" id="{3641F868-8505-FA1F-E6B4-9CEC40B38D37}"/>
              </a:ext>
            </a:extLst>
          </p:cNvPr>
          <p:cNvSpPr>
            <a:spLocks noGrp="1"/>
          </p:cNvSpPr>
          <p:nvPr>
            <p:ph type="ftr" sz="quarter" idx="11"/>
          </p:nvPr>
        </p:nvSpPr>
        <p:spPr/>
        <p:txBody>
          <a:bodyPr/>
          <a:lstStyle/>
          <a:p>
            <a:r>
              <a:rPr lang="en-US" noProof="0" dirty="0"/>
              <a:t>Colonel Blotto in Cybersecurity</a:t>
            </a:r>
          </a:p>
        </p:txBody>
      </p:sp>
      <p:sp>
        <p:nvSpPr>
          <p:cNvPr id="5" name="Slide Number Placeholder 4">
            <a:extLst>
              <a:ext uri="{FF2B5EF4-FFF2-40B4-BE49-F238E27FC236}">
                <a16:creationId xmlns:a16="http://schemas.microsoft.com/office/drawing/2014/main" id="{C208501A-DBCD-DA0B-31D2-7DDBDCCDCDDC}"/>
              </a:ext>
            </a:extLst>
          </p:cNvPr>
          <p:cNvSpPr>
            <a:spLocks noGrp="1"/>
          </p:cNvSpPr>
          <p:nvPr>
            <p:ph type="sldNum" sz="quarter" idx="12"/>
          </p:nvPr>
        </p:nvSpPr>
        <p:spPr/>
        <p:txBody>
          <a:bodyPr/>
          <a:lstStyle/>
          <a:p>
            <a:fld id="{4F532308-F742-4E8E-A0E9-3E442CCFFF54}" type="slidenum">
              <a:rPr lang="en-US" noProof="0" smtClean="0"/>
              <a:pPr/>
              <a:t>8</a:t>
            </a:fld>
            <a:endParaRPr lang="en-US" noProof="0" dirty="0"/>
          </a:p>
        </p:txBody>
      </p:sp>
      <p:graphicFrame>
        <p:nvGraphicFramePr>
          <p:cNvPr id="10" name="Táblázat 9">
            <a:extLst>
              <a:ext uri="{FF2B5EF4-FFF2-40B4-BE49-F238E27FC236}">
                <a16:creationId xmlns:a16="http://schemas.microsoft.com/office/drawing/2014/main" id="{C9CB86E8-C4AD-FAF1-E93E-1CD0BD6998B1}"/>
              </a:ext>
            </a:extLst>
          </p:cNvPr>
          <p:cNvGraphicFramePr>
            <a:graphicFrameLocks noGrp="1"/>
          </p:cNvGraphicFramePr>
          <p:nvPr>
            <p:extLst>
              <p:ext uri="{D42A27DB-BD31-4B8C-83A1-F6EECF244321}">
                <p14:modId xmlns:p14="http://schemas.microsoft.com/office/powerpoint/2010/main" val="1983117033"/>
              </p:ext>
            </p:extLst>
          </p:nvPr>
        </p:nvGraphicFramePr>
        <p:xfrm>
          <a:off x="435349" y="1071576"/>
          <a:ext cx="8280000" cy="5184000"/>
        </p:xfrm>
        <a:graphic>
          <a:graphicData uri="http://schemas.openxmlformats.org/drawingml/2006/table">
            <a:tbl>
              <a:tblPr>
                <a:tableStyleId>{5C22544A-7EE6-4342-B048-85BDC9FD1C3A}</a:tableStyleId>
              </a:tblPr>
              <a:tblGrid>
                <a:gridCol w="2274324">
                  <a:extLst>
                    <a:ext uri="{9D8B030D-6E8A-4147-A177-3AD203B41FA5}">
                      <a16:colId xmlns:a16="http://schemas.microsoft.com/office/drawing/2014/main" val="71512505"/>
                    </a:ext>
                  </a:extLst>
                </a:gridCol>
                <a:gridCol w="1037676">
                  <a:extLst>
                    <a:ext uri="{9D8B030D-6E8A-4147-A177-3AD203B41FA5}">
                      <a16:colId xmlns:a16="http://schemas.microsoft.com/office/drawing/2014/main" val="2285647785"/>
                    </a:ext>
                  </a:extLst>
                </a:gridCol>
                <a:gridCol w="1656000">
                  <a:extLst>
                    <a:ext uri="{9D8B030D-6E8A-4147-A177-3AD203B41FA5}">
                      <a16:colId xmlns:a16="http://schemas.microsoft.com/office/drawing/2014/main" val="1400573619"/>
                    </a:ext>
                  </a:extLst>
                </a:gridCol>
                <a:gridCol w="1656000">
                  <a:extLst>
                    <a:ext uri="{9D8B030D-6E8A-4147-A177-3AD203B41FA5}">
                      <a16:colId xmlns:a16="http://schemas.microsoft.com/office/drawing/2014/main" val="1798518058"/>
                    </a:ext>
                  </a:extLst>
                </a:gridCol>
                <a:gridCol w="1656000">
                  <a:extLst>
                    <a:ext uri="{9D8B030D-6E8A-4147-A177-3AD203B41FA5}">
                      <a16:colId xmlns:a16="http://schemas.microsoft.com/office/drawing/2014/main" val="1975158619"/>
                    </a:ext>
                  </a:extLst>
                </a:gridCol>
              </a:tblGrid>
              <a:tr h="720000">
                <a:tc rowSpan="2">
                  <a:txBody>
                    <a:bodyPr/>
                    <a:lstStyle/>
                    <a:p>
                      <a:pPr>
                        <a:buNone/>
                      </a:pPr>
                      <a:r>
                        <a:rPr lang="en-US" sz="2000" i="1" noProof="0" dirty="0"/>
                        <a:t>Scenario</a:t>
                      </a:r>
                    </a:p>
                  </a:txBody>
                  <a:tcPr marL="65019" marR="65019" marT="32509" marB="32509" anchor="ctr"/>
                </a:tc>
                <a:tc gridSpan="2">
                  <a:txBody>
                    <a:bodyPr/>
                    <a:lstStyle/>
                    <a:p>
                      <a:pPr algn="ctr">
                        <a:buNone/>
                      </a:pPr>
                      <a:r>
                        <a:rPr lang="en-US" sz="2000" i="1" noProof="0" dirty="0"/>
                        <a:t>EPSS visibility</a:t>
                      </a:r>
                    </a:p>
                  </a:txBody>
                  <a:tcPr marL="65019" marR="65019" marT="32509" marB="32509" anchor="ctr"/>
                </a:tc>
                <a:tc hMerge="1">
                  <a:txBody>
                    <a:bodyPr/>
                    <a:lstStyle/>
                    <a:p>
                      <a:pPr>
                        <a:buNone/>
                      </a:pPr>
                      <a:endParaRPr lang="hu-HU" sz="2000" dirty="0"/>
                    </a:p>
                  </a:txBody>
                  <a:tcPr marL="65019" marR="65019" marT="32509" marB="32509" anchor="ctr"/>
                </a:tc>
                <a:tc gridSpan="2">
                  <a:txBody>
                    <a:bodyPr/>
                    <a:lstStyle/>
                    <a:p>
                      <a:pPr algn="ctr">
                        <a:buNone/>
                      </a:pPr>
                      <a:r>
                        <a:rPr lang="en-US" sz="2000" i="1" noProof="0" dirty="0"/>
                        <a:t>Strategy observability</a:t>
                      </a:r>
                    </a:p>
                  </a:txBody>
                  <a:tcPr marL="65019" marR="65019" marT="32509" marB="32509" anchor="ctr"/>
                </a:tc>
                <a:tc hMerge="1">
                  <a:txBody>
                    <a:bodyPr/>
                    <a:lstStyle/>
                    <a:p>
                      <a:pPr>
                        <a:buNone/>
                      </a:pPr>
                      <a:endParaRPr lang="hu-HU" sz="2000" dirty="0"/>
                    </a:p>
                  </a:txBody>
                  <a:tcPr marL="65019" marR="65019" marT="32509" marB="32509" anchor="ctr"/>
                </a:tc>
                <a:extLst>
                  <a:ext uri="{0D108BD9-81ED-4DB2-BD59-A6C34878D82A}">
                    <a16:rowId xmlns:a16="http://schemas.microsoft.com/office/drawing/2014/main" val="3242483805"/>
                  </a:ext>
                </a:extLst>
              </a:tr>
              <a:tr h="720000">
                <a:tc vMerge="1">
                  <a:txBody>
                    <a:bodyPr/>
                    <a:lstStyle/>
                    <a:p>
                      <a:pPr>
                        <a:buNone/>
                      </a:pPr>
                      <a:endParaRPr lang="hu-HU" sz="2000" dirty="0"/>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Defender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endParaRPr lang="en-US" sz="2000" i="1" noProof="0" dirty="0"/>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kern="1200" noProof="0" dirty="0">
                          <a:solidFill>
                            <a:schemeClr val="dk1"/>
                          </a:solidFill>
                          <a:latin typeface="+mn-lt"/>
                          <a:ea typeface="+mn-ea"/>
                          <a:cs typeface="+mn-cs"/>
                        </a:rPr>
                        <a:t>Defender</a:t>
                      </a:r>
                    </a:p>
                  </a:txBody>
                  <a:tcPr marL="65019" marR="65019" marT="32509" marB="32509" anchor="ctr"/>
                </a:tc>
                <a:extLst>
                  <a:ext uri="{0D108BD9-81ED-4DB2-BD59-A6C34878D82A}">
                    <a16:rowId xmlns:a16="http://schemas.microsoft.com/office/drawing/2014/main" val="3799232837"/>
                  </a:ext>
                </a:extLst>
              </a:tr>
              <a:tr h="936000">
                <a:tc>
                  <a:txBody>
                    <a:bodyPr/>
                    <a:lstStyle/>
                    <a:p>
                      <a:pPr>
                        <a:buNone/>
                      </a:pPr>
                      <a:r>
                        <a:rPr lang="en-US" sz="2000" noProof="0" dirty="0"/>
                        <a:t>R0 – Symmetric baseline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851134693"/>
                  </a:ext>
                </a:extLst>
              </a:tr>
              <a:tr h="936000">
                <a:tc>
                  <a:txBody>
                    <a:bodyPr/>
                    <a:lstStyle/>
                    <a:p>
                      <a:pPr>
                        <a:buNone/>
                      </a:pPr>
                      <a:r>
                        <a:rPr lang="en-US" sz="2000" noProof="0" dirty="0"/>
                        <a:t>R1 – Defender  intelligence edge</a:t>
                      </a:r>
                    </a:p>
                  </a:txBody>
                  <a:tcPr marL="65019" marR="65019" marT="32509" marB="32509" anchor="ctr"/>
                </a:tc>
                <a:tc>
                  <a:txBody>
                    <a:bodyPr/>
                    <a:lstStyle/>
                    <a:p>
                      <a:pPr algn="ctr">
                        <a:buNone/>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4023009933"/>
                  </a:ext>
                </a:extLst>
              </a:tr>
              <a:tr h="936000">
                <a:tc>
                  <a:txBody>
                    <a:bodyPr/>
                    <a:lstStyle/>
                    <a:p>
                      <a:pPr>
                        <a:buNone/>
                      </a:pPr>
                      <a:r>
                        <a:rPr lang="en-US" sz="2000" noProof="0" dirty="0"/>
                        <a:t>R2 – Attacker intelligence edge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27456140"/>
                  </a:ext>
                </a:extLst>
              </a:tr>
              <a:tr h="936000">
                <a:tc>
                  <a:txBody>
                    <a:bodyPr/>
                    <a:lstStyle/>
                    <a:p>
                      <a:pPr>
                        <a:buNone/>
                      </a:pPr>
                      <a:r>
                        <a:rPr lang="en-US" sz="2000" noProof="0" dirty="0"/>
                        <a:t>R3 – Hybrid asymmetry</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857517687"/>
                  </a:ext>
                </a:extLst>
              </a:tr>
            </a:tbl>
          </a:graphicData>
        </a:graphic>
      </p:graphicFrame>
    </p:spTree>
    <p:extLst>
      <p:ext uri="{BB962C8B-B14F-4D97-AF65-F5344CB8AC3E}">
        <p14:creationId xmlns:p14="http://schemas.microsoft.com/office/powerpoint/2010/main" val="409236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25FAF-E917-6425-CEB2-48E8554FE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D8538-D4AE-79EF-C41C-8DBAA7477C9D}"/>
              </a:ext>
            </a:extLst>
          </p:cNvPr>
          <p:cNvSpPr>
            <a:spLocks noGrp="1"/>
          </p:cNvSpPr>
          <p:nvPr>
            <p:ph type="title"/>
          </p:nvPr>
        </p:nvSpPr>
        <p:spPr/>
        <p:txBody>
          <a:bodyPr>
            <a:normAutofit/>
          </a:bodyPr>
          <a:lstStyle/>
          <a:p>
            <a:r>
              <a:rPr lang="hu-HU" dirty="0" err="1"/>
              <a:t>Resource</a:t>
            </a:r>
            <a:r>
              <a:rPr lang="hu-HU" dirty="0"/>
              <a:t> </a:t>
            </a:r>
            <a:r>
              <a:rPr lang="hu-HU" dirty="0" err="1"/>
              <a:t>allocation</a:t>
            </a:r>
            <a:r>
              <a:rPr lang="hu-HU" dirty="0"/>
              <a:t> </a:t>
            </a:r>
            <a:r>
              <a:rPr lang="hu-HU" dirty="0" err="1"/>
              <a:t>strategies</a:t>
            </a:r>
            <a:endParaRPr lang="en-US" noProof="0" dirty="0"/>
          </a:p>
        </p:txBody>
      </p:sp>
      <p:sp>
        <p:nvSpPr>
          <p:cNvPr id="4" name="Footer Placeholder 3">
            <a:extLst>
              <a:ext uri="{FF2B5EF4-FFF2-40B4-BE49-F238E27FC236}">
                <a16:creationId xmlns:a16="http://schemas.microsoft.com/office/drawing/2014/main" id="{1CE2E75C-882F-72C1-FD44-2E89C0AD0DA0}"/>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6A424E9-E220-83AD-C0CD-120F1155FDD6}"/>
              </a:ext>
            </a:extLst>
          </p:cNvPr>
          <p:cNvSpPr>
            <a:spLocks noGrp="1"/>
          </p:cNvSpPr>
          <p:nvPr>
            <p:ph type="sldNum" sz="quarter" idx="12"/>
          </p:nvPr>
        </p:nvSpPr>
        <p:spPr/>
        <p:txBody>
          <a:bodyPr/>
          <a:lstStyle/>
          <a:p>
            <a:fld id="{4F532308-F742-4E8E-A0E9-3E442CCFFF54}" type="slidenum">
              <a:rPr lang="en-US" noProof="0" smtClean="0"/>
              <a:pPr/>
              <a:t>9</a:t>
            </a:fld>
            <a:endParaRPr lang="en-US" noProof="0" dirty="0"/>
          </a:p>
        </p:txBody>
      </p:sp>
      <p:graphicFrame>
        <p:nvGraphicFramePr>
          <p:cNvPr id="7" name="Táblázat 6">
            <a:extLst>
              <a:ext uri="{FF2B5EF4-FFF2-40B4-BE49-F238E27FC236}">
                <a16:creationId xmlns:a16="http://schemas.microsoft.com/office/drawing/2014/main" id="{7206D6C4-52DF-4D01-316C-1EBE223F0AB8}"/>
              </a:ext>
            </a:extLst>
          </p:cNvPr>
          <p:cNvGraphicFramePr>
            <a:graphicFrameLocks noGrp="1"/>
          </p:cNvGraphicFramePr>
          <p:nvPr>
            <p:extLst>
              <p:ext uri="{D42A27DB-BD31-4B8C-83A1-F6EECF244321}">
                <p14:modId xmlns:p14="http://schemas.microsoft.com/office/powerpoint/2010/main" val="1351205563"/>
              </p:ext>
            </p:extLst>
          </p:nvPr>
        </p:nvGraphicFramePr>
        <p:xfrm>
          <a:off x="1677371" y="1017480"/>
          <a:ext cx="5789258" cy="4038134"/>
        </p:xfrm>
        <a:graphic>
          <a:graphicData uri="http://schemas.openxmlformats.org/drawingml/2006/table">
            <a:tbl>
              <a:tblPr>
                <a:tableStyleId>{5C22544A-7EE6-4342-B048-85BDC9FD1C3A}</a:tableStyleId>
              </a:tblPr>
              <a:tblGrid>
                <a:gridCol w="2894629">
                  <a:extLst>
                    <a:ext uri="{9D8B030D-6E8A-4147-A177-3AD203B41FA5}">
                      <a16:colId xmlns:a16="http://schemas.microsoft.com/office/drawing/2014/main" val="71512505"/>
                    </a:ext>
                  </a:extLst>
                </a:gridCol>
                <a:gridCol w="2894629">
                  <a:extLst>
                    <a:ext uri="{9D8B030D-6E8A-4147-A177-3AD203B41FA5}">
                      <a16:colId xmlns:a16="http://schemas.microsoft.com/office/drawing/2014/main" val="2285647785"/>
                    </a:ext>
                  </a:extLst>
                </a:gridCol>
              </a:tblGrid>
              <a:tr h="560586">
                <a:tc>
                  <a:txBody>
                    <a:bodyPr/>
                    <a:lstStyle/>
                    <a:p>
                      <a:pPr>
                        <a:buNone/>
                      </a:pPr>
                      <a:r>
                        <a:rPr lang="hu-HU" sz="2000" i="1" noProof="0" dirty="0" err="1"/>
                        <a:t>Attacker</a:t>
                      </a:r>
                      <a:r>
                        <a:rPr lang="hu-HU" sz="2000" i="1" noProof="0" dirty="0"/>
                        <a:t> </a:t>
                      </a:r>
                      <a:r>
                        <a:rPr lang="hu-HU" sz="2000" i="1" noProof="0" dirty="0" err="1"/>
                        <a:t>Strategies</a:t>
                      </a:r>
                      <a:endParaRPr lang="en-US" sz="2000" i="1" noProof="0" dirty="0"/>
                    </a:p>
                  </a:txBody>
                  <a:tcPr marL="65019" marR="65019" marT="32509" marB="32509" anchor="ctr"/>
                </a:tc>
                <a:tc>
                  <a:txBody>
                    <a:bodyPr/>
                    <a:lstStyle/>
                    <a:p>
                      <a:pPr>
                        <a:buNone/>
                      </a:pPr>
                      <a:r>
                        <a:rPr lang="hu-HU" sz="2000" i="1" noProof="0" dirty="0" err="1"/>
                        <a:t>Defender</a:t>
                      </a:r>
                      <a:r>
                        <a:rPr lang="hu-HU" sz="2000" i="1" noProof="0" dirty="0"/>
                        <a:t> </a:t>
                      </a:r>
                      <a:r>
                        <a:rPr lang="hu-HU" sz="2000" i="1" noProof="0" dirty="0" err="1"/>
                        <a:t>Strategies</a:t>
                      </a:r>
                      <a:endParaRPr lang="en-US" sz="2000" i="1" noProof="0" dirty="0"/>
                    </a:p>
                  </a:txBody>
                  <a:tcPr marL="65019" marR="65019" marT="32509" marB="32509" anchor="ctr"/>
                </a:tc>
                <a:extLst>
                  <a:ext uri="{0D108BD9-81ED-4DB2-BD59-A6C34878D82A}">
                    <a16:rowId xmlns:a16="http://schemas.microsoft.com/office/drawing/2014/main" val="3242483805"/>
                  </a:ext>
                </a:extLst>
              </a:tr>
              <a:tr h="560586">
                <a:tc>
                  <a:txBody>
                    <a:bodyPr/>
                    <a:lstStyle/>
                    <a:p>
                      <a:pPr>
                        <a:buNone/>
                      </a:pPr>
                      <a:r>
                        <a:rPr lang="hu-HU" sz="2000" dirty="0" err="1"/>
                        <a:t>Even</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Even</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023009933"/>
                  </a:ext>
                </a:extLst>
              </a:tr>
              <a:tr h="668483">
                <a:tc>
                  <a:txBody>
                    <a:bodyPr/>
                    <a:lstStyle/>
                    <a:p>
                      <a:pPr>
                        <a:buNone/>
                      </a:pPr>
                      <a:r>
                        <a:rPr lang="hu-HU" sz="2000" dirty="0" err="1"/>
                        <a:t>Value-proportional</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Value-proportional</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394483248"/>
                  </a:ext>
                </a:extLst>
              </a:tr>
              <a:tr h="560586">
                <a:tc>
                  <a:txBody>
                    <a:bodyPr/>
                    <a:lstStyle/>
                    <a:p>
                      <a:pPr>
                        <a:buNone/>
                      </a:pPr>
                      <a:r>
                        <a:rPr lang="hu-HU" sz="2000" dirty="0"/>
                        <a:t>Top-3 </a:t>
                      </a:r>
                      <a:r>
                        <a:rPr lang="hu-HU" sz="2000" dirty="0" err="1"/>
                        <a:t>targeting</a:t>
                      </a:r>
                      <a:endParaRPr lang="en-US" sz="2000" noProof="0" dirty="0"/>
                    </a:p>
                  </a:txBody>
                  <a:tcPr marL="65019" marR="65019" marT="32509" marB="32509" anchor="ctr"/>
                </a:tc>
                <a:tc>
                  <a:txBody>
                    <a:bodyPr/>
                    <a:lstStyle/>
                    <a:p>
                      <a:pPr>
                        <a:buNone/>
                      </a:pPr>
                      <a:r>
                        <a:rPr lang="hu-HU" sz="2000" dirty="0"/>
                        <a:t>Top-3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256368298"/>
                  </a:ext>
                </a:extLst>
              </a:tr>
              <a:tr h="560586">
                <a:tc>
                  <a:txBody>
                    <a:bodyPr/>
                    <a:lstStyle/>
                    <a:p>
                      <a:pPr>
                        <a:buNone/>
                      </a:pPr>
                      <a:r>
                        <a:rPr lang="hu-HU" sz="2000" dirty="0"/>
                        <a:t>Random </a:t>
                      </a:r>
                      <a:r>
                        <a:rPr lang="hu-HU" sz="2000" dirty="0" err="1"/>
                        <a:t>allocation</a:t>
                      </a:r>
                      <a:endParaRPr lang="en-US" sz="2000" noProof="0" dirty="0"/>
                    </a:p>
                  </a:txBody>
                  <a:tcPr marL="65019" marR="65019" marT="32509" marB="32509" anchor="ctr"/>
                </a:tc>
                <a:tc>
                  <a:txBody>
                    <a:bodyPr/>
                    <a:lstStyle/>
                    <a:p>
                      <a:pPr>
                        <a:buNone/>
                      </a:pPr>
                      <a:r>
                        <a:rPr lang="hu-HU" sz="2000" dirty="0"/>
                        <a:t>Random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185496046"/>
                  </a:ext>
                </a:extLst>
              </a:tr>
              <a:tr h="560586">
                <a:tc>
                  <a:txBody>
                    <a:bodyPr/>
                    <a:lstStyle/>
                    <a:p>
                      <a:pPr>
                        <a:buNone/>
                      </a:pPr>
                      <a:r>
                        <a:rPr lang="en-US" sz="2000" noProof="0" dirty="0"/>
                        <a:t>All-in (Top-1)</a:t>
                      </a:r>
                    </a:p>
                  </a:txBody>
                  <a:tcPr marL="65019" marR="65019" marT="32509" marB="32509" anchor="ctr"/>
                </a:tc>
                <a:tc>
                  <a:txBody>
                    <a:bodyPr/>
                    <a:lstStyle/>
                    <a:p>
                      <a:pPr>
                        <a:buNone/>
                      </a:pPr>
                      <a:r>
                        <a:rPr lang="en-US" sz="2000" noProof="0" dirty="0"/>
                        <a:t>All-in (Top-1)</a:t>
                      </a:r>
                    </a:p>
                  </a:txBody>
                  <a:tcPr marL="65019" marR="65019" marT="32509" marB="32509" anchor="ctr"/>
                </a:tc>
                <a:extLst>
                  <a:ext uri="{0D108BD9-81ED-4DB2-BD59-A6C34878D82A}">
                    <a16:rowId xmlns:a16="http://schemas.microsoft.com/office/drawing/2014/main" val="344200648"/>
                  </a:ext>
                </a:extLst>
              </a:tr>
              <a:tr h="560586">
                <a:tc>
                  <a:txBody>
                    <a:bodyPr/>
                    <a:lstStyle/>
                    <a:p>
                      <a:pPr>
                        <a:buNone/>
                      </a:pPr>
                      <a:r>
                        <a:rPr lang="en-US" sz="2000" noProof="0" dirty="0"/>
                        <a:t>(-)</a:t>
                      </a:r>
                    </a:p>
                  </a:txBody>
                  <a:tcPr marL="65019" marR="65019" marT="32509" marB="32509" anchor="ctr"/>
                </a:tc>
                <a:tc>
                  <a:txBody>
                    <a:bodyPr/>
                    <a:lstStyle/>
                    <a:p>
                      <a:pPr>
                        <a:buNone/>
                      </a:pPr>
                      <a:r>
                        <a:rPr lang="hu-HU" sz="2000" dirty="0" err="1"/>
                        <a:t>Pattern-reactive</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167385614"/>
                  </a:ext>
                </a:extLst>
              </a:tr>
            </a:tbl>
          </a:graphicData>
        </a:graphic>
      </p:graphicFrame>
      <p:grpSp>
        <p:nvGrpSpPr>
          <p:cNvPr id="11" name="Csoportba foglalás 10">
            <a:extLst>
              <a:ext uri="{FF2B5EF4-FFF2-40B4-BE49-F238E27FC236}">
                <a16:creationId xmlns:a16="http://schemas.microsoft.com/office/drawing/2014/main" id="{0C89A55B-8DF3-C8D4-87A7-10CEF3375BAC}"/>
              </a:ext>
            </a:extLst>
          </p:cNvPr>
          <p:cNvGrpSpPr>
            <a:grpSpLocks noChangeAspect="1"/>
          </p:cNvGrpSpPr>
          <p:nvPr/>
        </p:nvGrpSpPr>
        <p:grpSpPr>
          <a:xfrm>
            <a:off x="240462" y="5153983"/>
            <a:ext cx="4621824" cy="1493824"/>
            <a:chOff x="0" y="3187337"/>
            <a:chExt cx="9144000" cy="2955440"/>
          </a:xfrm>
        </p:grpSpPr>
        <p:pic>
          <p:nvPicPr>
            <p:cNvPr id="12" name="Picture 2" descr="Dong Quan Vu' s Personal Website">
              <a:extLst>
                <a:ext uri="{FF2B5EF4-FFF2-40B4-BE49-F238E27FC236}">
                  <a16:creationId xmlns:a16="http://schemas.microsoft.com/office/drawing/2014/main" id="{8DA5F513-FBBB-891A-E2CB-85813085BBB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3" name="Csoportba foglalás 12">
              <a:extLst>
                <a:ext uri="{FF2B5EF4-FFF2-40B4-BE49-F238E27FC236}">
                  <a16:creationId xmlns:a16="http://schemas.microsoft.com/office/drawing/2014/main" id="{5BD6AF41-8EE2-A2AD-4348-B80A4DA53306}"/>
                </a:ext>
              </a:extLst>
            </p:cNvPr>
            <p:cNvGrpSpPr/>
            <p:nvPr/>
          </p:nvGrpSpPr>
          <p:grpSpPr>
            <a:xfrm>
              <a:off x="0" y="5418499"/>
              <a:ext cx="9144000" cy="724278"/>
              <a:chOff x="0" y="4916031"/>
              <a:chExt cx="9144000" cy="724278"/>
            </a:xfrm>
          </p:grpSpPr>
          <p:sp>
            <p:nvSpPr>
              <p:cNvPr id="14" name="Téglalap 13">
                <a:extLst>
                  <a:ext uri="{FF2B5EF4-FFF2-40B4-BE49-F238E27FC236}">
                    <a16:creationId xmlns:a16="http://schemas.microsoft.com/office/drawing/2014/main" id="{0DABC019-376C-7A50-87B9-AD6C8BC824D5}"/>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églalap 14">
                <a:extLst>
                  <a:ext uri="{FF2B5EF4-FFF2-40B4-BE49-F238E27FC236}">
                    <a16:creationId xmlns:a16="http://schemas.microsoft.com/office/drawing/2014/main" id="{5F12C386-8B92-CE66-54E5-230B045B6C74}"/>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2581825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11A83-98DC-7AB4-BCAF-66181FA55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B1DB8-F48E-F6F7-3BC9-84609521C568}"/>
              </a:ext>
            </a:extLst>
          </p:cNvPr>
          <p:cNvSpPr>
            <a:spLocks noGrp="1"/>
          </p:cNvSpPr>
          <p:nvPr>
            <p:ph type="title"/>
          </p:nvPr>
        </p:nvSpPr>
        <p:spPr/>
        <p:txBody>
          <a:bodyPr>
            <a:normAutofit/>
          </a:bodyPr>
          <a:lstStyle/>
          <a:p>
            <a:r>
              <a:rPr lang="hu-HU" dirty="0" err="1"/>
              <a:t>Model</a:t>
            </a:r>
            <a:r>
              <a:rPr lang="hu-HU" dirty="0"/>
              <a:t> </a:t>
            </a:r>
            <a:r>
              <a:rPr lang="hu-HU" dirty="0" err="1"/>
              <a:t>configuration</a:t>
            </a:r>
            <a:endParaRPr lang="en-US" noProof="0" dirty="0"/>
          </a:p>
        </p:txBody>
      </p:sp>
      <p:sp>
        <p:nvSpPr>
          <p:cNvPr id="3" name="Content Placeholder 2">
            <a:extLst>
              <a:ext uri="{FF2B5EF4-FFF2-40B4-BE49-F238E27FC236}">
                <a16:creationId xmlns:a16="http://schemas.microsoft.com/office/drawing/2014/main" id="{E6B5DDA7-5410-8ADB-0522-BD5D9C9A40AD}"/>
              </a:ext>
            </a:extLst>
          </p:cNvPr>
          <p:cNvSpPr>
            <a:spLocks noGrp="1"/>
          </p:cNvSpPr>
          <p:nvPr>
            <p:ph idx="1"/>
          </p:nvPr>
        </p:nvSpPr>
        <p:spPr/>
        <p:txBody>
          <a:bodyPr>
            <a:normAutofit/>
          </a:bodyPr>
          <a:lstStyle/>
          <a:p>
            <a:r>
              <a:rPr lang="hu-HU" dirty="0"/>
              <a:t>10 </a:t>
            </a:r>
            <a:r>
              <a:rPr lang="hu-HU" dirty="0" err="1"/>
              <a:t>vendors</a:t>
            </a:r>
            <a:r>
              <a:rPr lang="hu-HU" dirty="0"/>
              <a:t> (</a:t>
            </a:r>
            <a:r>
              <a:rPr lang="hu-HU" dirty="0" err="1"/>
              <a:t>battlefields</a:t>
            </a:r>
            <a:r>
              <a:rPr lang="hu-HU" dirty="0"/>
              <a:t>)</a:t>
            </a:r>
          </a:p>
          <a:p>
            <a:endParaRPr lang="en-US" noProof="0" dirty="0"/>
          </a:p>
          <a:p>
            <a:r>
              <a:rPr lang="sv-SE" dirty="0"/>
              <a:t>Attacker (20 units), defender (40 units)</a:t>
            </a:r>
            <a:endParaRPr lang="hu-HU" dirty="0"/>
          </a:p>
          <a:p>
            <a:endParaRPr lang="en-US" noProof="0" dirty="0"/>
          </a:p>
          <a:p>
            <a:r>
              <a:rPr lang="en-US" dirty="0"/>
              <a:t>Episodes: 500 per day × 10 repetitions</a:t>
            </a:r>
            <a:endParaRPr lang="hu-HU" dirty="0"/>
          </a:p>
          <a:p>
            <a:pPr lvl="1"/>
            <a:r>
              <a:rPr lang="en-US" dirty="0"/>
              <a:t>Time periods: January – May – August 2025</a:t>
            </a:r>
            <a:endParaRPr lang="en-US" noProof="0" dirty="0"/>
          </a:p>
        </p:txBody>
      </p:sp>
      <p:sp>
        <p:nvSpPr>
          <p:cNvPr id="4" name="Footer Placeholder 3">
            <a:extLst>
              <a:ext uri="{FF2B5EF4-FFF2-40B4-BE49-F238E27FC236}">
                <a16:creationId xmlns:a16="http://schemas.microsoft.com/office/drawing/2014/main" id="{5E78A38E-8DF2-5021-2307-F8CE93146004}"/>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A040294-CB55-AAEB-D4A9-C3131DD7A6DF}"/>
              </a:ext>
            </a:extLst>
          </p:cNvPr>
          <p:cNvSpPr>
            <a:spLocks noGrp="1"/>
          </p:cNvSpPr>
          <p:nvPr>
            <p:ph type="sldNum" sz="quarter" idx="12"/>
          </p:nvPr>
        </p:nvSpPr>
        <p:spPr/>
        <p:txBody>
          <a:bodyPr/>
          <a:lstStyle/>
          <a:p>
            <a:fld id="{4F532308-F742-4E8E-A0E9-3E442CCFFF54}" type="slidenum">
              <a:rPr lang="en-US" noProof="0" smtClean="0"/>
              <a:pPr/>
              <a:t>10</a:t>
            </a:fld>
            <a:endParaRPr lang="en-US" noProof="0" dirty="0"/>
          </a:p>
        </p:txBody>
      </p:sp>
      <p:pic>
        <p:nvPicPr>
          <p:cNvPr id="16386" name="Picture 2">
            <a:extLst>
              <a:ext uri="{FF2B5EF4-FFF2-40B4-BE49-F238E27FC236}">
                <a16:creationId xmlns:a16="http://schemas.microsoft.com/office/drawing/2014/main" id="{2389AD9B-2325-A9FF-0DB3-1C8FF59518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9852" y="3682318"/>
            <a:ext cx="2711838" cy="29676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918D24F-3CCC-4AB6-292E-4354ACEADF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9472" y="2869733"/>
            <a:ext cx="4858298" cy="3536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6847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0A0FEC5-968F-B556-C088-F1F43F250595}"/>
              </a:ext>
            </a:extLst>
          </p:cNvPr>
          <p:cNvSpPr>
            <a:spLocks noGrp="1"/>
          </p:cNvSpPr>
          <p:nvPr>
            <p:ph type="title"/>
          </p:nvPr>
        </p:nvSpPr>
        <p:spPr/>
        <p:txBody>
          <a:bodyPr/>
          <a:lstStyle/>
          <a:p>
            <a:r>
              <a:rPr lang="hu-HU" dirty="0"/>
              <a:t>Key </a:t>
            </a:r>
            <a:r>
              <a:rPr lang="hu-HU" dirty="0" err="1"/>
              <a:t>measures</a:t>
            </a:r>
            <a:endParaRPr lang="en-US" noProof="0" dirty="0"/>
          </a:p>
        </p:txBody>
      </p:sp>
      <p:sp>
        <p:nvSpPr>
          <p:cNvPr id="3" name="Tartalom helye 2">
            <a:extLst>
              <a:ext uri="{FF2B5EF4-FFF2-40B4-BE49-F238E27FC236}">
                <a16:creationId xmlns:a16="http://schemas.microsoft.com/office/drawing/2014/main" id="{D42E3A7E-DEE8-3646-3E90-3A021BFB0A7C}"/>
              </a:ext>
            </a:extLst>
          </p:cNvPr>
          <p:cNvSpPr>
            <a:spLocks noGrp="1"/>
          </p:cNvSpPr>
          <p:nvPr>
            <p:ph idx="1"/>
          </p:nvPr>
        </p:nvSpPr>
        <p:spPr/>
        <p:txBody>
          <a:bodyPr/>
          <a:lstStyle/>
          <a:p>
            <a:r>
              <a:rPr lang="en-US" dirty="0"/>
              <a:t>R</a:t>
            </a:r>
            <a:r>
              <a:rPr lang="en-US" baseline="-25000" dirty="0"/>
              <a:t>A</a:t>
            </a:r>
            <a:r>
              <a:rPr lang="en-US" dirty="0"/>
              <a:t>, R</a:t>
            </a:r>
            <a:r>
              <a:rPr lang="en-US" baseline="-25000" dirty="0"/>
              <a:t>D</a:t>
            </a:r>
            <a:r>
              <a:rPr lang="en-US" dirty="0"/>
              <a:t> – average reward of the attacker and the defender</a:t>
            </a:r>
            <a:endParaRPr lang="en-US" noProof="0" dirty="0"/>
          </a:p>
          <a:p>
            <a:endParaRPr lang="en-US" noProof="0" dirty="0"/>
          </a:p>
          <a:p>
            <a:r>
              <a:rPr lang="en-US" dirty="0"/>
              <a:t>ρ = R</a:t>
            </a:r>
            <a:r>
              <a:rPr lang="en-US" baseline="-25000" dirty="0"/>
              <a:t>A</a:t>
            </a:r>
            <a:r>
              <a:rPr lang="en-US" dirty="0"/>
              <a:t> / R</a:t>
            </a:r>
            <a:r>
              <a:rPr lang="en-US" baseline="-25000" dirty="0"/>
              <a:t>D</a:t>
            </a:r>
            <a:r>
              <a:rPr lang="en-US" dirty="0"/>
              <a:t> – defender efficiency ratio</a:t>
            </a:r>
            <a:endParaRPr lang="en-US" noProof="0" dirty="0"/>
          </a:p>
          <a:p>
            <a:endParaRPr lang="en-US" noProof="0" dirty="0"/>
          </a:p>
          <a:p>
            <a:r>
              <a:rPr lang="en-US" dirty="0"/>
              <a:t>Entropy (H) – strategic diversity and learning dynamics</a:t>
            </a:r>
            <a:endParaRPr lang="en-US" noProof="0" dirty="0"/>
          </a:p>
        </p:txBody>
      </p:sp>
      <p:sp>
        <p:nvSpPr>
          <p:cNvPr id="4" name="Élőláb helye 3">
            <a:extLst>
              <a:ext uri="{FF2B5EF4-FFF2-40B4-BE49-F238E27FC236}">
                <a16:creationId xmlns:a16="http://schemas.microsoft.com/office/drawing/2014/main" id="{DDD3FEE1-FB68-2E1A-53EF-E98910590D01}"/>
              </a:ext>
            </a:extLst>
          </p:cNvPr>
          <p:cNvSpPr>
            <a:spLocks noGrp="1"/>
          </p:cNvSpPr>
          <p:nvPr>
            <p:ph type="ftr" sz="quarter" idx="11"/>
          </p:nvPr>
        </p:nvSpPr>
        <p:spPr/>
        <p:txBody>
          <a:bodyPr/>
          <a:lstStyle/>
          <a:p>
            <a:r>
              <a:rPr lang="en-US" dirty="0"/>
              <a:t>Colonel Blotto in Cybersecurity</a:t>
            </a:r>
          </a:p>
        </p:txBody>
      </p:sp>
      <p:sp>
        <p:nvSpPr>
          <p:cNvPr id="5" name="Dia számának helye 4">
            <a:extLst>
              <a:ext uri="{FF2B5EF4-FFF2-40B4-BE49-F238E27FC236}">
                <a16:creationId xmlns:a16="http://schemas.microsoft.com/office/drawing/2014/main" id="{21C50391-70F6-C82D-4F7A-5063387D4AEA}"/>
              </a:ext>
            </a:extLst>
          </p:cNvPr>
          <p:cNvSpPr>
            <a:spLocks noGrp="1"/>
          </p:cNvSpPr>
          <p:nvPr>
            <p:ph type="sldNum" sz="quarter" idx="12"/>
          </p:nvPr>
        </p:nvSpPr>
        <p:spPr/>
        <p:txBody>
          <a:bodyPr/>
          <a:lstStyle/>
          <a:p>
            <a:fld id="{4F532308-F742-4E8E-A0E9-3E442CCFFF54}" type="slidenum">
              <a:rPr lang="en-US" noProof="0" smtClean="0"/>
              <a:pPr/>
              <a:t>11</a:t>
            </a:fld>
            <a:endParaRPr lang="en-US" noProof="0" dirty="0"/>
          </a:p>
        </p:txBody>
      </p:sp>
      <p:pic>
        <p:nvPicPr>
          <p:cNvPr id="14341" name="Picture 5" descr="Metrics - Free business icons">
            <a:extLst>
              <a:ext uri="{FF2B5EF4-FFF2-40B4-BE49-F238E27FC236}">
                <a16:creationId xmlns:a16="http://schemas.microsoft.com/office/drawing/2014/main" id="{4E8BA07D-A65B-A385-B5CA-7017E1E80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9168" y="3778098"/>
            <a:ext cx="1827873" cy="1827873"/>
          </a:xfrm>
          <a:prstGeom prst="rect">
            <a:avLst/>
          </a:prstGeom>
          <a:noFill/>
          <a:extLst>
            <a:ext uri="{909E8E84-426E-40DD-AFC4-6F175D3DCCD1}">
              <a14:hiddenFill xmlns:a14="http://schemas.microsoft.com/office/drawing/2010/main">
                <a:solidFill>
                  <a:srgbClr val="FFFFFF"/>
                </a:solidFill>
              </a14:hiddenFill>
            </a:ext>
          </a:extLst>
        </p:spPr>
      </p:pic>
      <p:pic>
        <p:nvPicPr>
          <p:cNvPr id="14343" name="Picture 7" descr="Key Business Performance Metrics Icon Stock Vector - Illustration of  design, strategy: 352796351">
            <a:extLst>
              <a:ext uri="{FF2B5EF4-FFF2-40B4-BE49-F238E27FC236}">
                <a16:creationId xmlns:a16="http://schemas.microsoft.com/office/drawing/2014/main" id="{46EAF10C-436D-337A-4C37-B641999D66D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04866" y="3575112"/>
            <a:ext cx="2458950" cy="245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8595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19770-43A7-C7BE-A56B-E4471B2DF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3BB54D-9E5E-3B8C-9809-77E8A717BF11}"/>
              </a:ext>
            </a:extLst>
          </p:cNvPr>
          <p:cNvSpPr>
            <a:spLocks noGrp="1"/>
          </p:cNvSpPr>
          <p:nvPr>
            <p:ph type="title"/>
          </p:nvPr>
        </p:nvSpPr>
        <p:spPr/>
        <p:txBody>
          <a:bodyPr/>
          <a:lstStyle/>
          <a:p>
            <a:r>
              <a:rPr lang="hu-HU" dirty="0"/>
              <a:t>Main </a:t>
            </a:r>
            <a:r>
              <a:rPr lang="hu-HU" dirty="0" err="1"/>
              <a:t>results</a:t>
            </a:r>
            <a:r>
              <a:rPr lang="hu-HU" dirty="0"/>
              <a:t> I.</a:t>
            </a:r>
            <a:endParaRPr lang="en-US" noProof="0" dirty="0"/>
          </a:p>
        </p:txBody>
      </p:sp>
      <p:pic>
        <p:nvPicPr>
          <p:cNvPr id="9" name="Tartalom helye 8" descr="A képen szöveg, diagram, sor, Diagram látható&#10;&#10;Előfordulhat, hogy az AI által létrehozott tartalom helytelen.">
            <a:extLst>
              <a:ext uri="{FF2B5EF4-FFF2-40B4-BE49-F238E27FC236}">
                <a16:creationId xmlns:a16="http://schemas.microsoft.com/office/drawing/2014/main" id="{CDFFE08A-71EB-B97C-B07F-911141E7677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03504" y="2700206"/>
            <a:ext cx="7936992" cy="3706368"/>
          </a:xfrm>
        </p:spPr>
      </p:pic>
      <p:sp>
        <p:nvSpPr>
          <p:cNvPr id="4" name="Footer Placeholder 3">
            <a:extLst>
              <a:ext uri="{FF2B5EF4-FFF2-40B4-BE49-F238E27FC236}">
                <a16:creationId xmlns:a16="http://schemas.microsoft.com/office/drawing/2014/main" id="{5AC0A2A5-02D9-52C8-BABE-B69CF509B03B}"/>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6EE55836-4431-4784-F5AE-6E6352D11A4B}"/>
              </a:ext>
            </a:extLst>
          </p:cNvPr>
          <p:cNvSpPr>
            <a:spLocks noGrp="1"/>
          </p:cNvSpPr>
          <p:nvPr>
            <p:ph type="sldNum" sz="quarter" idx="12"/>
          </p:nvPr>
        </p:nvSpPr>
        <p:spPr/>
        <p:txBody>
          <a:bodyPr/>
          <a:lstStyle/>
          <a:p>
            <a:fld id="{4F532308-F742-4E8E-A0E9-3E442CCFFF54}" type="slidenum">
              <a:rPr lang="en-US" noProof="0" smtClean="0"/>
              <a:pPr/>
              <a:t>12</a:t>
            </a:fld>
            <a:endParaRPr lang="en-US" noProof="0" dirty="0"/>
          </a:p>
        </p:txBody>
      </p:sp>
      <p:sp>
        <p:nvSpPr>
          <p:cNvPr id="10" name="Content Placeholder 2">
            <a:extLst>
              <a:ext uri="{FF2B5EF4-FFF2-40B4-BE49-F238E27FC236}">
                <a16:creationId xmlns:a16="http://schemas.microsoft.com/office/drawing/2014/main" id="{55450DCB-231F-7778-6E84-31A50C756D6C}"/>
              </a:ext>
            </a:extLst>
          </p:cNvPr>
          <p:cNvSpPr txBox="1">
            <a:spLocks/>
          </p:cNvSpPr>
          <p:nvPr/>
        </p:nvSpPr>
        <p:spPr>
          <a:xfrm>
            <a:off x="251520" y="1052736"/>
            <a:ext cx="8435280" cy="525916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Wingdings" panose="05000000000000000000" pitchFamily="2" charset="2"/>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dirty="0"/>
              <a:t>The defender achieved better overall performance in every scenario</a:t>
            </a:r>
            <a:endParaRPr lang="en-US" noProof="0" dirty="0"/>
          </a:p>
          <a:p>
            <a:r>
              <a:rPr lang="en-US" noProof="0" dirty="0"/>
              <a:t>R1, R3: strongest defense (defender intelligence advantage)</a:t>
            </a:r>
          </a:p>
          <a:p>
            <a:r>
              <a:rPr lang="en-US" noProof="0" dirty="0"/>
              <a:t>R2: temporary attacker improvement, but unstable</a:t>
            </a:r>
          </a:p>
        </p:txBody>
      </p:sp>
    </p:spTree>
    <p:extLst>
      <p:ext uri="{BB962C8B-B14F-4D97-AF65-F5344CB8AC3E}">
        <p14:creationId xmlns:p14="http://schemas.microsoft.com/office/powerpoint/2010/main" val="15924216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5D8A1-3BF8-E16E-97E2-4550AD963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1D06FE-2B69-6060-2CD6-8BCDCB3D7042}"/>
              </a:ext>
            </a:extLst>
          </p:cNvPr>
          <p:cNvSpPr>
            <a:spLocks noGrp="1"/>
          </p:cNvSpPr>
          <p:nvPr>
            <p:ph type="title"/>
          </p:nvPr>
        </p:nvSpPr>
        <p:spPr/>
        <p:txBody>
          <a:bodyPr/>
          <a:lstStyle/>
          <a:p>
            <a:r>
              <a:rPr lang="hu-HU" dirty="0"/>
              <a:t>Main </a:t>
            </a:r>
            <a:r>
              <a:rPr lang="hu-HU" dirty="0" err="1"/>
              <a:t>results</a:t>
            </a:r>
            <a:r>
              <a:rPr lang="hu-HU" dirty="0"/>
              <a:t> II.</a:t>
            </a:r>
            <a:endParaRPr lang="en-US" noProof="0" dirty="0"/>
          </a:p>
        </p:txBody>
      </p:sp>
      <p:sp>
        <p:nvSpPr>
          <p:cNvPr id="3" name="Content Placeholder 2">
            <a:extLst>
              <a:ext uri="{FF2B5EF4-FFF2-40B4-BE49-F238E27FC236}">
                <a16:creationId xmlns:a16="http://schemas.microsoft.com/office/drawing/2014/main" id="{7221E10C-5004-187D-89D6-05A25D02CC8F}"/>
              </a:ext>
            </a:extLst>
          </p:cNvPr>
          <p:cNvSpPr>
            <a:spLocks noGrp="1"/>
          </p:cNvSpPr>
          <p:nvPr>
            <p:ph idx="1"/>
          </p:nvPr>
        </p:nvSpPr>
        <p:spPr/>
        <p:txBody>
          <a:bodyPr/>
          <a:lstStyle/>
          <a:p>
            <a:r>
              <a:rPr lang="en-US" noProof="0" dirty="0"/>
              <a:t>No static convergence</a:t>
            </a:r>
          </a:p>
          <a:p>
            <a:r>
              <a:rPr lang="en-US" noProof="0" dirty="0"/>
              <a:t>Medium entropy → continuous adaptation</a:t>
            </a:r>
            <a:endParaRPr lang="hu-HU" noProof="0" dirty="0"/>
          </a:p>
          <a:p>
            <a:r>
              <a:rPr lang="en-US" noProof="0" dirty="0"/>
              <a:t>Dynamic, equilibrium-like learning</a:t>
            </a:r>
          </a:p>
        </p:txBody>
      </p:sp>
      <p:sp>
        <p:nvSpPr>
          <p:cNvPr id="4" name="Footer Placeholder 3">
            <a:extLst>
              <a:ext uri="{FF2B5EF4-FFF2-40B4-BE49-F238E27FC236}">
                <a16:creationId xmlns:a16="http://schemas.microsoft.com/office/drawing/2014/main" id="{6F79626E-B699-98CD-D116-A15ED538E252}"/>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CF5E58E5-4160-4575-2268-4B02E5AD2149}"/>
              </a:ext>
            </a:extLst>
          </p:cNvPr>
          <p:cNvSpPr>
            <a:spLocks noGrp="1"/>
          </p:cNvSpPr>
          <p:nvPr>
            <p:ph type="sldNum" sz="quarter" idx="12"/>
          </p:nvPr>
        </p:nvSpPr>
        <p:spPr/>
        <p:txBody>
          <a:bodyPr/>
          <a:lstStyle/>
          <a:p>
            <a:fld id="{4F532308-F742-4E8E-A0E9-3E442CCFFF54}" type="slidenum">
              <a:rPr lang="en-US" noProof="0" smtClean="0"/>
              <a:pPr/>
              <a:t>13</a:t>
            </a:fld>
            <a:endParaRPr lang="en-US" noProof="0" dirty="0"/>
          </a:p>
        </p:txBody>
      </p:sp>
      <p:pic>
        <p:nvPicPr>
          <p:cNvPr id="10" name="Kép 9" descr="A képen szöveg, képernyőkép, diagram, Betűtípus látható&#10;&#10;Előfordulhat, hogy az AI által létrehozott tartalom helytelen.">
            <a:extLst>
              <a:ext uri="{FF2B5EF4-FFF2-40B4-BE49-F238E27FC236}">
                <a16:creationId xmlns:a16="http://schemas.microsoft.com/office/drawing/2014/main" id="{FF98BF5B-A44B-6F2C-5D22-438D0C252B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0684" y="2523647"/>
            <a:ext cx="6282631" cy="3788253"/>
          </a:xfrm>
          <a:prstGeom prst="rect">
            <a:avLst/>
          </a:prstGeom>
        </p:spPr>
      </p:pic>
    </p:spTree>
    <p:extLst>
      <p:ext uri="{BB962C8B-B14F-4D97-AF65-F5344CB8AC3E}">
        <p14:creationId xmlns:p14="http://schemas.microsoft.com/office/powerpoint/2010/main" val="311446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2CD05-D560-9F7C-B521-9BF385142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DEDD5-F8F4-330C-7CEA-90690DD02F15}"/>
              </a:ext>
            </a:extLst>
          </p:cNvPr>
          <p:cNvSpPr>
            <a:spLocks noGrp="1"/>
          </p:cNvSpPr>
          <p:nvPr>
            <p:ph type="title"/>
          </p:nvPr>
        </p:nvSpPr>
        <p:spPr/>
        <p:txBody>
          <a:bodyPr/>
          <a:lstStyle/>
          <a:p>
            <a:r>
              <a:rPr lang="hu-HU" dirty="0"/>
              <a:t>Main </a:t>
            </a:r>
            <a:r>
              <a:rPr lang="hu-HU" dirty="0" err="1"/>
              <a:t>results</a:t>
            </a:r>
            <a:r>
              <a:rPr lang="hu-HU" dirty="0"/>
              <a:t> </a:t>
            </a:r>
            <a:r>
              <a:rPr lang="en-US" noProof="0" dirty="0"/>
              <a:t>III.</a:t>
            </a:r>
          </a:p>
        </p:txBody>
      </p:sp>
      <p:sp>
        <p:nvSpPr>
          <p:cNvPr id="3" name="Content Placeholder 2">
            <a:extLst>
              <a:ext uri="{FF2B5EF4-FFF2-40B4-BE49-F238E27FC236}">
                <a16:creationId xmlns:a16="http://schemas.microsoft.com/office/drawing/2014/main" id="{783131B5-1DDA-927E-9112-924058DA6A63}"/>
              </a:ext>
            </a:extLst>
          </p:cNvPr>
          <p:cNvSpPr>
            <a:spLocks noGrp="1"/>
          </p:cNvSpPr>
          <p:nvPr>
            <p:ph idx="1"/>
          </p:nvPr>
        </p:nvSpPr>
        <p:spPr/>
        <p:txBody>
          <a:bodyPr/>
          <a:lstStyle/>
          <a:p>
            <a:r>
              <a:rPr lang="en-US" dirty="0"/>
              <a:t>Attacker strategies are dominated by concentrated choices</a:t>
            </a:r>
            <a:endParaRPr lang="en-US" noProof="0" dirty="0"/>
          </a:p>
          <a:p>
            <a:endParaRPr lang="hu-HU" dirty="0"/>
          </a:p>
          <a:p>
            <a:r>
              <a:rPr lang="en-US" dirty="0"/>
              <a:t>Defender strategies rely on predictive and value-proportional allocation</a:t>
            </a:r>
            <a:endParaRPr lang="en-US" noProof="0" dirty="0"/>
          </a:p>
        </p:txBody>
      </p:sp>
      <p:sp>
        <p:nvSpPr>
          <p:cNvPr id="4" name="Footer Placeholder 3">
            <a:extLst>
              <a:ext uri="{FF2B5EF4-FFF2-40B4-BE49-F238E27FC236}">
                <a16:creationId xmlns:a16="http://schemas.microsoft.com/office/drawing/2014/main" id="{946AFE1C-D314-CD54-C37E-B4E753B6A629}"/>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3B3EE2A0-D9BE-996F-C78A-57131EC3B7E8}"/>
              </a:ext>
            </a:extLst>
          </p:cNvPr>
          <p:cNvSpPr>
            <a:spLocks noGrp="1"/>
          </p:cNvSpPr>
          <p:nvPr>
            <p:ph type="sldNum" sz="quarter" idx="12"/>
          </p:nvPr>
        </p:nvSpPr>
        <p:spPr/>
        <p:txBody>
          <a:bodyPr/>
          <a:lstStyle/>
          <a:p>
            <a:fld id="{4F532308-F742-4E8E-A0E9-3E442CCFFF54}" type="slidenum">
              <a:rPr lang="en-US" noProof="0" smtClean="0"/>
              <a:pPr/>
              <a:t>14</a:t>
            </a:fld>
            <a:endParaRPr lang="en-US" noProof="0" dirty="0"/>
          </a:p>
        </p:txBody>
      </p:sp>
      <p:pic>
        <p:nvPicPr>
          <p:cNvPr id="7" name="Kép 6" descr="A képen szöveg, képernyőkép, diagram, Betűtípus látható&#10;&#10;Előfordulhat, hogy az AI által létrehozott tartalom helytelen.">
            <a:extLst>
              <a:ext uri="{FF2B5EF4-FFF2-40B4-BE49-F238E27FC236}">
                <a16:creationId xmlns:a16="http://schemas.microsoft.com/office/drawing/2014/main" id="{6053C226-1E05-28F7-7C34-D64D6B027C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477" y="2843276"/>
            <a:ext cx="7211568" cy="3468624"/>
          </a:xfrm>
          <a:prstGeom prst="rect">
            <a:avLst/>
          </a:prstGeom>
        </p:spPr>
      </p:pic>
    </p:spTree>
    <p:extLst>
      <p:ext uri="{BB962C8B-B14F-4D97-AF65-F5344CB8AC3E}">
        <p14:creationId xmlns:p14="http://schemas.microsoft.com/office/powerpoint/2010/main" val="4054998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B084C-ADB3-833C-0EB5-889303CAC8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1CE7D-A7F2-7100-1A93-3FAACA69FB4B}"/>
              </a:ext>
            </a:extLst>
          </p:cNvPr>
          <p:cNvSpPr>
            <a:spLocks noGrp="1"/>
          </p:cNvSpPr>
          <p:nvPr>
            <p:ph type="title"/>
          </p:nvPr>
        </p:nvSpPr>
        <p:spPr/>
        <p:txBody>
          <a:bodyPr/>
          <a:lstStyle/>
          <a:p>
            <a:r>
              <a:rPr lang="hu-HU" noProof="0" dirty="0" err="1"/>
              <a:t>Conclusions</a:t>
            </a:r>
            <a:endParaRPr lang="en-US" noProof="0" dirty="0"/>
          </a:p>
        </p:txBody>
      </p:sp>
      <p:sp>
        <p:nvSpPr>
          <p:cNvPr id="3" name="Content Placeholder 2">
            <a:extLst>
              <a:ext uri="{FF2B5EF4-FFF2-40B4-BE49-F238E27FC236}">
                <a16:creationId xmlns:a16="http://schemas.microsoft.com/office/drawing/2014/main" id="{2BA8D88E-1540-7A5E-D732-888BD9AEF623}"/>
              </a:ext>
            </a:extLst>
          </p:cNvPr>
          <p:cNvSpPr>
            <a:spLocks noGrp="1"/>
          </p:cNvSpPr>
          <p:nvPr>
            <p:ph idx="1"/>
          </p:nvPr>
        </p:nvSpPr>
        <p:spPr>
          <a:xfrm>
            <a:off x="251520" y="1052736"/>
            <a:ext cx="8435280" cy="2827602"/>
          </a:xfrm>
        </p:spPr>
        <p:txBody>
          <a:bodyPr>
            <a:normAutofit/>
          </a:bodyPr>
          <a:lstStyle/>
          <a:p>
            <a:r>
              <a:rPr lang="en-US" noProof="0" dirty="0"/>
              <a:t>Information is only useful when paired with adaptation</a:t>
            </a:r>
          </a:p>
          <a:p>
            <a:endParaRPr lang="en-US" noProof="0" dirty="0"/>
          </a:p>
          <a:p>
            <a:r>
              <a:rPr lang="hu-HU" dirty="0"/>
              <a:t>No </a:t>
            </a:r>
            <a:r>
              <a:rPr lang="hu-HU" dirty="0" err="1"/>
              <a:t>static</a:t>
            </a:r>
            <a:r>
              <a:rPr lang="hu-HU" dirty="0"/>
              <a:t> </a:t>
            </a:r>
            <a:r>
              <a:rPr lang="hu-HU" dirty="0" err="1"/>
              <a:t>equilibrium</a:t>
            </a:r>
            <a:r>
              <a:rPr lang="hu-HU" dirty="0"/>
              <a:t>, </a:t>
            </a:r>
            <a:r>
              <a:rPr lang="hu-HU" dirty="0" err="1"/>
              <a:t>continuous</a:t>
            </a:r>
            <a:r>
              <a:rPr lang="hu-HU" dirty="0"/>
              <a:t> </a:t>
            </a:r>
            <a:r>
              <a:rPr lang="hu-HU" dirty="0" err="1"/>
              <a:t>adjustment</a:t>
            </a:r>
            <a:r>
              <a:rPr lang="hu-HU" dirty="0"/>
              <a:t> </a:t>
            </a:r>
            <a:r>
              <a:rPr lang="hu-HU" dirty="0" err="1"/>
              <a:t>dominates</a:t>
            </a:r>
            <a:endParaRPr lang="hu-HU" dirty="0"/>
          </a:p>
          <a:p>
            <a:endParaRPr lang="en-US" noProof="0" dirty="0"/>
          </a:p>
          <a:p>
            <a:r>
              <a:rPr lang="en-US" dirty="0"/>
              <a:t>Adaptive defense remains the most reliable approach</a:t>
            </a:r>
            <a:endParaRPr lang="en-US" noProof="0" dirty="0"/>
          </a:p>
        </p:txBody>
      </p:sp>
      <p:sp>
        <p:nvSpPr>
          <p:cNvPr id="4" name="Footer Placeholder 3">
            <a:extLst>
              <a:ext uri="{FF2B5EF4-FFF2-40B4-BE49-F238E27FC236}">
                <a16:creationId xmlns:a16="http://schemas.microsoft.com/office/drawing/2014/main" id="{36D3F3C0-CA0D-7DF1-73FF-09E85286A82A}"/>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C415CCC-BB6F-49A1-B164-2E9677A3EEC7}"/>
              </a:ext>
            </a:extLst>
          </p:cNvPr>
          <p:cNvSpPr>
            <a:spLocks noGrp="1"/>
          </p:cNvSpPr>
          <p:nvPr>
            <p:ph type="sldNum" sz="quarter" idx="12"/>
          </p:nvPr>
        </p:nvSpPr>
        <p:spPr/>
        <p:txBody>
          <a:bodyPr/>
          <a:lstStyle/>
          <a:p>
            <a:fld id="{4F532308-F742-4E8E-A0E9-3E442CCFFF54}" type="slidenum">
              <a:rPr lang="en-US" noProof="0" smtClean="0"/>
              <a:pPr/>
              <a:t>15</a:t>
            </a:fld>
            <a:endParaRPr lang="en-US" noProof="0" dirty="0"/>
          </a:p>
        </p:txBody>
      </p:sp>
      <p:pic>
        <p:nvPicPr>
          <p:cNvPr id="15368"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E3391573-6791-06D3-B331-C9E5063C8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5320" y="3429000"/>
            <a:ext cx="2714992" cy="2714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7461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B9E8C-146F-2FDD-C579-162DBA547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B57DF6-FA70-3EB8-5F30-504CFCA777E7}"/>
              </a:ext>
            </a:extLst>
          </p:cNvPr>
          <p:cNvSpPr>
            <a:spLocks noGrp="1"/>
          </p:cNvSpPr>
          <p:nvPr>
            <p:ph type="title"/>
          </p:nvPr>
        </p:nvSpPr>
        <p:spPr/>
        <p:txBody>
          <a:bodyPr/>
          <a:lstStyle/>
          <a:p>
            <a:r>
              <a:rPr lang="hu-HU" noProof="0" dirty="0" err="1"/>
              <a:t>Future</a:t>
            </a:r>
            <a:r>
              <a:rPr lang="hu-HU" noProof="0" dirty="0"/>
              <a:t> </a:t>
            </a:r>
            <a:r>
              <a:rPr lang="hu-HU" noProof="0" dirty="0" err="1"/>
              <a:t>work</a:t>
            </a:r>
            <a:endParaRPr lang="en-US" noProof="0" dirty="0"/>
          </a:p>
        </p:txBody>
      </p:sp>
      <p:sp>
        <p:nvSpPr>
          <p:cNvPr id="3" name="Content Placeholder 2">
            <a:extLst>
              <a:ext uri="{FF2B5EF4-FFF2-40B4-BE49-F238E27FC236}">
                <a16:creationId xmlns:a16="http://schemas.microsoft.com/office/drawing/2014/main" id="{256FF766-41CC-AC14-AFEC-4A79BBE0F1E2}"/>
              </a:ext>
            </a:extLst>
          </p:cNvPr>
          <p:cNvSpPr>
            <a:spLocks noGrp="1"/>
          </p:cNvSpPr>
          <p:nvPr>
            <p:ph idx="1"/>
          </p:nvPr>
        </p:nvSpPr>
        <p:spPr/>
        <p:txBody>
          <a:bodyPr>
            <a:normAutofit/>
          </a:bodyPr>
          <a:lstStyle/>
          <a:p>
            <a:r>
              <a:rPr lang="en-US" dirty="0"/>
              <a:t>Deep RL for more complex strategies</a:t>
            </a:r>
            <a:endParaRPr lang="en-US" noProof="0" dirty="0"/>
          </a:p>
          <a:p>
            <a:pPr marL="0" indent="0">
              <a:buNone/>
            </a:pPr>
            <a:endParaRPr lang="en-US" noProof="0" dirty="0"/>
          </a:p>
          <a:p>
            <a:r>
              <a:rPr lang="hu-HU" dirty="0" err="1"/>
              <a:t>Graph-based</a:t>
            </a:r>
            <a:r>
              <a:rPr lang="hu-HU" dirty="0"/>
              <a:t> </a:t>
            </a:r>
            <a:r>
              <a:rPr lang="hu-HU" dirty="0" err="1"/>
              <a:t>vendor</a:t>
            </a:r>
            <a:r>
              <a:rPr lang="hu-HU" dirty="0"/>
              <a:t> </a:t>
            </a:r>
            <a:r>
              <a:rPr lang="hu-HU" dirty="0" err="1"/>
              <a:t>risk</a:t>
            </a:r>
            <a:r>
              <a:rPr lang="hu-HU" dirty="0"/>
              <a:t> </a:t>
            </a:r>
            <a:r>
              <a:rPr lang="hu-HU" dirty="0" err="1"/>
              <a:t>links</a:t>
            </a:r>
            <a:endParaRPr lang="en-US" noProof="0" dirty="0"/>
          </a:p>
          <a:p>
            <a:endParaRPr lang="en-US" noProof="0" dirty="0"/>
          </a:p>
          <a:p>
            <a:r>
              <a:rPr lang="hu-HU" dirty="0" err="1"/>
              <a:t>Two-phase</a:t>
            </a:r>
            <a:r>
              <a:rPr lang="hu-HU" dirty="0"/>
              <a:t> </a:t>
            </a:r>
            <a:r>
              <a:rPr lang="hu-HU" dirty="0" err="1"/>
              <a:t>attack</a:t>
            </a:r>
            <a:r>
              <a:rPr lang="hu-HU" dirty="0"/>
              <a:t> modelling</a:t>
            </a:r>
            <a:endParaRPr lang="en-US" noProof="0" dirty="0"/>
          </a:p>
          <a:p>
            <a:endParaRPr lang="en-US" noProof="0" dirty="0"/>
          </a:p>
          <a:p>
            <a:r>
              <a:rPr lang="en-US" dirty="0"/>
              <a:t>Real-time updates with diverse data</a:t>
            </a:r>
            <a:endParaRPr lang="hu-HU" dirty="0"/>
          </a:p>
          <a:p>
            <a:endParaRPr lang="hu-HU" noProof="0" dirty="0"/>
          </a:p>
          <a:p>
            <a:r>
              <a:rPr lang="hu-HU" dirty="0" err="1"/>
              <a:t>Exploring</a:t>
            </a:r>
            <a:r>
              <a:rPr lang="hu-HU" dirty="0"/>
              <a:t> </a:t>
            </a:r>
            <a:r>
              <a:rPr lang="hu-HU" dirty="0" err="1"/>
              <a:t>broader</a:t>
            </a:r>
            <a:r>
              <a:rPr lang="hu-HU" dirty="0"/>
              <a:t> </a:t>
            </a:r>
            <a:r>
              <a:rPr lang="hu-HU" dirty="0" err="1"/>
              <a:t>resource</a:t>
            </a:r>
            <a:r>
              <a:rPr lang="hu-HU" dirty="0"/>
              <a:t> </a:t>
            </a:r>
            <a:r>
              <a:rPr lang="hu-HU" dirty="0" err="1"/>
              <a:t>asymmetry</a:t>
            </a:r>
            <a:endParaRPr lang="en-US" noProof="0" dirty="0"/>
          </a:p>
        </p:txBody>
      </p:sp>
      <p:sp>
        <p:nvSpPr>
          <p:cNvPr id="4" name="Footer Placeholder 3">
            <a:extLst>
              <a:ext uri="{FF2B5EF4-FFF2-40B4-BE49-F238E27FC236}">
                <a16:creationId xmlns:a16="http://schemas.microsoft.com/office/drawing/2014/main" id="{0D45A738-C44F-F198-F8DB-F9A0D87A98F7}"/>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FE053416-B9A4-7E88-AD98-5F868A59DCF2}"/>
              </a:ext>
            </a:extLst>
          </p:cNvPr>
          <p:cNvSpPr>
            <a:spLocks noGrp="1"/>
          </p:cNvSpPr>
          <p:nvPr>
            <p:ph type="sldNum" sz="quarter" idx="12"/>
          </p:nvPr>
        </p:nvSpPr>
        <p:spPr/>
        <p:txBody>
          <a:bodyPr/>
          <a:lstStyle/>
          <a:p>
            <a:fld id="{4F532308-F742-4E8E-A0E9-3E442CCFFF54}" type="slidenum">
              <a:rPr lang="en-US" noProof="0" smtClean="0"/>
              <a:pPr/>
              <a:t>16</a:t>
            </a:fld>
            <a:endParaRPr lang="en-US" noProof="0" dirty="0"/>
          </a:p>
        </p:txBody>
      </p:sp>
      <p:pic>
        <p:nvPicPr>
          <p:cNvPr id="4100" name="Picture 4" descr="Future Technology - Free technology icons">
            <a:extLst>
              <a:ext uri="{FF2B5EF4-FFF2-40B4-BE49-F238E27FC236}">
                <a16:creationId xmlns:a16="http://schemas.microsoft.com/office/drawing/2014/main" id="{1DAE6576-F329-2709-077D-FFC0BDC5BA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8089" y="3662139"/>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Neural network icon vector image can be used for data science | Premium  Vector">
            <a:extLst>
              <a:ext uri="{FF2B5EF4-FFF2-40B4-BE49-F238E27FC236}">
                <a16:creationId xmlns:a16="http://schemas.microsoft.com/office/drawing/2014/main" id="{164FF118-BB4D-11E4-C426-951BC83C2F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43675" y="101237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5897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F11E7-AF97-33B1-F99B-2918A329A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42A215-BFC7-F21B-985B-DA200F8BFB3E}"/>
              </a:ext>
            </a:extLst>
          </p:cNvPr>
          <p:cNvSpPr>
            <a:spLocks noGrp="1"/>
          </p:cNvSpPr>
          <p:nvPr>
            <p:ph type="title"/>
          </p:nvPr>
        </p:nvSpPr>
        <p:spPr/>
        <p:txBody>
          <a:bodyPr>
            <a:normAutofit/>
          </a:bodyPr>
          <a:lstStyle/>
          <a:p>
            <a:r>
              <a:rPr lang="hu-HU" noProof="0" dirty="0"/>
              <a:t>Bírálói kérdések I.</a:t>
            </a:r>
          </a:p>
        </p:txBody>
      </p:sp>
      <p:sp>
        <p:nvSpPr>
          <p:cNvPr id="3" name="Content Placeholder 2">
            <a:extLst>
              <a:ext uri="{FF2B5EF4-FFF2-40B4-BE49-F238E27FC236}">
                <a16:creationId xmlns:a16="http://schemas.microsoft.com/office/drawing/2014/main" id="{C4249AE3-6418-7485-6DD4-AF876DAF8E30}"/>
              </a:ext>
            </a:extLst>
          </p:cNvPr>
          <p:cNvSpPr>
            <a:spLocks noGrp="1"/>
          </p:cNvSpPr>
          <p:nvPr>
            <p:ph idx="1"/>
          </p:nvPr>
        </p:nvSpPr>
        <p:spPr/>
        <p:txBody>
          <a:bodyPr/>
          <a:lstStyle/>
          <a:p>
            <a:pPr marL="0" indent="0">
              <a:buNone/>
            </a:pPr>
            <a:r>
              <a:rPr lang="hu-HU" noProof="0" dirty="0"/>
              <a:t>Milyen lépések lennének szükségesek a dezinformáció bevezetéséhez a modellben?</a:t>
            </a:r>
          </a:p>
          <a:p>
            <a:endParaRPr lang="hu-HU" noProof="0" dirty="0"/>
          </a:p>
          <a:p>
            <a:r>
              <a:rPr lang="hu-HU" noProof="0" dirty="0"/>
              <a:t>Torzított </a:t>
            </a:r>
            <a:r>
              <a:rPr lang="hu-HU" noProof="0" dirty="0" err="1"/>
              <a:t>risk</a:t>
            </a:r>
            <a:r>
              <a:rPr lang="hu-HU" noProof="0" dirty="0"/>
              <a:t>-értékek</a:t>
            </a:r>
          </a:p>
          <a:p>
            <a:endParaRPr lang="hu-HU" noProof="0" dirty="0"/>
          </a:p>
          <a:p>
            <a:r>
              <a:rPr lang="hu-HU" noProof="0" dirty="0"/>
              <a:t>Késleltetett adatok</a:t>
            </a:r>
          </a:p>
          <a:p>
            <a:endParaRPr lang="hu-HU" noProof="0" dirty="0"/>
          </a:p>
          <a:p>
            <a:r>
              <a:rPr lang="hu-HU" noProof="0" dirty="0"/>
              <a:t>Hibás stratégia-megfigyelés</a:t>
            </a:r>
          </a:p>
          <a:p>
            <a:pPr lvl="1"/>
            <a:r>
              <a:rPr lang="hu-HU" noProof="0" dirty="0"/>
              <a:t>Gyengébb adaptáció és tanulás</a:t>
            </a:r>
          </a:p>
        </p:txBody>
      </p:sp>
      <p:sp>
        <p:nvSpPr>
          <p:cNvPr id="4" name="Footer Placeholder 3">
            <a:extLst>
              <a:ext uri="{FF2B5EF4-FFF2-40B4-BE49-F238E27FC236}">
                <a16:creationId xmlns:a16="http://schemas.microsoft.com/office/drawing/2014/main" id="{1F83C426-CF11-DFF5-7EAE-5575A2D89E6B}"/>
              </a:ext>
            </a:extLst>
          </p:cNvPr>
          <p:cNvSpPr>
            <a:spLocks noGrp="1"/>
          </p:cNvSpPr>
          <p:nvPr>
            <p:ph type="ftr" sz="quarter" idx="11"/>
          </p:nvPr>
        </p:nvSpPr>
        <p:spPr/>
        <p:txBody>
          <a:bodyPr/>
          <a:lstStyle/>
          <a:p>
            <a:r>
              <a:rPr lang="en-US"/>
              <a:t>Colonel Blotto in Cybersecurity</a:t>
            </a:r>
            <a:endParaRPr lang="en-US" dirty="0"/>
          </a:p>
        </p:txBody>
      </p:sp>
      <p:sp>
        <p:nvSpPr>
          <p:cNvPr id="5" name="Slide Number Placeholder 4">
            <a:extLst>
              <a:ext uri="{FF2B5EF4-FFF2-40B4-BE49-F238E27FC236}">
                <a16:creationId xmlns:a16="http://schemas.microsoft.com/office/drawing/2014/main" id="{FD681E38-6C8A-3D24-B782-D1843E112E0A}"/>
              </a:ext>
            </a:extLst>
          </p:cNvPr>
          <p:cNvSpPr>
            <a:spLocks noGrp="1"/>
          </p:cNvSpPr>
          <p:nvPr>
            <p:ph type="sldNum" sz="quarter" idx="12"/>
          </p:nvPr>
        </p:nvSpPr>
        <p:spPr/>
        <p:txBody>
          <a:bodyPr/>
          <a:lstStyle/>
          <a:p>
            <a:fld id="{4F532308-F742-4E8E-A0E9-3E442CCFFF54}" type="slidenum">
              <a:rPr lang="hu-HU" noProof="0" smtClean="0"/>
              <a:pPr/>
              <a:t>17</a:t>
            </a:fld>
            <a:endParaRPr lang="hu-HU" noProof="0" dirty="0"/>
          </a:p>
        </p:txBody>
      </p:sp>
    </p:spTree>
    <p:extLst>
      <p:ext uri="{BB962C8B-B14F-4D97-AF65-F5344CB8AC3E}">
        <p14:creationId xmlns:p14="http://schemas.microsoft.com/office/powerpoint/2010/main" val="1924847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F0DD-BB21-761D-07BF-760E876F82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A9CD1-71D2-7409-DECE-D859A192CCA4}"/>
              </a:ext>
            </a:extLst>
          </p:cNvPr>
          <p:cNvSpPr>
            <a:spLocks noGrp="1"/>
          </p:cNvSpPr>
          <p:nvPr>
            <p:ph type="title"/>
          </p:nvPr>
        </p:nvSpPr>
        <p:spPr/>
        <p:txBody>
          <a:bodyPr/>
          <a:lstStyle/>
          <a:p>
            <a:r>
              <a:rPr lang="hu-HU" noProof="0" dirty="0"/>
              <a:t>Bírálói kérdések II.</a:t>
            </a:r>
          </a:p>
        </p:txBody>
      </p:sp>
      <p:sp>
        <p:nvSpPr>
          <p:cNvPr id="3" name="Content Placeholder 2">
            <a:extLst>
              <a:ext uri="{FF2B5EF4-FFF2-40B4-BE49-F238E27FC236}">
                <a16:creationId xmlns:a16="http://schemas.microsoft.com/office/drawing/2014/main" id="{0436D604-1E68-598B-C18A-65E10FB14BE8}"/>
              </a:ext>
            </a:extLst>
          </p:cNvPr>
          <p:cNvSpPr>
            <a:spLocks noGrp="1"/>
          </p:cNvSpPr>
          <p:nvPr>
            <p:ph idx="1"/>
          </p:nvPr>
        </p:nvSpPr>
        <p:spPr/>
        <p:txBody>
          <a:bodyPr/>
          <a:lstStyle/>
          <a:p>
            <a:pPr marL="0" indent="0">
              <a:buNone/>
            </a:pPr>
            <a:r>
              <a:rPr lang="hu-HU" noProof="0" dirty="0"/>
              <a:t>A jelenlegi modell minden gyártót külön csatatérként kezel. Ha egy </a:t>
            </a:r>
            <a:r>
              <a:rPr lang="hu-HU" noProof="0" dirty="0" err="1"/>
              <a:t>kiberbiztonságért</a:t>
            </a:r>
            <a:r>
              <a:rPr lang="hu-HU" noProof="0" dirty="0"/>
              <a:t> felelős vezető lennék, és pontos tudásom lenne arról, hogy milyen szoftverkomponensek milyen gyártótól származó könyvtárakat használnak, akkor hogyan lehetne ezt modellezni a </a:t>
            </a:r>
            <a:r>
              <a:rPr lang="hu-HU" noProof="0" dirty="0" err="1"/>
              <a:t>Colonel</a:t>
            </a:r>
            <a:r>
              <a:rPr lang="hu-HU" noProof="0" dirty="0"/>
              <a:t> </a:t>
            </a:r>
            <a:r>
              <a:rPr lang="hu-HU" noProof="0" dirty="0" err="1"/>
              <a:t>Blotto</a:t>
            </a:r>
            <a:r>
              <a:rPr lang="hu-HU" noProof="0" dirty="0"/>
              <a:t> keretében? Milyen alapvető elemek lennének ezen modellben?</a:t>
            </a:r>
          </a:p>
          <a:p>
            <a:endParaRPr lang="hu-HU" noProof="0" dirty="0"/>
          </a:p>
          <a:p>
            <a:r>
              <a:rPr lang="hu-HU" noProof="0" dirty="0"/>
              <a:t>Komponensfüggőségek</a:t>
            </a:r>
          </a:p>
          <a:p>
            <a:pPr lvl="1"/>
            <a:r>
              <a:rPr lang="hu-HU" noProof="0" dirty="0"/>
              <a:t>Gráf csomópont = komponens/gyártó</a:t>
            </a:r>
          </a:p>
          <a:p>
            <a:pPr lvl="1"/>
            <a:r>
              <a:rPr lang="hu-HU" noProof="0" dirty="0"/>
              <a:t>Élek = függőségek</a:t>
            </a:r>
          </a:p>
          <a:p>
            <a:pPr lvl="1"/>
            <a:r>
              <a:rPr lang="hu-HU" noProof="0" dirty="0"/>
              <a:t>Érték = lokális + terjedő kockázat</a:t>
            </a:r>
          </a:p>
          <a:p>
            <a:pPr lvl="1"/>
            <a:endParaRPr lang="hu-HU" noProof="0" dirty="0"/>
          </a:p>
          <a:p>
            <a:r>
              <a:rPr lang="hu-HU" noProof="0" dirty="0" err="1"/>
              <a:t>Blotto</a:t>
            </a:r>
            <a:r>
              <a:rPr lang="hu-HU" noProof="0" dirty="0"/>
              <a:t> a gráfon</a:t>
            </a:r>
          </a:p>
        </p:txBody>
      </p:sp>
      <p:sp>
        <p:nvSpPr>
          <p:cNvPr id="4" name="Footer Placeholder 3">
            <a:extLst>
              <a:ext uri="{FF2B5EF4-FFF2-40B4-BE49-F238E27FC236}">
                <a16:creationId xmlns:a16="http://schemas.microsoft.com/office/drawing/2014/main" id="{611CB310-E991-3DAC-640B-97F678707895}"/>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A19737FA-2765-6ED5-0C18-8F37E5FF6A80}"/>
              </a:ext>
            </a:extLst>
          </p:cNvPr>
          <p:cNvSpPr>
            <a:spLocks noGrp="1"/>
          </p:cNvSpPr>
          <p:nvPr>
            <p:ph type="sldNum" sz="quarter" idx="12"/>
          </p:nvPr>
        </p:nvSpPr>
        <p:spPr/>
        <p:txBody>
          <a:bodyPr/>
          <a:lstStyle/>
          <a:p>
            <a:fld id="{4F532308-F742-4E8E-A0E9-3E442CCFFF54}" type="slidenum">
              <a:rPr lang="hu-HU" noProof="0" smtClean="0"/>
              <a:pPr/>
              <a:t>18</a:t>
            </a:fld>
            <a:endParaRPr lang="hu-HU" noProof="0" dirty="0"/>
          </a:p>
        </p:txBody>
      </p:sp>
    </p:spTree>
    <p:extLst>
      <p:ext uri="{BB962C8B-B14F-4D97-AF65-F5344CB8AC3E}">
        <p14:creationId xmlns:p14="http://schemas.microsoft.com/office/powerpoint/2010/main" val="36420646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93BA-9FA7-68AC-E746-23B629390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C5638-F0DF-5D80-5BF8-178CF5A0A45D}"/>
              </a:ext>
            </a:extLst>
          </p:cNvPr>
          <p:cNvSpPr>
            <a:spLocks noGrp="1"/>
          </p:cNvSpPr>
          <p:nvPr>
            <p:ph type="title"/>
          </p:nvPr>
        </p:nvSpPr>
        <p:spPr/>
        <p:txBody>
          <a:bodyPr/>
          <a:lstStyle/>
          <a:p>
            <a:r>
              <a:rPr lang="hu-HU" noProof="0" dirty="0"/>
              <a:t>Bírálói kérdések III.</a:t>
            </a:r>
          </a:p>
        </p:txBody>
      </p:sp>
      <p:sp>
        <p:nvSpPr>
          <p:cNvPr id="3" name="Content Placeholder 2">
            <a:extLst>
              <a:ext uri="{FF2B5EF4-FFF2-40B4-BE49-F238E27FC236}">
                <a16:creationId xmlns:a16="http://schemas.microsoft.com/office/drawing/2014/main" id="{1F5984A6-048F-EE9A-42D2-0419701893E6}"/>
              </a:ext>
            </a:extLst>
          </p:cNvPr>
          <p:cNvSpPr>
            <a:spLocks noGrp="1"/>
          </p:cNvSpPr>
          <p:nvPr>
            <p:ph idx="1"/>
          </p:nvPr>
        </p:nvSpPr>
        <p:spPr/>
        <p:txBody>
          <a:bodyPr/>
          <a:lstStyle/>
          <a:p>
            <a:pPr marL="0" indent="0">
              <a:buNone/>
            </a:pPr>
            <a:r>
              <a:rPr lang="hu-HU" noProof="0" dirty="0"/>
              <a:t>Mennyire skálázható a bemutatott megoldás (ideértve a Q-</a:t>
            </a:r>
            <a:r>
              <a:rPr lang="hu-HU" noProof="0" dirty="0" err="1"/>
              <a:t>learninget</a:t>
            </a:r>
            <a:r>
              <a:rPr lang="hu-HU" noProof="0" dirty="0"/>
              <a:t> is) nagy csataterek esetén (pl. több száz gyártó)?</a:t>
            </a:r>
          </a:p>
          <a:p>
            <a:endParaRPr lang="hu-HU" noProof="0" dirty="0"/>
          </a:p>
          <a:p>
            <a:r>
              <a:rPr lang="hu-HU" noProof="0" dirty="0" err="1"/>
              <a:t>Tabuláris</a:t>
            </a:r>
            <a:r>
              <a:rPr lang="hu-HU" noProof="0" dirty="0"/>
              <a:t> Q-</a:t>
            </a:r>
            <a:r>
              <a:rPr lang="hu-HU" noProof="0" dirty="0" err="1"/>
              <a:t>learning</a:t>
            </a:r>
            <a:r>
              <a:rPr lang="hu-HU" noProof="0" dirty="0"/>
              <a:t> nem </a:t>
            </a:r>
            <a:r>
              <a:rPr lang="hu-HU" noProof="0" dirty="0" err="1"/>
              <a:t>skálázódik</a:t>
            </a:r>
            <a:endParaRPr lang="hu-HU" noProof="0" dirty="0"/>
          </a:p>
          <a:p>
            <a:endParaRPr lang="hu-HU" noProof="0" dirty="0"/>
          </a:p>
          <a:p>
            <a:r>
              <a:rPr lang="hu-HU" noProof="0" dirty="0"/>
              <a:t>Deep RL, </a:t>
            </a:r>
            <a:r>
              <a:rPr lang="hu-HU" dirty="0" err="1"/>
              <a:t>klaszterezés</a:t>
            </a:r>
            <a:r>
              <a:rPr lang="hu-HU" noProof="0" dirty="0"/>
              <a:t>, gráf-alapú RL szükséges</a:t>
            </a:r>
          </a:p>
          <a:p>
            <a:endParaRPr lang="hu-HU" noProof="0" dirty="0"/>
          </a:p>
          <a:p>
            <a:r>
              <a:rPr lang="hu-HU" noProof="0" dirty="0"/>
              <a:t>A keret skálázható, az RL-t kell frissíteni</a:t>
            </a:r>
          </a:p>
        </p:txBody>
      </p:sp>
      <p:sp>
        <p:nvSpPr>
          <p:cNvPr id="4" name="Footer Placeholder 3">
            <a:extLst>
              <a:ext uri="{FF2B5EF4-FFF2-40B4-BE49-F238E27FC236}">
                <a16:creationId xmlns:a16="http://schemas.microsoft.com/office/drawing/2014/main" id="{8C486D66-94BC-839F-1B97-5013205A9690}"/>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269DBD69-0C88-1C67-7A80-4DCF0DC9F8A4}"/>
              </a:ext>
            </a:extLst>
          </p:cNvPr>
          <p:cNvSpPr>
            <a:spLocks noGrp="1"/>
          </p:cNvSpPr>
          <p:nvPr>
            <p:ph type="sldNum" sz="quarter" idx="12"/>
          </p:nvPr>
        </p:nvSpPr>
        <p:spPr/>
        <p:txBody>
          <a:bodyPr/>
          <a:lstStyle/>
          <a:p>
            <a:fld id="{4F532308-F742-4E8E-A0E9-3E442CCFFF54}" type="slidenum">
              <a:rPr lang="hu-HU" noProof="0" smtClean="0"/>
              <a:pPr/>
              <a:t>19</a:t>
            </a:fld>
            <a:endParaRPr lang="hu-HU" noProof="0" dirty="0"/>
          </a:p>
        </p:txBody>
      </p:sp>
    </p:spTree>
    <p:extLst>
      <p:ext uri="{BB962C8B-B14F-4D97-AF65-F5344CB8AC3E}">
        <p14:creationId xmlns:p14="http://schemas.microsoft.com/office/powerpoint/2010/main" val="4079675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99AEDB2-1661-6316-4158-77E11DC9A06F}"/>
              </a:ext>
            </a:extLst>
          </p:cNvPr>
          <p:cNvSpPr>
            <a:spLocks noGrp="1"/>
          </p:cNvSpPr>
          <p:nvPr>
            <p:ph type="title"/>
          </p:nvPr>
        </p:nvSpPr>
        <p:spPr/>
        <p:txBody>
          <a:bodyPr/>
          <a:lstStyle/>
          <a:p>
            <a:r>
              <a:rPr lang="en-US" dirty="0"/>
              <a:t>Colonel Blotto in Cybersecurity</a:t>
            </a:r>
            <a:endParaRPr lang="hu-HU" dirty="0"/>
          </a:p>
        </p:txBody>
      </p:sp>
      <p:sp>
        <p:nvSpPr>
          <p:cNvPr id="4" name="Élőláb helye 3">
            <a:extLst>
              <a:ext uri="{FF2B5EF4-FFF2-40B4-BE49-F238E27FC236}">
                <a16:creationId xmlns:a16="http://schemas.microsoft.com/office/drawing/2014/main" id="{A6B9C48B-DE5E-5687-9898-68D9E3920273}"/>
              </a:ext>
            </a:extLst>
          </p:cNvPr>
          <p:cNvSpPr>
            <a:spLocks noGrp="1"/>
          </p:cNvSpPr>
          <p:nvPr>
            <p:ph type="ftr" sz="quarter" idx="11"/>
          </p:nvPr>
        </p:nvSpPr>
        <p:spPr/>
        <p:txBody>
          <a:bodyPr/>
          <a:lstStyle/>
          <a:p>
            <a:r>
              <a:rPr lang="hu-HU" dirty="0" err="1"/>
              <a:t>Colonel</a:t>
            </a:r>
            <a:r>
              <a:rPr lang="hu-HU" dirty="0"/>
              <a:t> </a:t>
            </a:r>
            <a:r>
              <a:rPr lang="hu-HU" dirty="0" err="1"/>
              <a:t>Blotto</a:t>
            </a:r>
            <a:r>
              <a:rPr lang="hu-HU" dirty="0"/>
              <a:t> in </a:t>
            </a:r>
            <a:r>
              <a:rPr lang="hu-HU" dirty="0" err="1"/>
              <a:t>Cybersecurity</a:t>
            </a:r>
            <a:endParaRPr lang="hu-HU" dirty="0"/>
          </a:p>
        </p:txBody>
      </p:sp>
      <p:sp>
        <p:nvSpPr>
          <p:cNvPr id="5" name="Dia számának helye 4">
            <a:extLst>
              <a:ext uri="{FF2B5EF4-FFF2-40B4-BE49-F238E27FC236}">
                <a16:creationId xmlns:a16="http://schemas.microsoft.com/office/drawing/2014/main" id="{844E02C7-E4EE-69B6-3D0A-E04CF9D5DB95}"/>
              </a:ext>
            </a:extLst>
          </p:cNvPr>
          <p:cNvSpPr>
            <a:spLocks noGrp="1"/>
          </p:cNvSpPr>
          <p:nvPr>
            <p:ph type="sldNum" sz="quarter" idx="12"/>
          </p:nvPr>
        </p:nvSpPr>
        <p:spPr/>
        <p:txBody>
          <a:bodyPr/>
          <a:lstStyle/>
          <a:p>
            <a:fld id="{4F532308-F742-4E8E-A0E9-3E442CCFFF54}" type="slidenum">
              <a:rPr lang="hu-HU" smtClean="0"/>
              <a:pPr/>
              <a:t>20</a:t>
            </a:fld>
            <a:endParaRPr lang="hu-HU" dirty="0"/>
          </a:p>
        </p:txBody>
      </p:sp>
      <p:pic>
        <p:nvPicPr>
          <p:cNvPr id="6" name="Picture 3" descr="Top 8 Cyber Threat Maps To Track Cyber Attacks">
            <a:extLst>
              <a:ext uri="{FF2B5EF4-FFF2-40B4-BE49-F238E27FC236}">
                <a16:creationId xmlns:a16="http://schemas.microsoft.com/office/drawing/2014/main" id="{947719BF-158E-6C5E-B257-6AD5F291E83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1904163"/>
            <a:ext cx="2964300" cy="1482150"/>
          </a:xfrm>
          <a:prstGeom prst="rect">
            <a:avLst/>
          </a:prstGeom>
          <a:noFill/>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6F623CE8-6EB7-3A2B-9FA0-FA24CB03CBFE}"/>
              </a:ext>
            </a:extLst>
          </p:cNvPr>
          <p:cNvGrpSpPr>
            <a:grpSpLocks noChangeAspect="1"/>
          </p:cNvGrpSpPr>
          <p:nvPr/>
        </p:nvGrpSpPr>
        <p:grpSpPr>
          <a:xfrm>
            <a:off x="3123974" y="1703420"/>
            <a:ext cx="6020757" cy="1945974"/>
            <a:chOff x="0" y="3187337"/>
            <a:chExt cx="9144000" cy="2955440"/>
          </a:xfrm>
        </p:grpSpPr>
        <p:pic>
          <p:nvPicPr>
            <p:cNvPr id="9" name="Picture 2" descr="Dong Quan Vu' s Personal Website">
              <a:extLst>
                <a:ext uri="{FF2B5EF4-FFF2-40B4-BE49-F238E27FC236}">
                  <a16:creationId xmlns:a16="http://schemas.microsoft.com/office/drawing/2014/main" id="{B8C4DC66-BF71-3B3F-A8F0-23074DC2954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0" name="Csoportba foglalás 9">
              <a:extLst>
                <a:ext uri="{FF2B5EF4-FFF2-40B4-BE49-F238E27FC236}">
                  <a16:creationId xmlns:a16="http://schemas.microsoft.com/office/drawing/2014/main" id="{48C04B39-99B1-F706-C308-434C6D1D10B3}"/>
                </a:ext>
              </a:extLst>
            </p:cNvPr>
            <p:cNvGrpSpPr/>
            <p:nvPr/>
          </p:nvGrpSpPr>
          <p:grpSpPr>
            <a:xfrm>
              <a:off x="0" y="5418499"/>
              <a:ext cx="9144000" cy="724278"/>
              <a:chOff x="0" y="4916031"/>
              <a:chExt cx="9144000" cy="724278"/>
            </a:xfrm>
          </p:grpSpPr>
          <p:sp>
            <p:nvSpPr>
              <p:cNvPr id="11" name="Téglalap 10">
                <a:extLst>
                  <a:ext uri="{FF2B5EF4-FFF2-40B4-BE49-F238E27FC236}">
                    <a16:creationId xmlns:a16="http://schemas.microsoft.com/office/drawing/2014/main" id="{DC7BA0D6-F167-1590-FDA6-5EA8512A2F41}"/>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Téglalap 11">
                <a:extLst>
                  <a:ext uri="{FF2B5EF4-FFF2-40B4-BE49-F238E27FC236}">
                    <a16:creationId xmlns:a16="http://schemas.microsoft.com/office/drawing/2014/main" id="{38928A9B-FDDC-6F1F-8A73-21C249591753}"/>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pic>
        <p:nvPicPr>
          <p:cNvPr id="14" name="Picture 7" descr="Key Business Performance Metrics Icon Stock Vector - Illustration of  design, strategy: 352796351">
            <a:extLst>
              <a:ext uri="{FF2B5EF4-FFF2-40B4-BE49-F238E27FC236}">
                <a16:creationId xmlns:a16="http://schemas.microsoft.com/office/drawing/2014/main" id="{DDAF4CB9-D3B1-6B52-F3D1-92BB587CE5E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81963" y="3994081"/>
            <a:ext cx="1772232" cy="177223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Neural network icon vector image can be used for data science | Premium  Vector">
            <a:extLst>
              <a:ext uri="{FF2B5EF4-FFF2-40B4-BE49-F238E27FC236}">
                <a16:creationId xmlns:a16="http://schemas.microsoft.com/office/drawing/2014/main" id="{5E78375E-E52C-4F72-E3E5-0933D96E002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3591" y="4073558"/>
            <a:ext cx="1613279" cy="161327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8FBB4C07-AC03-7C64-CB50-DED703C00D9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89376" y="4038759"/>
            <a:ext cx="1754239" cy="175423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Machine learning Generic color lineal-color icon | Freepik">
            <a:extLst>
              <a:ext uri="{FF2B5EF4-FFF2-40B4-BE49-F238E27FC236}">
                <a16:creationId xmlns:a16="http://schemas.microsoft.com/office/drawing/2014/main" id="{58795151-5303-C827-6F38-EFBBBDFF4AE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27130" y="4038759"/>
            <a:ext cx="1531816" cy="15318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4485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3137</TotalTime>
  <Words>3016</Words>
  <Application>Microsoft Office PowerPoint</Application>
  <PresentationFormat>Diavetítés a képernyőre (4:3 oldalarány)</PresentationFormat>
  <Paragraphs>281</Paragraphs>
  <Slides>20</Slides>
  <Notes>20</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20</vt:i4>
      </vt:variant>
    </vt:vector>
  </HeadingPairs>
  <TitlesOfParts>
    <vt:vector size="25" baseType="lpstr">
      <vt:lpstr>Arial</vt:lpstr>
      <vt:lpstr>Calibri</vt:lpstr>
      <vt:lpstr>Consolas</vt:lpstr>
      <vt:lpstr>Wingdings</vt:lpstr>
      <vt:lpstr>Office Theme</vt:lpstr>
      <vt:lpstr> Colonel Blotto in Cybersecurity Real-World Data, Reinforcement Learning and  Information Asymmetry</vt:lpstr>
      <vt:lpstr>Motivation</vt:lpstr>
      <vt:lpstr>The strategic nature of cybersecurity</vt:lpstr>
      <vt:lpstr>Colonel Blotto model</vt:lpstr>
      <vt:lpstr>CVE, CVSS, EPSS</vt:lpstr>
      <vt:lpstr>CVE, CVSS, EPSS</vt:lpstr>
      <vt:lpstr>Learning agents</vt:lpstr>
      <vt:lpstr>Information scenarios</vt:lpstr>
      <vt:lpstr>Resource allocation strategies</vt:lpstr>
      <vt:lpstr>Model configuration</vt:lpstr>
      <vt:lpstr>Key measures</vt:lpstr>
      <vt:lpstr>Main results I.</vt:lpstr>
      <vt:lpstr>Main results II.</vt:lpstr>
      <vt:lpstr>Main results III.</vt:lpstr>
      <vt:lpstr>Conclusions</vt:lpstr>
      <vt:lpstr>Future work</vt:lpstr>
      <vt:lpstr>Bírálói kérdések I.</vt:lpstr>
      <vt:lpstr>Bírálói kérdések II.</vt:lpstr>
      <vt:lpstr>Bírálói kérdések III.</vt:lpstr>
      <vt:lpstr>Colonel Blotto in Cybersecurity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buttyan</dc:creator>
  <cp:lastModifiedBy>Nagy Zalán</cp:lastModifiedBy>
  <cp:revision>172</cp:revision>
  <dcterms:created xsi:type="dcterms:W3CDTF">2014-12-01T17:03:38Z</dcterms:created>
  <dcterms:modified xsi:type="dcterms:W3CDTF">2025-11-17T20:19:45Z</dcterms:modified>
</cp:coreProperties>
</file>